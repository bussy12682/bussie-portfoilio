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handoutMasterIdLst>
    <p:handoutMasterId r:id="rId19"/>
  </p:handoutMasterIdLst>
  <p:sldIdLst>
    <p:sldId id="256" r:id="rId4"/>
    <p:sldId id="263" r:id="rId6"/>
    <p:sldId id="258" r:id="rId7"/>
    <p:sldId id="264" r:id="rId8"/>
    <p:sldId id="265" r:id="rId9"/>
    <p:sldId id="268" r:id="rId10"/>
    <p:sldId id="274" r:id="rId11"/>
    <p:sldId id="276" r:id="rId12"/>
    <p:sldId id="277" r:id="rId13"/>
    <p:sldId id="280" r:id="rId14"/>
    <p:sldId id="281" r:id="rId15"/>
    <p:sldId id="288" r:id="rId16"/>
    <p:sldId id="286" r:id="rId17"/>
    <p:sldId id="289" r:id="rId18"/>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0" userDrawn="1">
          <p15:clr>
            <a:srgbClr val="A4A3A4"/>
          </p15:clr>
        </p15:guide>
        <p15:guide id="2" pos="39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1EF81"/>
    <a:srgbClr val="91ACE0"/>
    <a:srgbClr val="9EB5D2"/>
    <a:srgbClr val="B9C1CA"/>
    <a:srgbClr val="F3990B"/>
    <a:srgbClr val="FFFFFF"/>
    <a:srgbClr val="800020"/>
    <a:srgbClr val="BB120F"/>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00"/>
        <p:guide pos="392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gs" Target="tags/tag213.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handoutMaster" Target="handoutMasters/handoutMaster1.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en-US" dirty="0"/>
              <a:t>Click to edit Master title style</a:t>
            </a:r>
            <a:endParaRPr lang="en-US" dirty="0"/>
          </a:p>
        </p:txBody>
      </p:sp>
      <p:sp>
        <p:nvSpPr>
          <p:cNvPr id="3" name="Subtitle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US" dirty="0"/>
          </a:p>
        </p:txBody>
      </p:sp>
      <p:sp>
        <p:nvSpPr>
          <p:cNvPr id="16" name="Date Placeholder 15"/>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5"/>
            </p:custDataLst>
          </p:nvPr>
        </p:nvSpPr>
        <p:spPr/>
        <p:txBody>
          <a:bodyPr/>
          <a:lstStyle/>
          <a:p>
            <a:endParaRPr lang="en-US" dirty="0"/>
          </a:p>
        </p:txBody>
      </p:sp>
      <p:sp>
        <p:nvSpPr>
          <p:cNvPr id="18" name="Slide Number Placeholder 17"/>
          <p:cNvSpPr>
            <a:spLocks noGrp="1"/>
          </p:cNvSpPr>
          <p:nvPr>
            <p:ph type="sldNum" sz="quarter" idx="12"/>
            <p:custDataLst>
              <p:tags r:id="rId6"/>
            </p:custDataLst>
          </p:nvPr>
        </p:nvSpPr>
        <p:spPr/>
        <p:txBody>
          <a:bodyPr/>
          <a:lstStyle/>
          <a:p>
            <a:fld id="{49AE70B2-8BF9-45C0-BB95-33D1B9D3A854}" type="slidenum">
              <a:rPr lang="en-US" smtClean="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Date Placeholder 2"/>
          <p:cNvSpPr>
            <a:spLocks noGrp="1"/>
          </p:cNvSpPr>
          <p:nvPr>
            <p:ph type="dt" sz="half" idx="10"/>
            <p:custDataLst>
              <p:tags r:id="rId3"/>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4"/>
            </p:custDataLst>
          </p:nvPr>
        </p:nvSpPr>
        <p:spPr/>
        <p:txBody>
          <a:bodyPr/>
          <a:lstStyle/>
          <a:p>
            <a:endParaRPr lang="en-US"/>
          </a:p>
        </p:txBody>
      </p:sp>
      <p:sp>
        <p:nvSpPr>
          <p:cNvPr id="5" name="Slide Number Placeholder 4"/>
          <p:cNvSpPr>
            <a:spLocks noGrp="1"/>
          </p:cNvSpPr>
          <p:nvPr>
            <p:ph type="sldNum" sz="quarter" idx="12"/>
            <p:custDataLst>
              <p:tags r:id="rId5"/>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9AE70B2-8BF9-45C0-BB95-33D1B9D3A854}"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9" Type="http://schemas.openxmlformats.org/officeDocument/2006/relationships/theme" Target="../theme/theme2.xml"/><Relationship Id="rId18" Type="http://schemas.openxmlformats.org/officeDocument/2006/relationships/tags" Target="../tags/tag124.xml"/><Relationship Id="rId17" Type="http://schemas.openxmlformats.org/officeDocument/2006/relationships/tags" Target="../tags/tag123.xml"/><Relationship Id="rId16" Type="http://schemas.openxmlformats.org/officeDocument/2006/relationships/tags" Target="../tags/tag122.xml"/><Relationship Id="rId15" Type="http://schemas.openxmlformats.org/officeDocument/2006/relationships/tags" Target="../tags/tag121.xml"/><Relationship Id="rId14" Type="http://schemas.openxmlformats.org/officeDocument/2006/relationships/tags" Target="../tags/tag120.xml"/><Relationship Id="rId13" Type="http://schemas.openxmlformats.org/officeDocument/2006/relationships/tags" Target="../tags/tag119.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Tree>
    <p:custDataLst>
      <p:tags r:id="rId18"/>
    </p:custData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tags" Target="../tags/tag130.xml"/><Relationship Id="rId2" Type="http://schemas.openxmlformats.org/officeDocument/2006/relationships/tags" Target="../tags/tag129.xml"/><Relationship Id="rId1" Type="http://schemas.openxmlformats.org/officeDocument/2006/relationships/tags" Target="../tags/tag128.xml"/></Relationships>
</file>

<file path=ppt/slides/_rels/slide3.xml.rels><?xml version="1.0" encoding="UTF-8" standalone="yes"?>
<Relationships xmlns="http://schemas.openxmlformats.org/package/2006/relationships"><Relationship Id="rId9" Type="http://schemas.openxmlformats.org/officeDocument/2006/relationships/tags" Target="../tags/tag139.xml"/><Relationship Id="rId8" Type="http://schemas.openxmlformats.org/officeDocument/2006/relationships/tags" Target="../tags/tag138.xml"/><Relationship Id="rId7" Type="http://schemas.openxmlformats.org/officeDocument/2006/relationships/tags" Target="../tags/tag137.xml"/><Relationship Id="rId6" Type="http://schemas.openxmlformats.org/officeDocument/2006/relationships/tags" Target="../tags/tag136.xml"/><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tags" Target="../tags/tag133.xml"/><Relationship Id="rId2" Type="http://schemas.openxmlformats.org/officeDocument/2006/relationships/tags" Target="../tags/tag132.xml"/><Relationship Id="rId17" Type="http://schemas.openxmlformats.org/officeDocument/2006/relationships/slideLayout" Target="../slideLayouts/slideLayout2.xml"/><Relationship Id="rId16" Type="http://schemas.openxmlformats.org/officeDocument/2006/relationships/tags" Target="../tags/tag146.xml"/><Relationship Id="rId15" Type="http://schemas.openxmlformats.org/officeDocument/2006/relationships/tags" Target="../tags/tag145.xml"/><Relationship Id="rId14" Type="http://schemas.openxmlformats.org/officeDocument/2006/relationships/tags" Target="../tags/tag144.xml"/><Relationship Id="rId13" Type="http://schemas.openxmlformats.org/officeDocument/2006/relationships/tags" Target="../tags/tag143.xml"/><Relationship Id="rId12" Type="http://schemas.openxmlformats.org/officeDocument/2006/relationships/tags" Target="../tags/tag142.xml"/><Relationship Id="rId11" Type="http://schemas.openxmlformats.org/officeDocument/2006/relationships/tags" Target="../tags/tag141.xml"/><Relationship Id="rId10" Type="http://schemas.openxmlformats.org/officeDocument/2006/relationships/tags" Target="../tags/tag140.xml"/><Relationship Id="rId1" Type="http://schemas.openxmlformats.org/officeDocument/2006/relationships/tags" Target="../tags/tag131.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s>
</file>

<file path=ppt/slides/_rels/slide5.xml.rels><?xml version="1.0" encoding="UTF-8" standalone="yes"?>
<Relationships xmlns="http://schemas.openxmlformats.org/package/2006/relationships"><Relationship Id="rId9" Type="http://schemas.openxmlformats.org/officeDocument/2006/relationships/tags" Target="../tags/tag158.xml"/><Relationship Id="rId8" Type="http://schemas.openxmlformats.org/officeDocument/2006/relationships/tags" Target="../tags/tag157.xml"/><Relationship Id="rId7" Type="http://schemas.openxmlformats.org/officeDocument/2006/relationships/tags" Target="../tags/tag156.xml"/><Relationship Id="rId6" Type="http://schemas.openxmlformats.org/officeDocument/2006/relationships/tags" Target="../tags/tag155.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4" Type="http://schemas.openxmlformats.org/officeDocument/2006/relationships/slideLayout" Target="../slideLayouts/slideLayout20.xml"/><Relationship Id="rId13" Type="http://schemas.openxmlformats.org/officeDocument/2006/relationships/tags" Target="../tags/tag162.xml"/><Relationship Id="rId12" Type="http://schemas.openxmlformats.org/officeDocument/2006/relationships/tags" Target="../tags/tag161.xml"/><Relationship Id="rId11" Type="http://schemas.openxmlformats.org/officeDocument/2006/relationships/tags" Target="../tags/tag160.xml"/><Relationship Id="rId10" Type="http://schemas.openxmlformats.org/officeDocument/2006/relationships/tags" Target="../tags/tag159.xml"/><Relationship Id="rId1" Type="http://schemas.openxmlformats.org/officeDocument/2006/relationships/tags" Target="../tags/tag150.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77.xml"/><Relationship Id="rId2" Type="http://schemas.openxmlformats.org/officeDocument/2006/relationships/tags" Target="../tags/tag176.xml"/><Relationship Id="rId1" Type="http://schemas.openxmlformats.org/officeDocument/2006/relationships/tags" Target="../tags/tag175.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0.xml"/><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81.xml"/></Relationships>
</file>

<file path=ppt/slides/_rels/slide13.xml.rels><?xml version="1.0" encoding="UTF-8" standalone="yes"?>
<Relationships xmlns="http://schemas.openxmlformats.org/package/2006/relationships"><Relationship Id="rId9" Type="http://schemas.openxmlformats.org/officeDocument/2006/relationships/tags" Target="../tags/tag190.xml"/><Relationship Id="rId8" Type="http://schemas.openxmlformats.org/officeDocument/2006/relationships/tags" Target="../tags/tag189.xml"/><Relationship Id="rId7" Type="http://schemas.openxmlformats.org/officeDocument/2006/relationships/tags" Target="../tags/tag188.xml"/><Relationship Id="rId6" Type="http://schemas.openxmlformats.org/officeDocument/2006/relationships/tags" Target="../tags/tag187.xml"/><Relationship Id="rId5" Type="http://schemas.openxmlformats.org/officeDocument/2006/relationships/tags" Target="../tags/tag186.xml"/><Relationship Id="rId4" Type="http://schemas.openxmlformats.org/officeDocument/2006/relationships/tags" Target="../tags/tag185.xml"/><Relationship Id="rId3" Type="http://schemas.openxmlformats.org/officeDocument/2006/relationships/tags" Target="../tags/tag184.xml"/><Relationship Id="rId2" Type="http://schemas.openxmlformats.org/officeDocument/2006/relationships/tags" Target="../tags/tag183.xml"/><Relationship Id="rId17" Type="http://schemas.openxmlformats.org/officeDocument/2006/relationships/slideLayout" Target="../slideLayouts/slideLayout20.xml"/><Relationship Id="rId16" Type="http://schemas.openxmlformats.org/officeDocument/2006/relationships/tags" Target="../tags/tag197.xml"/><Relationship Id="rId15" Type="http://schemas.openxmlformats.org/officeDocument/2006/relationships/tags" Target="../tags/tag196.xml"/><Relationship Id="rId14" Type="http://schemas.openxmlformats.org/officeDocument/2006/relationships/tags" Target="../tags/tag195.xml"/><Relationship Id="rId13" Type="http://schemas.openxmlformats.org/officeDocument/2006/relationships/tags" Target="../tags/tag194.xml"/><Relationship Id="rId12" Type="http://schemas.openxmlformats.org/officeDocument/2006/relationships/tags" Target="../tags/tag193.xml"/><Relationship Id="rId11" Type="http://schemas.openxmlformats.org/officeDocument/2006/relationships/tags" Target="../tags/tag192.xml"/><Relationship Id="rId10" Type="http://schemas.openxmlformats.org/officeDocument/2006/relationships/tags" Target="../tags/tag191.xml"/><Relationship Id="rId1" Type="http://schemas.openxmlformats.org/officeDocument/2006/relationships/tags" Target="../tags/tag182.xml"/></Relationships>
</file>

<file path=ppt/slides/_rels/slide14.xml.rels><?xml version="1.0" encoding="UTF-8" standalone="yes"?>
<Relationships xmlns="http://schemas.openxmlformats.org/package/2006/relationships"><Relationship Id="rId9" Type="http://schemas.openxmlformats.org/officeDocument/2006/relationships/tags" Target="../tags/tag206.xml"/><Relationship Id="rId8" Type="http://schemas.openxmlformats.org/officeDocument/2006/relationships/tags" Target="../tags/tag205.xml"/><Relationship Id="rId7" Type="http://schemas.openxmlformats.org/officeDocument/2006/relationships/tags" Target="../tags/tag204.xml"/><Relationship Id="rId6" Type="http://schemas.openxmlformats.org/officeDocument/2006/relationships/tags" Target="../tags/tag203.xml"/><Relationship Id="rId5" Type="http://schemas.openxmlformats.org/officeDocument/2006/relationships/tags" Target="../tags/tag202.xml"/><Relationship Id="rId4" Type="http://schemas.openxmlformats.org/officeDocument/2006/relationships/tags" Target="../tags/tag201.xml"/><Relationship Id="rId3" Type="http://schemas.openxmlformats.org/officeDocument/2006/relationships/tags" Target="../tags/tag200.xml"/><Relationship Id="rId2" Type="http://schemas.openxmlformats.org/officeDocument/2006/relationships/tags" Target="../tags/tag199.xml"/><Relationship Id="rId16" Type="http://schemas.openxmlformats.org/officeDocument/2006/relationships/slideLayout" Target="../slideLayouts/slideLayout20.xml"/><Relationship Id="rId15" Type="http://schemas.openxmlformats.org/officeDocument/2006/relationships/tags" Target="../tags/tag212.xml"/><Relationship Id="rId14" Type="http://schemas.openxmlformats.org/officeDocument/2006/relationships/tags" Target="../tags/tag211.xml"/><Relationship Id="rId13" Type="http://schemas.openxmlformats.org/officeDocument/2006/relationships/tags" Target="../tags/tag210.xml"/><Relationship Id="rId12" Type="http://schemas.openxmlformats.org/officeDocument/2006/relationships/tags" Target="../tags/tag209.xml"/><Relationship Id="rId11" Type="http://schemas.openxmlformats.org/officeDocument/2006/relationships/tags" Target="../tags/tag208.xml"/><Relationship Id="rId10" Type="http://schemas.openxmlformats.org/officeDocument/2006/relationships/tags" Target="../tags/tag207.xml"/><Relationship Id="rId1" Type="http://schemas.openxmlformats.org/officeDocument/2006/relationships/tags" Target="../tags/tag19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1198800" y="1236980"/>
            <a:ext cx="9799200" cy="2570400"/>
          </a:xfrm>
        </p:spPr>
        <p:txBody>
          <a:bodyPr>
            <a:normAutofit/>
          </a:bodyPr>
          <a:p>
            <a:r>
              <a:rPr lang="en-US" altLang="en-US">
                <a:solidFill>
                  <a:schemeClr val="accent1"/>
                </a:solidFill>
              </a:rPr>
              <a:t>Retail Superstore Sales Performance Analysis</a:t>
            </a:r>
            <a:endParaRPr lang="en-US" altLang="en-US">
              <a:solidFill>
                <a:schemeClr val="accent1"/>
              </a:solidFill>
            </a:endParaRPr>
          </a:p>
        </p:txBody>
      </p:sp>
      <p:sp>
        <p:nvSpPr>
          <p:cNvPr id="3" name="Subtitle 2"/>
          <p:cNvSpPr>
            <a:spLocks noGrp="1"/>
          </p:cNvSpPr>
          <p:nvPr>
            <p:ph type="subTitle" idx="1"/>
            <p:custDataLst>
              <p:tags r:id="rId2"/>
            </p:custDataLst>
          </p:nvPr>
        </p:nvSpPr>
        <p:spPr>
          <a:xfrm>
            <a:off x="1198880" y="3883025"/>
            <a:ext cx="9799320" cy="485140"/>
          </a:xfrm>
        </p:spPr>
        <p:txBody>
          <a:bodyPr>
            <a:normAutofit lnSpcReduction="10000"/>
          </a:bodyPr>
          <a:p>
            <a:r>
              <a:rPr lang="en-US" altLang="en-US">
                <a:sym typeface="+mn-ea"/>
              </a:rPr>
              <a:t>SQL + Power BI</a:t>
            </a:r>
            <a:endParaRPr lang="en-US"/>
          </a:p>
        </p:txBody>
      </p:sp>
      <p:sp>
        <p:nvSpPr>
          <p:cNvPr id="4" name="Text Box 3"/>
          <p:cNvSpPr txBox="1"/>
          <p:nvPr/>
        </p:nvSpPr>
        <p:spPr>
          <a:xfrm>
            <a:off x="4066540" y="5251450"/>
            <a:ext cx="4064000" cy="645160"/>
          </a:xfrm>
          <a:prstGeom prst="rect">
            <a:avLst/>
          </a:prstGeom>
          <a:noFill/>
        </p:spPr>
        <p:txBody>
          <a:bodyPr wrap="square" rtlCol="0">
            <a:spAutoFit/>
          </a:bodyPr>
          <a:p>
            <a:pPr algn="ctr"/>
            <a:r>
              <a:rPr lang="en-US">
                <a:latin typeface="Montserrat SemiBold" panose="00000700000000000000" charset="0"/>
                <a:cs typeface="Montserrat SemiBold" panose="00000700000000000000" charset="0"/>
              </a:rPr>
              <a:t>Presented by</a:t>
            </a:r>
            <a:endParaRPr lang="en-US">
              <a:latin typeface="Montserrat SemiBold" panose="00000700000000000000" charset="0"/>
              <a:cs typeface="Montserrat SemiBold" panose="00000700000000000000" charset="0"/>
            </a:endParaRPr>
          </a:p>
          <a:p>
            <a:pPr algn="ctr"/>
            <a:r>
              <a:rPr lang="en-US">
                <a:latin typeface="Montserrat SemiBold" panose="00000700000000000000" charset="0"/>
                <a:cs typeface="Montserrat SemiBold" panose="00000700000000000000" charset="0"/>
              </a:rPr>
              <a:t>Busayo Omoniyi</a:t>
            </a:r>
            <a:endParaRPr lang="en-US">
              <a:latin typeface="Montserrat SemiBold" panose="00000700000000000000" charset="0"/>
              <a:cs typeface="Montserrat SemiBold" panose="00000700000000000000" charset="0"/>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Placeholder 4"/>
          <p:cNvSpPr>
            <a:spLocks noGrp="1"/>
          </p:cNvSpPr>
          <p:nvPr>
            <p:ph type="body" sz="half" idx="2"/>
            <p:custDataLst>
              <p:tags r:id="rId1"/>
            </p:custDataLst>
          </p:nvPr>
        </p:nvSpPr>
        <p:spPr>
          <a:xfrm>
            <a:off x="5045710" y="953135"/>
            <a:ext cx="6315075" cy="4951095"/>
          </a:xfrm>
        </p:spPr>
        <p:txBody>
          <a:bodyPr>
            <a:normAutofit lnSpcReduction="10000"/>
          </a:bodyPr>
          <a:p>
            <a:pPr marL="0" indent="0" algn="l"/>
            <a:r>
              <a:rPr lang="en-US" altLang="en-US">
                <a:solidFill>
                  <a:schemeClr val="tx1"/>
                </a:solidFill>
              </a:rPr>
              <a:t>Global Superstore wanted to understand how its sales performance, profitability, customer behavior, and product performance changed over time.</a:t>
            </a:r>
            <a:endParaRPr lang="en-US" altLang="en-US">
              <a:solidFill>
                <a:schemeClr val="tx1"/>
              </a:solidFill>
            </a:endParaRPr>
          </a:p>
          <a:p>
            <a:pPr algn="l"/>
            <a:endParaRPr lang="en-US" altLang="en-US">
              <a:solidFill>
                <a:schemeClr val="tx1"/>
              </a:solidFill>
            </a:endParaRPr>
          </a:p>
          <a:p>
            <a:pPr marL="0" indent="0" algn="l"/>
            <a:r>
              <a:rPr lang="en-US" altLang="en-US">
                <a:solidFill>
                  <a:schemeClr val="tx1"/>
                </a:solidFill>
              </a:rPr>
              <a:t>Using SQL for data analysis and Power BI for visualization, I analyzed transactional data to identify trends, uncover business opportunities, and provide actionable recommendations that support better decision-making.</a:t>
            </a:r>
            <a:endParaRPr lang="en-US" altLang="en-US">
              <a:solidFill>
                <a:schemeClr val="tx1"/>
              </a:solidFill>
            </a:endParaRPr>
          </a:p>
          <a:p>
            <a:pPr algn="l"/>
            <a:endParaRPr lang="en-US" altLang="en-US"/>
          </a:p>
          <a:p>
            <a:pPr algn="l"/>
            <a:r>
              <a:rPr lang="en-US" altLang="en-US" b="1">
                <a:solidFill>
                  <a:schemeClr val="accent1"/>
                </a:solidFill>
              </a:rPr>
              <a:t>Objective</a:t>
            </a:r>
            <a:endParaRPr lang="en-US" altLang="en-US" b="1">
              <a:solidFill>
                <a:schemeClr val="accent1"/>
              </a:solidFill>
            </a:endParaRPr>
          </a:p>
          <a:p>
            <a:pPr marL="15875" indent="-15875" algn="l"/>
            <a:r>
              <a:rPr lang="en-US" altLang="en-US">
                <a:solidFill>
                  <a:schemeClr val="tx1"/>
                </a:solidFill>
              </a:rPr>
              <a:t>Transform raw sales data into meaningful business insights through data cleaning, SQL analysis, interactive dashboards, and data storytelling.</a:t>
            </a:r>
            <a:endParaRPr lang="en-US" altLang="en-US">
              <a:solidFill>
                <a:schemeClr val="tx1"/>
              </a:solidFill>
            </a:endParaRPr>
          </a:p>
        </p:txBody>
      </p:sp>
      <p:cxnSp>
        <p:nvCxnSpPr>
          <p:cNvPr id="7" name="Straight Connector 6"/>
          <p:cNvCxnSpPr/>
          <p:nvPr/>
        </p:nvCxnSpPr>
        <p:spPr>
          <a:xfrm>
            <a:off x="4551045" y="-28575"/>
            <a:ext cx="0" cy="6972935"/>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grpSp>
        <p:nvGrpSpPr>
          <p:cNvPr id="13" name="Group 12"/>
          <p:cNvGrpSpPr/>
          <p:nvPr/>
        </p:nvGrpSpPr>
        <p:grpSpPr>
          <a:xfrm>
            <a:off x="-1270" y="1009015"/>
            <a:ext cx="4552315" cy="1025525"/>
            <a:chOff x="-2" y="4152"/>
            <a:chExt cx="7169" cy="1615"/>
          </a:xfrm>
        </p:grpSpPr>
        <p:cxnSp>
          <p:nvCxnSpPr>
            <p:cNvPr id="11" name="Straight Connector 10"/>
            <p:cNvCxnSpPr/>
            <p:nvPr/>
          </p:nvCxnSpPr>
          <p:spPr>
            <a:xfrm>
              <a:off x="-2" y="4152"/>
              <a:ext cx="7146" cy="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 name="Straight Connector 11"/>
            <p:cNvCxnSpPr/>
            <p:nvPr/>
          </p:nvCxnSpPr>
          <p:spPr>
            <a:xfrm>
              <a:off x="21" y="5767"/>
              <a:ext cx="7146" cy="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grpSp>
      <p:sp>
        <p:nvSpPr>
          <p:cNvPr id="14" name="Text Placeholder 4"/>
          <p:cNvSpPr>
            <a:spLocks noGrp="1"/>
          </p:cNvSpPr>
          <p:nvPr>
            <p:custDataLst>
              <p:tags r:id="rId2"/>
            </p:custDataLst>
          </p:nvPr>
        </p:nvSpPr>
        <p:spPr>
          <a:xfrm>
            <a:off x="233045" y="1219835"/>
            <a:ext cx="4068445" cy="64135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lnSpc>
                <a:spcPct val="100000"/>
              </a:lnSpc>
              <a:spcAft>
                <a:spcPts val="200"/>
              </a:spcAft>
            </a:pPr>
            <a:r>
              <a:rPr lang="en-US" sz="3600" b="1">
                <a:solidFill>
                  <a:schemeClr val="accent3"/>
                </a:solidFill>
                <a:latin typeface="Times New Roman" panose="02020603050405020304" charset="0"/>
                <a:cs typeface="Times New Roman" panose="02020603050405020304" charset="0"/>
              </a:rPr>
              <a:t>Project Overview</a:t>
            </a:r>
            <a:endParaRPr lang="en-US" sz="3600" b="1">
              <a:solidFill>
                <a:schemeClr val="accent3"/>
              </a:solidFill>
              <a:latin typeface="Times New Roman" panose="02020603050405020304" charset="0"/>
              <a:cs typeface="Times New Roman" panose="02020603050405020304" charset="0"/>
            </a:endParaRPr>
          </a:p>
        </p:txBody>
      </p:sp>
      <p:sp>
        <p:nvSpPr>
          <p:cNvPr id="15" name="Text Box 14"/>
          <p:cNvSpPr txBox="1"/>
          <p:nvPr/>
        </p:nvSpPr>
        <p:spPr>
          <a:xfrm>
            <a:off x="808990" y="2569845"/>
            <a:ext cx="2862580" cy="3206115"/>
          </a:xfrm>
          <a:prstGeom prst="rect">
            <a:avLst/>
          </a:prstGeom>
          <a:noFill/>
        </p:spPr>
        <p:txBody>
          <a:bodyPr wrap="square" rtlCol="0" anchor="t">
            <a:noAutofit/>
          </a:bodyPr>
          <a:p>
            <a:pPr indent="0" fontAlgn="auto"/>
            <a:r>
              <a:rPr lang="en-US" altLang="en-US" u="sng"/>
              <a:t>TOOLS:</a:t>
            </a:r>
            <a:endParaRPr lang="en-US" altLang="en-US" u="sng"/>
          </a:p>
          <a:p>
            <a:pPr indent="0" fontAlgn="auto"/>
            <a:endParaRPr lang="en-US" altLang="en-US"/>
          </a:p>
          <a:p>
            <a:pPr indent="0" fontAlgn="auto"/>
            <a:r>
              <a:rPr lang="en-US" altLang="en-US"/>
              <a:t>SQL</a:t>
            </a:r>
            <a:endParaRPr lang="en-US" altLang="en-US"/>
          </a:p>
          <a:p>
            <a:pPr indent="0" fontAlgn="auto"/>
            <a:r>
              <a:rPr lang="en-US" altLang="en-US"/>
              <a:t>Power BI</a:t>
            </a:r>
            <a:endParaRPr lang="en-US" altLang="en-US"/>
          </a:p>
          <a:p>
            <a:pPr indent="0" fontAlgn="auto"/>
            <a:r>
              <a:rPr lang="en-US" altLang="en-US"/>
              <a:t>Excel</a:t>
            </a:r>
            <a:endParaRPr lang="en-US" altLang="en-US"/>
          </a:p>
          <a:p>
            <a:pPr indent="0" fontAlgn="auto"/>
            <a:r>
              <a:rPr lang="en-US" altLang="en-US"/>
              <a:t>----------------</a:t>
            </a:r>
            <a:endParaRPr lang="en-US" altLang="en-US"/>
          </a:p>
          <a:p>
            <a:pPr indent="0" fontAlgn="auto"/>
            <a:r>
              <a:rPr lang="en-US" altLang="en-US"/>
              <a:t>DATASET:</a:t>
            </a:r>
            <a:endParaRPr lang="en-US" altLang="en-US"/>
          </a:p>
          <a:p>
            <a:pPr indent="0" fontAlgn="auto"/>
            <a:r>
              <a:rPr lang="en-US" altLang="en-US"/>
              <a:t>Global Superstore</a:t>
            </a:r>
            <a:endParaRPr lang="en-US" altLang="en-US"/>
          </a:p>
          <a:p>
            <a:pPr indent="0" fontAlgn="auto"/>
            <a:r>
              <a:rPr lang="en-US" altLang="en-US"/>
              <a:t>----------------</a:t>
            </a:r>
            <a:endParaRPr lang="en-US" altLang="en-US"/>
          </a:p>
          <a:p>
            <a:pPr indent="0" fontAlgn="auto"/>
            <a:r>
              <a:rPr lang="en-US" altLang="en-US"/>
              <a:t>ROLE:</a:t>
            </a:r>
            <a:endParaRPr lang="en-US" altLang="en-US"/>
          </a:p>
          <a:p>
            <a:pPr indent="0" fontAlgn="auto"/>
            <a:r>
              <a:rPr lang="en-US" altLang="en-US"/>
              <a:t>Data Analyst</a:t>
            </a:r>
            <a:endParaRPr lang="en-US"/>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Content Placeholder 4"/>
          <p:cNvSpPr>
            <a:spLocks noGrp="1"/>
          </p:cNvSpPr>
          <p:nvPr>
            <p:ph idx="1"/>
            <p:custDataLst>
              <p:tags r:id="rId1"/>
            </p:custDataLst>
          </p:nvPr>
        </p:nvSpPr>
        <p:spPr>
          <a:xfrm>
            <a:off x="701040" y="5937250"/>
            <a:ext cx="10968990" cy="471805"/>
          </a:xfrm>
        </p:spPr>
        <p:txBody>
          <a:bodyPr>
            <a:normAutofit/>
          </a:bodyPr>
          <a:p>
            <a:pPr marL="0" indent="0" algn="ctr">
              <a:lnSpc>
                <a:spcPct val="100000"/>
              </a:lnSpc>
              <a:buNone/>
            </a:pPr>
            <a:r>
              <a:rPr lang="en-US" altLang="en-US">
                <a:latin typeface="Times New Roman" panose="02020603050405020304" charset="0"/>
                <a:cs typeface="Times New Roman" panose="02020603050405020304" charset="0"/>
              </a:rPr>
              <a:t>This analysis was conducted to answer the above business questions</a:t>
            </a:r>
            <a:endParaRPr lang="en-US" altLang="en-US">
              <a:latin typeface="Times New Roman" panose="02020603050405020304" charset="0"/>
              <a:cs typeface="Times New Roman" panose="02020603050405020304" charset="0"/>
            </a:endParaRPr>
          </a:p>
        </p:txBody>
      </p:sp>
      <p:sp>
        <p:nvSpPr>
          <p:cNvPr id="21" name="对象13"/>
          <p:cNvSpPr/>
          <p:nvPr>
            <p:custDataLst>
              <p:tags r:id="rId2"/>
            </p:custDataLst>
          </p:nvPr>
        </p:nvSpPr>
        <p:spPr>
          <a:xfrm>
            <a:off x="4526280" y="1912938"/>
            <a:ext cx="3112748" cy="2771796"/>
          </a:xfrm>
          <a:custGeom>
            <a:avLst/>
            <a:gdLst>
              <a:gd name="connsiteX0" fmla="*/ 2818 w 4072"/>
              <a:gd name="connsiteY0" fmla="*/ 7 h 3674"/>
              <a:gd name="connsiteX1" fmla="*/ 3244 w 4072"/>
              <a:gd name="connsiteY1" fmla="*/ 262 h 3674"/>
              <a:gd name="connsiteX2" fmla="*/ 4007 w 4072"/>
              <a:gd name="connsiteY2" fmla="*/ 1601 h 3674"/>
              <a:gd name="connsiteX3" fmla="*/ 4007 w 4072"/>
              <a:gd name="connsiteY3" fmla="*/ 2091 h 3674"/>
              <a:gd name="connsiteX4" fmla="*/ 3244 w 4072"/>
              <a:gd name="connsiteY4" fmla="*/ 3430 h 3674"/>
              <a:gd name="connsiteX5" fmla="*/ 2812 w 4072"/>
              <a:gd name="connsiteY5" fmla="*/ 3675 h 3674"/>
              <a:gd name="connsiteX6" fmla="*/ 1271 w 4072"/>
              <a:gd name="connsiteY6" fmla="*/ 3675 h 3674"/>
              <a:gd name="connsiteX7" fmla="*/ 839 w 4072"/>
              <a:gd name="connsiteY7" fmla="*/ 3430 h 3674"/>
              <a:gd name="connsiteX8" fmla="*/ 76 w 4072"/>
              <a:gd name="connsiteY8" fmla="*/ 2091 h 3674"/>
              <a:gd name="connsiteX9" fmla="*/ 76 w 4072"/>
              <a:gd name="connsiteY9" fmla="*/ 1601 h 3674"/>
              <a:gd name="connsiteX10" fmla="*/ 839 w 4072"/>
              <a:gd name="connsiteY10" fmla="*/ 262 h 3674"/>
              <a:gd name="connsiteX11" fmla="*/ 1271 w 4072"/>
              <a:gd name="connsiteY11" fmla="*/ 17 h 3674"/>
              <a:gd name="connsiteX12" fmla="*/ 2818 w 4072"/>
              <a:gd name="connsiteY12" fmla="*/ 7 h 3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72" h="3675">
                <a:moveTo>
                  <a:pt x="2818" y="7"/>
                </a:moveTo>
                <a:cubicBezTo>
                  <a:pt x="2991" y="7"/>
                  <a:pt x="3158" y="118"/>
                  <a:pt x="3244" y="262"/>
                </a:cubicBezTo>
                <a:lnTo>
                  <a:pt x="4007" y="1601"/>
                </a:lnTo>
                <a:cubicBezTo>
                  <a:pt x="4094" y="1745"/>
                  <a:pt x="4094" y="1947"/>
                  <a:pt x="4007" y="2091"/>
                </a:cubicBezTo>
                <a:lnTo>
                  <a:pt x="3244" y="3430"/>
                </a:lnTo>
                <a:cubicBezTo>
                  <a:pt x="3158" y="3588"/>
                  <a:pt x="2985" y="3675"/>
                  <a:pt x="2812" y="3675"/>
                </a:cubicBezTo>
                <a:lnTo>
                  <a:pt x="1271" y="3675"/>
                </a:lnTo>
                <a:cubicBezTo>
                  <a:pt x="1098" y="3675"/>
                  <a:pt x="926" y="3588"/>
                  <a:pt x="839" y="3430"/>
                </a:cubicBezTo>
                <a:lnTo>
                  <a:pt x="76" y="2091"/>
                </a:lnTo>
                <a:cubicBezTo>
                  <a:pt x="-25" y="1947"/>
                  <a:pt x="-25" y="1745"/>
                  <a:pt x="76" y="1601"/>
                </a:cubicBezTo>
                <a:lnTo>
                  <a:pt x="839" y="262"/>
                </a:lnTo>
                <a:cubicBezTo>
                  <a:pt x="926" y="118"/>
                  <a:pt x="1098" y="-55"/>
                  <a:pt x="1271" y="17"/>
                </a:cubicBezTo>
                <a:lnTo>
                  <a:pt x="2818" y="7"/>
                </a:lnTo>
              </a:path>
            </a:pathLst>
          </a:custGeom>
          <a:solidFill>
            <a:srgbClr val="5664FF">
              <a:alpha val="5000"/>
            </a:srgbClr>
          </a:solidFill>
          <a:ln w="25400">
            <a:noFill/>
          </a:ln>
          <a:effectLst/>
        </p:spPr>
        <p:style>
          <a:lnRef idx="2">
            <a:srgbClr val="5664FF">
              <a:lumMod val="75000"/>
            </a:srgbClr>
          </a:lnRef>
          <a:fillRef idx="1">
            <a:srgbClr val="5664FF"/>
          </a:fillRef>
          <a:effectRef idx="0">
            <a:srgbClr val="FFFFFF"/>
          </a:effectRef>
          <a:fontRef idx="minor">
            <a:srgbClr val="FFFFFF"/>
          </a:fontRef>
        </p:style>
        <p:txBody>
          <a:bodyPr>
            <a:noAutofit/>
          </a:bodyPr>
          <a:p>
            <a:pPr>
              <a:lnSpc>
                <a:spcPct val="100000"/>
              </a:lnSpc>
            </a:pPr>
            <a:endParaRPr lang="en-US">
              <a:solidFill>
                <a:srgbClr val="FFFFFF"/>
              </a:solidFill>
              <a:latin typeface="Times New Roman" panose="02020603050405020304" charset="0"/>
              <a:cs typeface="Times New Roman" panose="02020603050405020304" charset="0"/>
            </a:endParaRPr>
          </a:p>
        </p:txBody>
      </p:sp>
      <p:sp>
        <p:nvSpPr>
          <p:cNvPr id="65" name="对象1"/>
          <p:cNvSpPr/>
          <p:nvPr>
            <p:custDataLst>
              <p:tags r:id="rId3"/>
            </p:custDataLst>
          </p:nvPr>
        </p:nvSpPr>
        <p:spPr>
          <a:xfrm flipH="1">
            <a:off x="1369060" y="1071563"/>
            <a:ext cx="3841003" cy="1360355"/>
          </a:xfrm>
          <a:custGeom>
            <a:avLst/>
            <a:gdLst/>
            <a:ahLst/>
            <a:cxnLst/>
            <a:rect l="l" t="t" r="r" b="b"/>
            <a:pathLst>
              <a:path w="3950208" h="1399032">
                <a:moveTo>
                  <a:pt x="420624" y="54864"/>
                </a:moveTo>
                <a:cubicBezTo>
                  <a:pt x="438912" y="18288"/>
                  <a:pt x="484632" y="0"/>
                  <a:pt x="521208" y="0"/>
                </a:cubicBezTo>
                <a:lnTo>
                  <a:pt x="3950208" y="0"/>
                </a:lnTo>
                <a:lnTo>
                  <a:pt x="3950208" y="1399032"/>
                </a:lnTo>
                <a:lnTo>
                  <a:pt x="521208" y="1399032"/>
                </a:lnTo>
                <a:cubicBezTo>
                  <a:pt x="484632" y="1399032"/>
                  <a:pt x="438912" y="1380744"/>
                  <a:pt x="420624" y="1344168"/>
                </a:cubicBezTo>
                <a:lnTo>
                  <a:pt x="18288" y="768096"/>
                </a:lnTo>
                <a:cubicBezTo>
                  <a:pt x="-9144" y="731520"/>
                  <a:pt x="-9144" y="667512"/>
                  <a:pt x="18288" y="621792"/>
                </a:cubicBezTo>
                <a:lnTo>
                  <a:pt x="420624" y="54864"/>
                </a:lnTo>
              </a:path>
            </a:pathLst>
          </a:custGeom>
          <a:noFill/>
          <a:ln w="12700">
            <a:gradFill>
              <a:gsLst>
                <a:gs pos="0">
                  <a:srgbClr val="2330C5">
                    <a:lumMod val="40000"/>
                    <a:lumOff val="60000"/>
                    <a:alpha val="60000"/>
                  </a:srgbClr>
                </a:gs>
                <a:gs pos="100000">
                  <a:srgbClr val="5664FF">
                    <a:lumMod val="20000"/>
                    <a:lumOff val="80000"/>
                    <a:alpha val="0"/>
                  </a:srgbClr>
                </a:gs>
              </a:gsLst>
              <a:lin ang="0" scaled="0"/>
            </a:gradFill>
          </a:ln>
          <a:effectLst/>
        </p:spPr>
        <p:style>
          <a:lnRef idx="2">
            <a:srgbClr val="5664FF">
              <a:lumMod val="75000"/>
            </a:srgbClr>
          </a:lnRef>
          <a:fillRef idx="1">
            <a:srgbClr val="5664FF"/>
          </a:fillRef>
          <a:effectRef idx="0">
            <a:srgbClr val="FFFFFF"/>
          </a:effectRef>
          <a:fontRef idx="minor">
            <a:srgbClr val="FFFFFF"/>
          </a:fontRef>
        </p:style>
        <p:txBody>
          <a:bodyPr vertOverflow="overflow" horzOverflow="overflow" vert="horz" wrap="square" lIns="324000" tIns="0" rIns="648000" numCol="1" spcCol="0" rtlCol="0" fromWordArt="0" anchor="ctr" anchorCtr="1" forceAA="0" compatLnSpc="1">
            <a:normAutofit/>
          </a:bodyPr>
          <a:p>
            <a:pPr indent="0" algn="r" fontAlgn="auto">
              <a:lnSpc>
                <a:spcPct val="100000"/>
              </a:lnSpc>
              <a:spcBef>
                <a:spcPct val="0"/>
              </a:spcBef>
              <a:spcAft>
                <a:spcPct val="0"/>
              </a:spcAft>
            </a:pPr>
            <a:r>
              <a:rPr lang="en-US" altLang="en-US" dirty="0">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How is overall sales performance changing over time?</a:t>
            </a:r>
            <a:endParaRPr lang="en-US" altLang="en-US" dirty="0">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p:txBody>
      </p:sp>
      <p:sp>
        <p:nvSpPr>
          <p:cNvPr id="67" name="对象2"/>
          <p:cNvSpPr/>
          <p:nvPr>
            <p:custDataLst>
              <p:tags r:id="rId4"/>
            </p:custDataLst>
          </p:nvPr>
        </p:nvSpPr>
        <p:spPr>
          <a:xfrm flipH="1">
            <a:off x="1369060" y="4244023"/>
            <a:ext cx="3841003" cy="1360355"/>
          </a:xfrm>
          <a:custGeom>
            <a:avLst/>
            <a:gdLst/>
            <a:ahLst/>
            <a:cxnLst/>
            <a:rect l="l" t="t" r="r" b="b"/>
            <a:pathLst>
              <a:path w="3950208" h="1399032">
                <a:moveTo>
                  <a:pt x="420624" y="54864"/>
                </a:moveTo>
                <a:cubicBezTo>
                  <a:pt x="438912" y="18288"/>
                  <a:pt x="484632" y="0"/>
                  <a:pt x="521208" y="0"/>
                </a:cubicBezTo>
                <a:lnTo>
                  <a:pt x="3950208" y="0"/>
                </a:lnTo>
                <a:lnTo>
                  <a:pt x="3950208" y="1399032"/>
                </a:lnTo>
                <a:lnTo>
                  <a:pt x="521208" y="1399032"/>
                </a:lnTo>
                <a:cubicBezTo>
                  <a:pt x="484632" y="1399032"/>
                  <a:pt x="438912" y="1380744"/>
                  <a:pt x="420624" y="1344168"/>
                </a:cubicBezTo>
                <a:lnTo>
                  <a:pt x="18288" y="768096"/>
                </a:lnTo>
                <a:cubicBezTo>
                  <a:pt x="-9144" y="731520"/>
                  <a:pt x="-9144" y="667512"/>
                  <a:pt x="18288" y="621792"/>
                </a:cubicBezTo>
                <a:lnTo>
                  <a:pt x="420624" y="54864"/>
                </a:lnTo>
              </a:path>
            </a:pathLst>
          </a:custGeom>
          <a:noFill/>
          <a:ln w="12700">
            <a:gradFill>
              <a:gsLst>
                <a:gs pos="0">
                  <a:srgbClr val="2330C5">
                    <a:lumMod val="40000"/>
                    <a:lumOff val="60000"/>
                    <a:alpha val="60000"/>
                  </a:srgbClr>
                </a:gs>
                <a:gs pos="100000">
                  <a:srgbClr val="5664FF">
                    <a:lumMod val="20000"/>
                    <a:lumOff val="80000"/>
                    <a:alpha val="0"/>
                  </a:srgbClr>
                </a:gs>
              </a:gsLst>
              <a:lin ang="0" scaled="0"/>
            </a:gradFill>
          </a:ln>
          <a:effectLst/>
        </p:spPr>
        <p:style>
          <a:lnRef idx="2">
            <a:srgbClr val="5664FF">
              <a:lumMod val="75000"/>
            </a:srgbClr>
          </a:lnRef>
          <a:fillRef idx="1">
            <a:srgbClr val="5664FF"/>
          </a:fillRef>
          <a:effectRef idx="0">
            <a:srgbClr val="FFFFFF"/>
          </a:effectRef>
          <a:fontRef idx="minor">
            <a:srgbClr val="FFFFFF"/>
          </a:fontRef>
        </p:style>
        <p:txBody>
          <a:bodyPr vertOverflow="overflow" horzOverflow="overflow" vert="horz" wrap="square" lIns="324000" tIns="0" rIns="648000" numCol="1" spcCol="0" rtlCol="0" fromWordArt="0" anchor="ctr" anchorCtr="1" forceAA="0" compatLnSpc="1">
            <a:normAutofit/>
          </a:bodyPr>
          <a:p>
            <a:pPr indent="0" fontAlgn="auto">
              <a:lnSpc>
                <a:spcPct val="100000"/>
              </a:lnSpc>
              <a:spcBef>
                <a:spcPct val="0"/>
              </a:spcBef>
              <a:spcAft>
                <a:spcPct val="0"/>
              </a:spcAft>
            </a:pPr>
            <a:r>
              <a:rPr lang="en-US" altLang="en-US">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Who are the company's most valuable customers?</a:t>
            </a:r>
            <a:endParaRPr lang="en-US" altLang="en-US">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p:txBody>
      </p:sp>
      <p:sp>
        <p:nvSpPr>
          <p:cNvPr id="69" name="对象3"/>
          <p:cNvSpPr/>
          <p:nvPr>
            <p:custDataLst>
              <p:tags r:id="rId5"/>
            </p:custDataLst>
          </p:nvPr>
        </p:nvSpPr>
        <p:spPr>
          <a:xfrm flipH="1">
            <a:off x="701040" y="2649538"/>
            <a:ext cx="3841003" cy="1360355"/>
          </a:xfrm>
          <a:custGeom>
            <a:avLst/>
            <a:gdLst/>
            <a:ahLst/>
            <a:cxnLst/>
            <a:rect l="l" t="t" r="r" b="b"/>
            <a:pathLst>
              <a:path w="3950208" h="1399032">
                <a:moveTo>
                  <a:pt x="420624" y="54864"/>
                </a:moveTo>
                <a:cubicBezTo>
                  <a:pt x="438912" y="18288"/>
                  <a:pt x="484632" y="0"/>
                  <a:pt x="521208" y="0"/>
                </a:cubicBezTo>
                <a:lnTo>
                  <a:pt x="3950208" y="0"/>
                </a:lnTo>
                <a:lnTo>
                  <a:pt x="3950208" y="1399032"/>
                </a:lnTo>
                <a:lnTo>
                  <a:pt x="521208" y="1399032"/>
                </a:lnTo>
                <a:cubicBezTo>
                  <a:pt x="484632" y="1399032"/>
                  <a:pt x="438912" y="1380744"/>
                  <a:pt x="420624" y="1344168"/>
                </a:cubicBezTo>
                <a:lnTo>
                  <a:pt x="18288" y="768096"/>
                </a:lnTo>
                <a:cubicBezTo>
                  <a:pt x="-9144" y="731520"/>
                  <a:pt x="-9144" y="667512"/>
                  <a:pt x="18288" y="621792"/>
                </a:cubicBezTo>
                <a:lnTo>
                  <a:pt x="420624" y="54864"/>
                </a:lnTo>
              </a:path>
            </a:pathLst>
          </a:custGeom>
          <a:noFill/>
          <a:ln w="12700">
            <a:gradFill>
              <a:gsLst>
                <a:gs pos="0">
                  <a:srgbClr val="2330C5">
                    <a:lumMod val="40000"/>
                    <a:lumOff val="60000"/>
                    <a:alpha val="60000"/>
                  </a:srgbClr>
                </a:gs>
                <a:gs pos="100000">
                  <a:srgbClr val="5664FF">
                    <a:lumMod val="20000"/>
                    <a:lumOff val="80000"/>
                    <a:alpha val="0"/>
                  </a:srgbClr>
                </a:gs>
              </a:gsLst>
              <a:lin ang="0" scaled="0"/>
            </a:gradFill>
          </a:ln>
          <a:effectLst/>
        </p:spPr>
        <p:style>
          <a:lnRef idx="2">
            <a:srgbClr val="5664FF">
              <a:lumMod val="75000"/>
            </a:srgbClr>
          </a:lnRef>
          <a:fillRef idx="1">
            <a:srgbClr val="5664FF"/>
          </a:fillRef>
          <a:effectRef idx="0">
            <a:srgbClr val="FFFFFF"/>
          </a:effectRef>
          <a:fontRef idx="minor">
            <a:srgbClr val="FFFFFF"/>
          </a:fontRef>
        </p:style>
        <p:txBody>
          <a:bodyPr vertOverflow="overflow" horzOverflow="overflow" vert="horz" wrap="square" lIns="324000" tIns="0" rIns="648000" numCol="1" spcCol="0" rtlCol="0" fromWordArt="0" anchor="ctr" anchorCtr="1" forceAA="0" compatLnSpc="1">
            <a:normAutofit/>
          </a:bodyPr>
          <a:p>
            <a:pPr indent="0" fontAlgn="auto">
              <a:lnSpc>
                <a:spcPct val="100000"/>
              </a:lnSpc>
              <a:spcBef>
                <a:spcPct val="0"/>
              </a:spcBef>
              <a:spcAft>
                <a:spcPct val="0"/>
              </a:spcAft>
            </a:pPr>
            <a:r>
              <a:rPr lang="en-US" altLang="en-US">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Which products require management attention?</a:t>
            </a:r>
            <a:endParaRPr lang="en-US" altLang="en-US" dirty="0">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p:txBody>
      </p:sp>
      <p:sp>
        <p:nvSpPr>
          <p:cNvPr id="71" name="对象4"/>
          <p:cNvSpPr/>
          <p:nvPr>
            <p:custDataLst>
              <p:tags r:id="rId6"/>
            </p:custDataLst>
          </p:nvPr>
        </p:nvSpPr>
        <p:spPr>
          <a:xfrm flipH="1">
            <a:off x="6961505" y="1084898"/>
            <a:ext cx="3841003" cy="1360355"/>
          </a:xfrm>
          <a:custGeom>
            <a:avLst/>
            <a:gdLst/>
            <a:ahLst/>
            <a:cxnLst/>
            <a:rect l="l" t="t" r="r" b="b"/>
            <a:pathLst>
              <a:path w="3950208" h="1399032">
                <a:moveTo>
                  <a:pt x="3529584" y="54864"/>
                </a:moveTo>
                <a:cubicBezTo>
                  <a:pt x="3502152" y="18288"/>
                  <a:pt x="3465576" y="0"/>
                  <a:pt x="3429000" y="0"/>
                </a:cubicBezTo>
                <a:lnTo>
                  <a:pt x="0" y="0"/>
                </a:lnTo>
                <a:lnTo>
                  <a:pt x="0" y="1399032"/>
                </a:lnTo>
                <a:lnTo>
                  <a:pt x="3429000" y="1399032"/>
                </a:lnTo>
                <a:cubicBezTo>
                  <a:pt x="3465576" y="1399032"/>
                  <a:pt x="3502152" y="1380744"/>
                  <a:pt x="3529584" y="1344168"/>
                </a:cubicBezTo>
                <a:lnTo>
                  <a:pt x="3922776" y="768096"/>
                </a:lnTo>
                <a:cubicBezTo>
                  <a:pt x="3959352" y="731520"/>
                  <a:pt x="3959352" y="667512"/>
                  <a:pt x="3922776" y="621792"/>
                </a:cubicBezTo>
                <a:lnTo>
                  <a:pt x="3529584" y="54864"/>
                </a:lnTo>
              </a:path>
            </a:pathLst>
          </a:custGeom>
          <a:noFill/>
          <a:ln w="12700">
            <a:gradFill>
              <a:gsLst>
                <a:gs pos="0">
                  <a:srgbClr val="2330C5">
                    <a:lumMod val="40000"/>
                    <a:lumOff val="60000"/>
                    <a:alpha val="60000"/>
                  </a:srgbClr>
                </a:gs>
                <a:gs pos="100000">
                  <a:srgbClr val="5664FF">
                    <a:lumMod val="20000"/>
                    <a:lumOff val="80000"/>
                    <a:alpha val="0"/>
                  </a:srgbClr>
                </a:gs>
              </a:gsLst>
              <a:lin ang="10800000" scaled="0"/>
            </a:gradFill>
          </a:ln>
          <a:effectLst/>
        </p:spPr>
        <p:style>
          <a:lnRef idx="2">
            <a:srgbClr val="5664FF">
              <a:lumMod val="75000"/>
            </a:srgbClr>
          </a:lnRef>
          <a:fillRef idx="1">
            <a:srgbClr val="5664FF"/>
          </a:fillRef>
          <a:effectRef idx="0">
            <a:srgbClr val="FFFFFF"/>
          </a:effectRef>
          <a:fontRef idx="minor">
            <a:srgbClr val="FFFFFF"/>
          </a:fontRef>
        </p:style>
        <p:txBody>
          <a:bodyPr vertOverflow="overflow" horzOverflow="overflow" vert="horz" wrap="square" lIns="648000" tIns="0" rIns="323850" numCol="1" spcCol="0" rtlCol="0" fromWordArt="0" anchor="ctr" anchorCtr="1" forceAA="0" compatLnSpc="1">
            <a:normAutofit lnSpcReduction="10000"/>
          </a:bodyPr>
          <a:p>
            <a:pPr indent="0" fontAlgn="auto">
              <a:lnSpc>
                <a:spcPct val="100000"/>
              </a:lnSpc>
              <a:spcBef>
                <a:spcPct val="0"/>
              </a:spcBef>
              <a:spcAft>
                <a:spcPct val="0"/>
              </a:spcAft>
            </a:pPr>
            <a:r>
              <a:rPr lang="en-US" altLang="en-US" dirty="0">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Which regions, categories, and customer segments generate the highest revenue?</a:t>
            </a:r>
            <a:endParaRPr lang="en-US" altLang="en-US">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p:txBody>
      </p:sp>
      <p:sp>
        <p:nvSpPr>
          <p:cNvPr id="73" name="对象5"/>
          <p:cNvSpPr/>
          <p:nvPr>
            <p:custDataLst>
              <p:tags r:id="rId7"/>
            </p:custDataLst>
          </p:nvPr>
        </p:nvSpPr>
        <p:spPr>
          <a:xfrm flipH="1">
            <a:off x="6961505" y="4223703"/>
            <a:ext cx="3841003" cy="1360355"/>
          </a:xfrm>
          <a:custGeom>
            <a:avLst/>
            <a:gdLst/>
            <a:ahLst/>
            <a:cxnLst/>
            <a:rect l="l" t="t" r="r" b="b"/>
            <a:pathLst>
              <a:path w="3950208" h="1399032">
                <a:moveTo>
                  <a:pt x="3529584" y="54864"/>
                </a:moveTo>
                <a:cubicBezTo>
                  <a:pt x="3502152" y="18288"/>
                  <a:pt x="3465576" y="0"/>
                  <a:pt x="3429000" y="0"/>
                </a:cubicBezTo>
                <a:lnTo>
                  <a:pt x="0" y="0"/>
                </a:lnTo>
                <a:lnTo>
                  <a:pt x="0" y="1399032"/>
                </a:lnTo>
                <a:lnTo>
                  <a:pt x="3429000" y="1399032"/>
                </a:lnTo>
                <a:cubicBezTo>
                  <a:pt x="3465576" y="1399032"/>
                  <a:pt x="3502152" y="1380744"/>
                  <a:pt x="3529584" y="1344168"/>
                </a:cubicBezTo>
                <a:lnTo>
                  <a:pt x="3922776" y="768096"/>
                </a:lnTo>
                <a:cubicBezTo>
                  <a:pt x="3959352" y="731520"/>
                  <a:pt x="3959352" y="667512"/>
                  <a:pt x="3922776" y="621792"/>
                </a:cubicBezTo>
                <a:lnTo>
                  <a:pt x="3529584" y="54864"/>
                </a:lnTo>
              </a:path>
            </a:pathLst>
          </a:custGeom>
          <a:noFill/>
          <a:ln w="12700">
            <a:gradFill>
              <a:gsLst>
                <a:gs pos="0">
                  <a:srgbClr val="2330C5">
                    <a:lumMod val="40000"/>
                    <a:lumOff val="60000"/>
                    <a:alpha val="60000"/>
                  </a:srgbClr>
                </a:gs>
                <a:gs pos="100000">
                  <a:srgbClr val="5664FF">
                    <a:lumMod val="20000"/>
                    <a:lumOff val="80000"/>
                    <a:alpha val="0"/>
                  </a:srgbClr>
                </a:gs>
              </a:gsLst>
              <a:lin ang="10800000" scaled="0"/>
            </a:gradFill>
          </a:ln>
          <a:effectLst/>
        </p:spPr>
        <p:style>
          <a:lnRef idx="2">
            <a:srgbClr val="5664FF">
              <a:lumMod val="75000"/>
            </a:srgbClr>
          </a:lnRef>
          <a:fillRef idx="1">
            <a:srgbClr val="5664FF"/>
          </a:fillRef>
          <a:effectRef idx="0">
            <a:srgbClr val="FFFFFF"/>
          </a:effectRef>
          <a:fontRef idx="minor">
            <a:srgbClr val="FFFFFF"/>
          </a:fontRef>
        </p:style>
        <p:txBody>
          <a:bodyPr vertOverflow="overflow" horzOverflow="overflow" vert="horz" wrap="square" lIns="648000" tIns="0" rIns="323850" numCol="1" spcCol="0" rtlCol="0" fromWordArt="0" anchor="ctr" anchorCtr="1" forceAA="0" compatLnSpc="1">
            <a:normAutofit/>
          </a:bodyPr>
          <a:p>
            <a:pPr indent="0" fontAlgn="auto">
              <a:lnSpc>
                <a:spcPct val="100000"/>
              </a:lnSpc>
              <a:spcBef>
                <a:spcPct val="0"/>
              </a:spcBef>
              <a:spcAft>
                <a:spcPct val="0"/>
              </a:spcAft>
            </a:pPr>
            <a:r>
              <a:rPr lang="en-US" altLang="en-US">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How do discounts affect profitability?</a:t>
            </a:r>
            <a:endParaRPr lang="en-US" altLang="en-US" dirty="0">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a:p>
            <a:pPr indent="0" fontAlgn="auto">
              <a:lnSpc>
                <a:spcPct val="100000"/>
              </a:lnSpc>
              <a:spcBef>
                <a:spcPct val="0"/>
              </a:spcBef>
              <a:spcAft>
                <a:spcPct val="0"/>
              </a:spcAft>
            </a:pPr>
            <a:endParaRPr lang="en-US" altLang="en-US">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p:txBody>
      </p:sp>
      <p:sp>
        <p:nvSpPr>
          <p:cNvPr id="75" name="对象6"/>
          <p:cNvSpPr/>
          <p:nvPr>
            <p:custDataLst>
              <p:tags r:id="rId8"/>
            </p:custDataLst>
          </p:nvPr>
        </p:nvSpPr>
        <p:spPr>
          <a:xfrm flipH="1">
            <a:off x="7650480" y="2653983"/>
            <a:ext cx="3841003" cy="1360355"/>
          </a:xfrm>
          <a:custGeom>
            <a:avLst/>
            <a:gdLst/>
            <a:ahLst/>
            <a:cxnLst/>
            <a:rect l="l" t="t" r="r" b="b"/>
            <a:pathLst>
              <a:path w="3950208" h="1399032">
                <a:moveTo>
                  <a:pt x="3529584" y="54864"/>
                </a:moveTo>
                <a:cubicBezTo>
                  <a:pt x="3502152" y="18288"/>
                  <a:pt x="3465576" y="0"/>
                  <a:pt x="3429000" y="0"/>
                </a:cubicBezTo>
                <a:lnTo>
                  <a:pt x="0" y="0"/>
                </a:lnTo>
                <a:lnTo>
                  <a:pt x="0" y="1399032"/>
                </a:lnTo>
                <a:lnTo>
                  <a:pt x="3429000" y="1399032"/>
                </a:lnTo>
                <a:cubicBezTo>
                  <a:pt x="3465576" y="1399032"/>
                  <a:pt x="3502152" y="1380744"/>
                  <a:pt x="3529584" y="1344168"/>
                </a:cubicBezTo>
                <a:lnTo>
                  <a:pt x="3922776" y="768096"/>
                </a:lnTo>
                <a:cubicBezTo>
                  <a:pt x="3959352" y="731520"/>
                  <a:pt x="3959352" y="667512"/>
                  <a:pt x="3922776" y="621792"/>
                </a:cubicBezTo>
                <a:lnTo>
                  <a:pt x="3529584" y="54864"/>
                </a:lnTo>
              </a:path>
            </a:pathLst>
          </a:custGeom>
          <a:noFill/>
          <a:ln w="12700">
            <a:gradFill>
              <a:gsLst>
                <a:gs pos="0">
                  <a:srgbClr val="2330C5">
                    <a:lumMod val="40000"/>
                    <a:lumOff val="60000"/>
                    <a:alpha val="60000"/>
                  </a:srgbClr>
                </a:gs>
                <a:gs pos="100000">
                  <a:srgbClr val="5664FF">
                    <a:lumMod val="20000"/>
                    <a:lumOff val="80000"/>
                    <a:alpha val="0"/>
                  </a:srgbClr>
                </a:gs>
              </a:gsLst>
              <a:lin ang="10800000" scaled="0"/>
            </a:gradFill>
          </a:ln>
          <a:effectLst/>
        </p:spPr>
        <p:style>
          <a:lnRef idx="2">
            <a:srgbClr val="5664FF">
              <a:lumMod val="75000"/>
            </a:srgbClr>
          </a:lnRef>
          <a:fillRef idx="1">
            <a:srgbClr val="5664FF"/>
          </a:fillRef>
          <a:effectRef idx="0">
            <a:srgbClr val="FFFFFF"/>
          </a:effectRef>
          <a:fontRef idx="minor">
            <a:srgbClr val="FFFFFF"/>
          </a:fontRef>
        </p:style>
        <p:txBody>
          <a:bodyPr vertOverflow="overflow" horzOverflow="overflow" vert="horz" wrap="square" lIns="648000" tIns="0" rIns="323850" numCol="1" spcCol="0" rtlCol="0" fromWordArt="0" anchor="ctr" anchorCtr="1" forceAA="0" compatLnSpc="1">
            <a:normAutofit/>
          </a:bodyPr>
          <a:p>
            <a:pPr indent="0" fontAlgn="auto">
              <a:lnSpc>
                <a:spcPct val="100000"/>
              </a:lnSpc>
              <a:spcBef>
                <a:spcPct val="0"/>
              </a:spcBef>
              <a:spcAft>
                <a:spcPct val="0"/>
              </a:spcAft>
            </a:pPr>
            <a:r>
              <a:rPr lang="en-US" altLang="en-US">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rPr>
              <a:t>Which product categories contribute the most to profit?</a:t>
            </a:r>
            <a:endParaRPr lang="en-US" altLang="en-US">
              <a:ln>
                <a:noFill/>
                <a:prstDash val="sysDot"/>
              </a:ln>
              <a:solidFill>
                <a:srgbClr val="000000">
                  <a:lumMod val="85000"/>
                  <a:lumOff val="15000"/>
                </a:srgbClr>
              </a:solidFill>
              <a:latin typeface="Times New Roman" panose="02020603050405020304" charset="0"/>
              <a:cs typeface="Times New Roman" panose="02020603050405020304" charset="0"/>
              <a:sym typeface="Microsoft YaHei" panose="020B0503020204020204" charset="-122"/>
            </a:endParaRPr>
          </a:p>
        </p:txBody>
      </p:sp>
      <p:sp>
        <p:nvSpPr>
          <p:cNvPr id="22" name="对象7"/>
          <p:cNvSpPr/>
          <p:nvPr>
            <p:custDataLst>
              <p:tags r:id="rId9"/>
            </p:custDataLst>
          </p:nvPr>
        </p:nvSpPr>
        <p:spPr>
          <a:xfrm>
            <a:off x="4895850" y="1501458"/>
            <a:ext cx="635932" cy="635932"/>
          </a:xfrm>
          <a:prstGeom prst="ellipse">
            <a:avLst/>
          </a:prstGeom>
          <a:solidFill>
            <a:schemeClr val="accent1"/>
          </a:solidFill>
          <a:ln>
            <a:solidFill>
              <a:srgbClr val="5664FF">
                <a:alpha val="40000"/>
              </a:srgbClr>
            </a:solidFill>
          </a:ln>
          <a:effectLst/>
        </p:spPr>
        <p:txBody>
          <a:bodyPr wrap="none" lIns="0" tIns="0" rIns="0" bIns="0" anchor="ctr" anchorCtr="1">
            <a:normAutofit/>
          </a:bodyPr>
          <a:p>
            <a:pPr algn="ctr">
              <a:lnSpc>
                <a:spcPct val="100000"/>
              </a:lnSpc>
              <a:spcBef>
                <a:spcPct val="0"/>
              </a:spcBef>
              <a:spcAft>
                <a:spcPct val="0"/>
              </a:spcAft>
            </a:pPr>
            <a:r>
              <a:rPr lang="en-US" b="1" dirty="0">
                <a:solidFill>
                  <a:srgbClr val="FFFFFF"/>
                </a:solidFill>
                <a:latin typeface="Times New Roman" panose="02020603050405020304" charset="0"/>
                <a:cs typeface="Times New Roman" panose="02020603050405020304" charset="0"/>
                <a:sym typeface="Arial" panose="020B0604020202020204" pitchFamily="34" charset="0"/>
              </a:rPr>
              <a:t>01</a:t>
            </a:r>
            <a:endParaRPr lang="en-US" b="1" dirty="0">
              <a:solidFill>
                <a:srgbClr val="FFFFFF"/>
              </a:solidFill>
              <a:latin typeface="Times New Roman" panose="02020603050405020304" charset="0"/>
              <a:cs typeface="Times New Roman" panose="02020603050405020304" charset="0"/>
              <a:sym typeface="Arial" panose="020B0604020202020204" pitchFamily="34" charset="0"/>
            </a:endParaRPr>
          </a:p>
        </p:txBody>
      </p:sp>
      <p:sp>
        <p:nvSpPr>
          <p:cNvPr id="24" name="对象7"/>
          <p:cNvSpPr/>
          <p:nvPr>
            <p:custDataLst>
              <p:tags r:id="rId10"/>
            </p:custDataLst>
          </p:nvPr>
        </p:nvSpPr>
        <p:spPr>
          <a:xfrm>
            <a:off x="6615430" y="1501458"/>
            <a:ext cx="635932" cy="635932"/>
          </a:xfrm>
          <a:prstGeom prst="ellipse">
            <a:avLst/>
          </a:prstGeom>
          <a:solidFill>
            <a:schemeClr val="accent1"/>
          </a:solidFill>
          <a:ln>
            <a:solidFill>
              <a:srgbClr val="5664FF">
                <a:alpha val="40000"/>
              </a:srgbClr>
            </a:solidFill>
          </a:ln>
          <a:effectLst/>
        </p:spPr>
        <p:txBody>
          <a:bodyPr wrap="none" lIns="0" tIns="0" rIns="0" bIns="0" anchor="ctr" anchorCtr="1">
            <a:normAutofit/>
          </a:bodyPr>
          <a:p>
            <a:pPr algn="ctr">
              <a:lnSpc>
                <a:spcPct val="100000"/>
              </a:lnSpc>
              <a:spcBef>
                <a:spcPct val="0"/>
              </a:spcBef>
              <a:spcAft>
                <a:spcPct val="0"/>
              </a:spcAft>
            </a:pPr>
            <a:r>
              <a:rPr lang="en-US" b="1">
                <a:solidFill>
                  <a:srgbClr val="FFFFFF"/>
                </a:solidFill>
                <a:latin typeface="Times New Roman" panose="02020603050405020304" charset="0"/>
                <a:cs typeface="Times New Roman" panose="02020603050405020304" charset="0"/>
                <a:sym typeface="Arial" panose="020B0604020202020204" pitchFamily="34" charset="0"/>
              </a:rPr>
              <a:t>02</a:t>
            </a:r>
            <a:endParaRPr lang="en-US" b="1" dirty="0">
              <a:solidFill>
                <a:srgbClr val="FFFFFF"/>
              </a:solidFill>
              <a:latin typeface="Times New Roman" panose="02020603050405020304" charset="0"/>
              <a:cs typeface="Times New Roman" panose="02020603050405020304" charset="0"/>
              <a:sym typeface="Arial" panose="020B0604020202020204" pitchFamily="34" charset="0"/>
            </a:endParaRPr>
          </a:p>
        </p:txBody>
      </p:sp>
      <p:sp>
        <p:nvSpPr>
          <p:cNvPr id="25" name="对象7"/>
          <p:cNvSpPr/>
          <p:nvPr>
            <p:custDataLst>
              <p:tags r:id="rId11"/>
            </p:custDataLst>
          </p:nvPr>
        </p:nvSpPr>
        <p:spPr>
          <a:xfrm>
            <a:off x="4895850" y="4463098"/>
            <a:ext cx="635932" cy="635932"/>
          </a:xfrm>
          <a:prstGeom prst="ellipse">
            <a:avLst/>
          </a:prstGeom>
          <a:solidFill>
            <a:schemeClr val="accent1"/>
          </a:solidFill>
          <a:ln>
            <a:solidFill>
              <a:srgbClr val="5664FF">
                <a:alpha val="40000"/>
              </a:srgbClr>
            </a:solidFill>
          </a:ln>
          <a:effectLst/>
        </p:spPr>
        <p:txBody>
          <a:bodyPr wrap="none" lIns="0" tIns="0" rIns="0" bIns="0" anchor="ctr" anchorCtr="1">
            <a:normAutofit/>
          </a:bodyPr>
          <a:p>
            <a:pPr algn="ctr">
              <a:lnSpc>
                <a:spcPct val="100000"/>
              </a:lnSpc>
              <a:spcBef>
                <a:spcPct val="0"/>
              </a:spcBef>
              <a:spcAft>
                <a:spcPct val="0"/>
              </a:spcAft>
            </a:pPr>
            <a:r>
              <a:rPr lang="en-US" b="1">
                <a:solidFill>
                  <a:srgbClr val="FFFFFF"/>
                </a:solidFill>
                <a:latin typeface="Times New Roman" panose="02020603050405020304" charset="0"/>
                <a:cs typeface="Times New Roman" panose="02020603050405020304" charset="0"/>
                <a:sym typeface="Arial" panose="020B0604020202020204" pitchFamily="34" charset="0"/>
              </a:rPr>
              <a:t>05</a:t>
            </a:r>
            <a:endParaRPr lang="en-US" b="1" dirty="0">
              <a:solidFill>
                <a:srgbClr val="FFFFFF"/>
              </a:solidFill>
              <a:latin typeface="Times New Roman" panose="02020603050405020304" charset="0"/>
              <a:cs typeface="Times New Roman" panose="02020603050405020304" charset="0"/>
              <a:sym typeface="Arial" panose="020B0604020202020204" pitchFamily="34" charset="0"/>
            </a:endParaRPr>
          </a:p>
        </p:txBody>
      </p:sp>
      <p:sp>
        <p:nvSpPr>
          <p:cNvPr id="26" name="对象7"/>
          <p:cNvSpPr/>
          <p:nvPr>
            <p:custDataLst>
              <p:tags r:id="rId12"/>
            </p:custDataLst>
          </p:nvPr>
        </p:nvSpPr>
        <p:spPr>
          <a:xfrm>
            <a:off x="6615430" y="4463098"/>
            <a:ext cx="635932" cy="635932"/>
          </a:xfrm>
          <a:prstGeom prst="ellipse">
            <a:avLst/>
          </a:prstGeom>
          <a:solidFill>
            <a:schemeClr val="accent1"/>
          </a:solidFill>
          <a:ln>
            <a:solidFill>
              <a:srgbClr val="5664FF">
                <a:alpha val="40000"/>
              </a:srgbClr>
            </a:solidFill>
          </a:ln>
          <a:effectLst/>
        </p:spPr>
        <p:txBody>
          <a:bodyPr wrap="none" lIns="0" tIns="0" rIns="0" bIns="0" anchor="ctr" anchorCtr="1">
            <a:normAutofit/>
          </a:bodyPr>
          <a:p>
            <a:pPr algn="ctr">
              <a:lnSpc>
                <a:spcPct val="100000"/>
              </a:lnSpc>
              <a:spcBef>
                <a:spcPct val="0"/>
              </a:spcBef>
              <a:spcAft>
                <a:spcPct val="0"/>
              </a:spcAft>
            </a:pPr>
            <a:r>
              <a:rPr lang="en-US" b="1">
                <a:solidFill>
                  <a:srgbClr val="FFFFFF"/>
                </a:solidFill>
                <a:latin typeface="Times New Roman" panose="02020603050405020304" charset="0"/>
                <a:cs typeface="Times New Roman" panose="02020603050405020304" charset="0"/>
                <a:sym typeface="Arial" panose="020B0604020202020204" pitchFamily="34" charset="0"/>
              </a:rPr>
              <a:t>04</a:t>
            </a:r>
            <a:endParaRPr lang="en-US" b="1" dirty="0">
              <a:solidFill>
                <a:srgbClr val="FFFFFF"/>
              </a:solidFill>
              <a:latin typeface="Times New Roman" panose="02020603050405020304" charset="0"/>
              <a:cs typeface="Times New Roman" panose="02020603050405020304" charset="0"/>
              <a:sym typeface="Arial" panose="020B0604020202020204" pitchFamily="34" charset="0"/>
            </a:endParaRPr>
          </a:p>
        </p:txBody>
      </p:sp>
      <p:sp>
        <p:nvSpPr>
          <p:cNvPr id="27" name="对象7"/>
          <p:cNvSpPr/>
          <p:nvPr>
            <p:custDataLst>
              <p:tags r:id="rId13"/>
            </p:custDataLst>
          </p:nvPr>
        </p:nvSpPr>
        <p:spPr>
          <a:xfrm>
            <a:off x="4129405" y="3016568"/>
            <a:ext cx="635932" cy="635932"/>
          </a:xfrm>
          <a:prstGeom prst="ellipse">
            <a:avLst/>
          </a:prstGeom>
          <a:solidFill>
            <a:schemeClr val="accent1"/>
          </a:solidFill>
          <a:ln>
            <a:solidFill>
              <a:srgbClr val="5664FF">
                <a:alpha val="40000"/>
              </a:srgbClr>
            </a:solidFill>
          </a:ln>
          <a:effectLst/>
        </p:spPr>
        <p:txBody>
          <a:bodyPr wrap="none" lIns="0" tIns="0" rIns="0" bIns="0" anchor="ctr" anchorCtr="1">
            <a:normAutofit/>
          </a:bodyPr>
          <a:p>
            <a:pPr algn="ctr">
              <a:lnSpc>
                <a:spcPct val="100000"/>
              </a:lnSpc>
              <a:spcBef>
                <a:spcPct val="0"/>
              </a:spcBef>
              <a:spcAft>
                <a:spcPct val="0"/>
              </a:spcAft>
            </a:pPr>
            <a:r>
              <a:rPr lang="en-US" b="1">
                <a:solidFill>
                  <a:srgbClr val="FFFFFF"/>
                </a:solidFill>
                <a:latin typeface="Times New Roman" panose="02020603050405020304" charset="0"/>
                <a:cs typeface="Times New Roman" panose="02020603050405020304" charset="0"/>
                <a:sym typeface="Arial" panose="020B0604020202020204" pitchFamily="34" charset="0"/>
              </a:rPr>
              <a:t>06</a:t>
            </a:r>
            <a:endParaRPr lang="en-US" b="1" dirty="0">
              <a:solidFill>
                <a:srgbClr val="FFFFFF"/>
              </a:solidFill>
              <a:latin typeface="Times New Roman" panose="02020603050405020304" charset="0"/>
              <a:cs typeface="Times New Roman" panose="02020603050405020304" charset="0"/>
              <a:sym typeface="Arial" panose="020B0604020202020204" pitchFamily="34" charset="0"/>
            </a:endParaRPr>
          </a:p>
        </p:txBody>
      </p:sp>
      <p:sp>
        <p:nvSpPr>
          <p:cNvPr id="28" name="对象7"/>
          <p:cNvSpPr/>
          <p:nvPr>
            <p:custDataLst>
              <p:tags r:id="rId14"/>
            </p:custDataLst>
          </p:nvPr>
        </p:nvSpPr>
        <p:spPr>
          <a:xfrm>
            <a:off x="7406005" y="3016568"/>
            <a:ext cx="635932" cy="635932"/>
          </a:xfrm>
          <a:prstGeom prst="ellipse">
            <a:avLst/>
          </a:prstGeom>
          <a:solidFill>
            <a:schemeClr val="accent1"/>
          </a:solidFill>
          <a:ln>
            <a:solidFill>
              <a:srgbClr val="5664FF">
                <a:alpha val="40000"/>
              </a:srgbClr>
            </a:solidFill>
          </a:ln>
          <a:effectLst/>
        </p:spPr>
        <p:txBody>
          <a:bodyPr wrap="none" lIns="0" tIns="0" rIns="0" bIns="0" anchor="ctr" anchorCtr="1">
            <a:normAutofit/>
          </a:bodyPr>
          <a:p>
            <a:pPr algn="ctr">
              <a:lnSpc>
                <a:spcPct val="100000"/>
              </a:lnSpc>
              <a:spcBef>
                <a:spcPct val="0"/>
              </a:spcBef>
              <a:spcAft>
                <a:spcPct val="0"/>
              </a:spcAft>
            </a:pPr>
            <a:r>
              <a:rPr lang="en-US" b="1">
                <a:solidFill>
                  <a:srgbClr val="FFFFFF"/>
                </a:solidFill>
                <a:latin typeface="Times New Roman" panose="02020603050405020304" charset="0"/>
                <a:cs typeface="Times New Roman" panose="02020603050405020304" charset="0"/>
                <a:sym typeface="Arial" panose="020B0604020202020204" pitchFamily="34" charset="0"/>
              </a:rPr>
              <a:t>03</a:t>
            </a:r>
            <a:endParaRPr lang="en-US" b="1" dirty="0">
              <a:solidFill>
                <a:srgbClr val="FFFFFF"/>
              </a:solidFill>
              <a:latin typeface="Times New Roman" panose="02020603050405020304" charset="0"/>
              <a:cs typeface="Times New Roman" panose="02020603050405020304" charset="0"/>
              <a:sym typeface="Arial" panose="020B0604020202020204" pitchFamily="34" charset="0"/>
            </a:endParaRPr>
          </a:p>
        </p:txBody>
      </p:sp>
      <p:sp>
        <p:nvSpPr>
          <p:cNvPr id="29" name="任意多边形: 形状 11"/>
          <p:cNvSpPr/>
          <p:nvPr>
            <p:custDataLst>
              <p:tags r:id="rId15"/>
            </p:custDataLst>
          </p:nvPr>
        </p:nvSpPr>
        <p:spPr>
          <a:xfrm>
            <a:off x="4924425" y="2281238"/>
            <a:ext cx="2315670" cy="2035410"/>
          </a:xfrm>
          <a:custGeom>
            <a:avLst/>
            <a:gdLst>
              <a:gd name="connsiteX0" fmla="*/ 15684 w 2306019"/>
              <a:gd name="connsiteY0" fmla="*/ 960560 h 2035410"/>
              <a:gd name="connsiteX1" fmla="*/ 537270 w 2306019"/>
              <a:gd name="connsiteY1" fmla="*/ 57161 h 2035410"/>
              <a:gd name="connsiteX2" fmla="*/ 636258 w 2306019"/>
              <a:gd name="connsiteY2" fmla="*/ 0 h 2035410"/>
              <a:gd name="connsiteX3" fmla="*/ 1679418 w 2306019"/>
              <a:gd name="connsiteY3" fmla="*/ 0 h 2035410"/>
              <a:gd name="connsiteX4" fmla="*/ 1778390 w 2306019"/>
              <a:gd name="connsiteY4" fmla="*/ 57145 h 2035410"/>
              <a:gd name="connsiteX5" fmla="*/ 2299977 w 2306019"/>
              <a:gd name="connsiteY5" fmla="*/ 960544 h 2035410"/>
              <a:gd name="connsiteX6" fmla="*/ 2299986 w 2306019"/>
              <a:gd name="connsiteY6" fmla="*/ 1074850 h 2035410"/>
              <a:gd name="connsiteX7" fmla="*/ 1778399 w 2306019"/>
              <a:gd name="connsiteY7" fmla="*/ 1978249 h 2035410"/>
              <a:gd name="connsiteX8" fmla="*/ 1679411 w 2306019"/>
              <a:gd name="connsiteY8" fmla="*/ 2035410 h 2035410"/>
              <a:gd name="connsiteX9" fmla="*/ 636251 w 2306019"/>
              <a:gd name="connsiteY9" fmla="*/ 2035410 h 2035410"/>
              <a:gd name="connsiteX10" fmla="*/ 537279 w 2306019"/>
              <a:gd name="connsiteY10" fmla="*/ 1978265 h 2035410"/>
              <a:gd name="connsiteX11" fmla="*/ 15693 w 2306019"/>
              <a:gd name="connsiteY11" fmla="*/ 1074866 h 2035410"/>
              <a:gd name="connsiteX12" fmla="*/ 15684 w 2306019"/>
              <a:gd name="connsiteY12" fmla="*/ 960560 h 2035410"/>
              <a:gd name="connsiteX0-1" fmla="*/ 15684 w 2306019"/>
              <a:gd name="connsiteY0-2" fmla="*/ 960560 h 2035410"/>
              <a:gd name="connsiteX1-3" fmla="*/ 537270 w 2306019"/>
              <a:gd name="connsiteY1-4" fmla="*/ 57161 h 2035410"/>
              <a:gd name="connsiteX2-5" fmla="*/ 636258 w 2306019"/>
              <a:gd name="connsiteY2-6" fmla="*/ 0 h 2035410"/>
              <a:gd name="connsiteX3-7" fmla="*/ 1679418 w 2306019"/>
              <a:gd name="connsiteY3-8" fmla="*/ 0 h 2035410"/>
              <a:gd name="connsiteX4-9" fmla="*/ 1778390 w 2306019"/>
              <a:gd name="connsiteY4-10" fmla="*/ 57145 h 2035410"/>
              <a:gd name="connsiteX5-11" fmla="*/ 2299977 w 2306019"/>
              <a:gd name="connsiteY5-12" fmla="*/ 960544 h 2035410"/>
              <a:gd name="connsiteX6-13" fmla="*/ 2299986 w 2306019"/>
              <a:gd name="connsiteY6-14" fmla="*/ 1074850 h 2035410"/>
              <a:gd name="connsiteX7-15" fmla="*/ 1778399 w 2306019"/>
              <a:gd name="connsiteY7-16" fmla="*/ 1978249 h 2035410"/>
              <a:gd name="connsiteX8-17" fmla="*/ 1679411 w 2306019"/>
              <a:gd name="connsiteY8-18" fmla="*/ 2035410 h 2035410"/>
              <a:gd name="connsiteX9-19" fmla="*/ 636251 w 2306019"/>
              <a:gd name="connsiteY9-20" fmla="*/ 2035410 h 2035410"/>
              <a:gd name="connsiteX10-21" fmla="*/ 537279 w 2306019"/>
              <a:gd name="connsiteY10-22" fmla="*/ 1978265 h 2035410"/>
              <a:gd name="connsiteX11-23" fmla="*/ 15693 w 2306019"/>
              <a:gd name="connsiteY11-24" fmla="*/ 1074866 h 2035410"/>
              <a:gd name="connsiteX12-25" fmla="*/ 15684 w 2306019"/>
              <a:gd name="connsiteY12-26" fmla="*/ 960560 h 2035410"/>
              <a:gd name="connsiteX0-27" fmla="*/ 15684 w 2306019"/>
              <a:gd name="connsiteY0-28" fmla="*/ 960560 h 2035410"/>
              <a:gd name="connsiteX1-29" fmla="*/ 537270 w 2306019"/>
              <a:gd name="connsiteY1-30" fmla="*/ 57161 h 2035410"/>
              <a:gd name="connsiteX2-31" fmla="*/ 636258 w 2306019"/>
              <a:gd name="connsiteY2-32" fmla="*/ 0 h 2035410"/>
              <a:gd name="connsiteX3-33" fmla="*/ 1679418 w 2306019"/>
              <a:gd name="connsiteY3-34" fmla="*/ 0 h 2035410"/>
              <a:gd name="connsiteX4-35" fmla="*/ 1778390 w 2306019"/>
              <a:gd name="connsiteY4-36" fmla="*/ 57145 h 2035410"/>
              <a:gd name="connsiteX5-37" fmla="*/ 2299977 w 2306019"/>
              <a:gd name="connsiteY5-38" fmla="*/ 960544 h 2035410"/>
              <a:gd name="connsiteX6-39" fmla="*/ 2299986 w 2306019"/>
              <a:gd name="connsiteY6-40" fmla="*/ 1074850 h 2035410"/>
              <a:gd name="connsiteX7-41" fmla="*/ 1778399 w 2306019"/>
              <a:gd name="connsiteY7-42" fmla="*/ 1978249 h 2035410"/>
              <a:gd name="connsiteX8-43" fmla="*/ 1679411 w 2306019"/>
              <a:gd name="connsiteY8-44" fmla="*/ 2035410 h 2035410"/>
              <a:gd name="connsiteX9-45" fmla="*/ 636251 w 2306019"/>
              <a:gd name="connsiteY9-46" fmla="*/ 2035410 h 2035410"/>
              <a:gd name="connsiteX10-47" fmla="*/ 537279 w 2306019"/>
              <a:gd name="connsiteY10-48" fmla="*/ 1978265 h 2035410"/>
              <a:gd name="connsiteX11-49" fmla="*/ 15693 w 2306019"/>
              <a:gd name="connsiteY11-50" fmla="*/ 1074866 h 2035410"/>
              <a:gd name="connsiteX12-51" fmla="*/ 15684 w 2306019"/>
              <a:gd name="connsiteY12-52" fmla="*/ 960560 h 2035410"/>
              <a:gd name="connsiteX0-53" fmla="*/ 15684 w 2306019"/>
              <a:gd name="connsiteY0-54" fmla="*/ 960560 h 2035410"/>
              <a:gd name="connsiteX1-55" fmla="*/ 537270 w 2306019"/>
              <a:gd name="connsiteY1-56" fmla="*/ 57161 h 2035410"/>
              <a:gd name="connsiteX2-57" fmla="*/ 636258 w 2306019"/>
              <a:gd name="connsiteY2-58" fmla="*/ 0 h 2035410"/>
              <a:gd name="connsiteX3-59" fmla="*/ 1679418 w 2306019"/>
              <a:gd name="connsiteY3-60" fmla="*/ 0 h 2035410"/>
              <a:gd name="connsiteX4-61" fmla="*/ 1778390 w 2306019"/>
              <a:gd name="connsiteY4-62" fmla="*/ 57145 h 2035410"/>
              <a:gd name="connsiteX5-63" fmla="*/ 2299977 w 2306019"/>
              <a:gd name="connsiteY5-64" fmla="*/ 960544 h 2035410"/>
              <a:gd name="connsiteX6-65" fmla="*/ 2299986 w 2306019"/>
              <a:gd name="connsiteY6-66" fmla="*/ 1074850 h 2035410"/>
              <a:gd name="connsiteX7-67" fmla="*/ 1778399 w 2306019"/>
              <a:gd name="connsiteY7-68" fmla="*/ 1978249 h 2035410"/>
              <a:gd name="connsiteX8-69" fmla="*/ 1679411 w 2306019"/>
              <a:gd name="connsiteY8-70" fmla="*/ 2035410 h 2035410"/>
              <a:gd name="connsiteX9-71" fmla="*/ 636251 w 2306019"/>
              <a:gd name="connsiteY9-72" fmla="*/ 2035410 h 2035410"/>
              <a:gd name="connsiteX10-73" fmla="*/ 537279 w 2306019"/>
              <a:gd name="connsiteY10-74" fmla="*/ 1978265 h 2035410"/>
              <a:gd name="connsiteX11-75" fmla="*/ 15693 w 2306019"/>
              <a:gd name="connsiteY11-76" fmla="*/ 1074866 h 2035410"/>
              <a:gd name="connsiteX12-77" fmla="*/ 15684 w 2306019"/>
              <a:gd name="connsiteY12-78" fmla="*/ 960560 h 2035410"/>
              <a:gd name="connsiteX0-79" fmla="*/ 15684 w 2306019"/>
              <a:gd name="connsiteY0-80" fmla="*/ 960560 h 2035410"/>
              <a:gd name="connsiteX1-81" fmla="*/ 537270 w 2306019"/>
              <a:gd name="connsiteY1-82" fmla="*/ 57161 h 2035410"/>
              <a:gd name="connsiteX2-83" fmla="*/ 636258 w 2306019"/>
              <a:gd name="connsiteY2-84" fmla="*/ 0 h 2035410"/>
              <a:gd name="connsiteX3-85" fmla="*/ 1679418 w 2306019"/>
              <a:gd name="connsiteY3-86" fmla="*/ 0 h 2035410"/>
              <a:gd name="connsiteX4-87" fmla="*/ 1778390 w 2306019"/>
              <a:gd name="connsiteY4-88" fmla="*/ 57145 h 2035410"/>
              <a:gd name="connsiteX5-89" fmla="*/ 2299977 w 2306019"/>
              <a:gd name="connsiteY5-90" fmla="*/ 960544 h 2035410"/>
              <a:gd name="connsiteX6-91" fmla="*/ 2299986 w 2306019"/>
              <a:gd name="connsiteY6-92" fmla="*/ 1074850 h 2035410"/>
              <a:gd name="connsiteX7-93" fmla="*/ 1778399 w 2306019"/>
              <a:gd name="connsiteY7-94" fmla="*/ 1978249 h 2035410"/>
              <a:gd name="connsiteX8-95" fmla="*/ 1679411 w 2306019"/>
              <a:gd name="connsiteY8-96" fmla="*/ 2035410 h 2035410"/>
              <a:gd name="connsiteX9-97" fmla="*/ 636251 w 2306019"/>
              <a:gd name="connsiteY9-98" fmla="*/ 2035410 h 2035410"/>
              <a:gd name="connsiteX10-99" fmla="*/ 537279 w 2306019"/>
              <a:gd name="connsiteY10-100" fmla="*/ 1978265 h 2035410"/>
              <a:gd name="connsiteX11-101" fmla="*/ 15693 w 2306019"/>
              <a:gd name="connsiteY11-102" fmla="*/ 1074866 h 2035410"/>
              <a:gd name="connsiteX12-103" fmla="*/ 15684 w 2306019"/>
              <a:gd name="connsiteY12-104" fmla="*/ 960560 h 2035410"/>
              <a:gd name="connsiteX0-105" fmla="*/ 15684 w 2306019"/>
              <a:gd name="connsiteY0-106" fmla="*/ 960560 h 2035410"/>
              <a:gd name="connsiteX1-107" fmla="*/ 537270 w 2306019"/>
              <a:gd name="connsiteY1-108" fmla="*/ 57161 h 2035410"/>
              <a:gd name="connsiteX2-109" fmla="*/ 636258 w 2306019"/>
              <a:gd name="connsiteY2-110" fmla="*/ 0 h 2035410"/>
              <a:gd name="connsiteX3-111" fmla="*/ 1679418 w 2306019"/>
              <a:gd name="connsiteY3-112" fmla="*/ 0 h 2035410"/>
              <a:gd name="connsiteX4-113" fmla="*/ 1778390 w 2306019"/>
              <a:gd name="connsiteY4-114" fmla="*/ 57145 h 2035410"/>
              <a:gd name="connsiteX5-115" fmla="*/ 2299977 w 2306019"/>
              <a:gd name="connsiteY5-116" fmla="*/ 960544 h 2035410"/>
              <a:gd name="connsiteX6-117" fmla="*/ 2299986 w 2306019"/>
              <a:gd name="connsiteY6-118" fmla="*/ 1074850 h 2035410"/>
              <a:gd name="connsiteX7-119" fmla="*/ 1778399 w 2306019"/>
              <a:gd name="connsiteY7-120" fmla="*/ 1978249 h 2035410"/>
              <a:gd name="connsiteX8-121" fmla="*/ 1679411 w 2306019"/>
              <a:gd name="connsiteY8-122" fmla="*/ 2035410 h 2035410"/>
              <a:gd name="connsiteX9-123" fmla="*/ 636251 w 2306019"/>
              <a:gd name="connsiteY9-124" fmla="*/ 2035410 h 2035410"/>
              <a:gd name="connsiteX10-125" fmla="*/ 537279 w 2306019"/>
              <a:gd name="connsiteY10-126" fmla="*/ 1978265 h 2035410"/>
              <a:gd name="connsiteX11-127" fmla="*/ 15693 w 2306019"/>
              <a:gd name="connsiteY11-128" fmla="*/ 1074866 h 2035410"/>
              <a:gd name="connsiteX12-129" fmla="*/ 15684 w 2306019"/>
              <a:gd name="connsiteY12-130" fmla="*/ 960560 h 2035410"/>
              <a:gd name="connsiteX0-131" fmla="*/ 15684 w 2306019"/>
              <a:gd name="connsiteY0-132" fmla="*/ 960560 h 2035410"/>
              <a:gd name="connsiteX1-133" fmla="*/ 537270 w 2306019"/>
              <a:gd name="connsiteY1-134" fmla="*/ 57161 h 2035410"/>
              <a:gd name="connsiteX2-135" fmla="*/ 636258 w 2306019"/>
              <a:gd name="connsiteY2-136" fmla="*/ 0 h 2035410"/>
              <a:gd name="connsiteX3-137" fmla="*/ 1679418 w 2306019"/>
              <a:gd name="connsiteY3-138" fmla="*/ 0 h 2035410"/>
              <a:gd name="connsiteX4-139" fmla="*/ 1778390 w 2306019"/>
              <a:gd name="connsiteY4-140" fmla="*/ 57145 h 2035410"/>
              <a:gd name="connsiteX5-141" fmla="*/ 2299977 w 2306019"/>
              <a:gd name="connsiteY5-142" fmla="*/ 960544 h 2035410"/>
              <a:gd name="connsiteX6-143" fmla="*/ 2299986 w 2306019"/>
              <a:gd name="connsiteY6-144" fmla="*/ 1074850 h 2035410"/>
              <a:gd name="connsiteX7-145" fmla="*/ 1778399 w 2306019"/>
              <a:gd name="connsiteY7-146" fmla="*/ 1978249 h 2035410"/>
              <a:gd name="connsiteX8-147" fmla="*/ 1679411 w 2306019"/>
              <a:gd name="connsiteY8-148" fmla="*/ 2035410 h 2035410"/>
              <a:gd name="connsiteX9-149" fmla="*/ 636251 w 2306019"/>
              <a:gd name="connsiteY9-150" fmla="*/ 2035410 h 2035410"/>
              <a:gd name="connsiteX10-151" fmla="*/ 537279 w 2306019"/>
              <a:gd name="connsiteY10-152" fmla="*/ 1978265 h 2035410"/>
              <a:gd name="connsiteX11-153" fmla="*/ 15693 w 2306019"/>
              <a:gd name="connsiteY11-154" fmla="*/ 1074866 h 2035410"/>
              <a:gd name="connsiteX12-155" fmla="*/ 15684 w 2306019"/>
              <a:gd name="connsiteY12-156" fmla="*/ 960560 h 2035410"/>
              <a:gd name="connsiteX0-157" fmla="*/ 15684 w 2306019"/>
              <a:gd name="connsiteY0-158" fmla="*/ 960560 h 2035410"/>
              <a:gd name="connsiteX1-159" fmla="*/ 537270 w 2306019"/>
              <a:gd name="connsiteY1-160" fmla="*/ 57161 h 2035410"/>
              <a:gd name="connsiteX2-161" fmla="*/ 636258 w 2306019"/>
              <a:gd name="connsiteY2-162" fmla="*/ 0 h 2035410"/>
              <a:gd name="connsiteX3-163" fmla="*/ 1679418 w 2306019"/>
              <a:gd name="connsiteY3-164" fmla="*/ 0 h 2035410"/>
              <a:gd name="connsiteX4-165" fmla="*/ 1778390 w 2306019"/>
              <a:gd name="connsiteY4-166" fmla="*/ 57145 h 2035410"/>
              <a:gd name="connsiteX5-167" fmla="*/ 2299977 w 2306019"/>
              <a:gd name="connsiteY5-168" fmla="*/ 960544 h 2035410"/>
              <a:gd name="connsiteX6-169" fmla="*/ 2299986 w 2306019"/>
              <a:gd name="connsiteY6-170" fmla="*/ 1074850 h 2035410"/>
              <a:gd name="connsiteX7-171" fmla="*/ 1778399 w 2306019"/>
              <a:gd name="connsiteY7-172" fmla="*/ 1978249 h 2035410"/>
              <a:gd name="connsiteX8-173" fmla="*/ 1679411 w 2306019"/>
              <a:gd name="connsiteY8-174" fmla="*/ 2035410 h 2035410"/>
              <a:gd name="connsiteX9-175" fmla="*/ 636251 w 2306019"/>
              <a:gd name="connsiteY9-176" fmla="*/ 2035410 h 2035410"/>
              <a:gd name="connsiteX10-177" fmla="*/ 537279 w 2306019"/>
              <a:gd name="connsiteY10-178" fmla="*/ 1978265 h 2035410"/>
              <a:gd name="connsiteX11-179" fmla="*/ 15693 w 2306019"/>
              <a:gd name="connsiteY11-180" fmla="*/ 1074866 h 2035410"/>
              <a:gd name="connsiteX12-181" fmla="*/ 15684 w 2306019"/>
              <a:gd name="connsiteY12-182" fmla="*/ 960560 h 2035410"/>
              <a:gd name="connsiteX0-183" fmla="*/ 15684 w 2306019"/>
              <a:gd name="connsiteY0-184" fmla="*/ 960560 h 2035410"/>
              <a:gd name="connsiteX1-185" fmla="*/ 537270 w 2306019"/>
              <a:gd name="connsiteY1-186" fmla="*/ 57161 h 2035410"/>
              <a:gd name="connsiteX2-187" fmla="*/ 636258 w 2306019"/>
              <a:gd name="connsiteY2-188" fmla="*/ 0 h 2035410"/>
              <a:gd name="connsiteX3-189" fmla="*/ 1679418 w 2306019"/>
              <a:gd name="connsiteY3-190" fmla="*/ 0 h 2035410"/>
              <a:gd name="connsiteX4-191" fmla="*/ 1778390 w 2306019"/>
              <a:gd name="connsiteY4-192" fmla="*/ 57145 h 2035410"/>
              <a:gd name="connsiteX5-193" fmla="*/ 2299977 w 2306019"/>
              <a:gd name="connsiteY5-194" fmla="*/ 960544 h 2035410"/>
              <a:gd name="connsiteX6-195" fmla="*/ 2299986 w 2306019"/>
              <a:gd name="connsiteY6-196" fmla="*/ 1074850 h 2035410"/>
              <a:gd name="connsiteX7-197" fmla="*/ 1778399 w 2306019"/>
              <a:gd name="connsiteY7-198" fmla="*/ 1978249 h 2035410"/>
              <a:gd name="connsiteX8-199" fmla="*/ 1679411 w 2306019"/>
              <a:gd name="connsiteY8-200" fmla="*/ 2035410 h 2035410"/>
              <a:gd name="connsiteX9-201" fmla="*/ 636251 w 2306019"/>
              <a:gd name="connsiteY9-202" fmla="*/ 2035410 h 2035410"/>
              <a:gd name="connsiteX10-203" fmla="*/ 537279 w 2306019"/>
              <a:gd name="connsiteY10-204" fmla="*/ 1978265 h 2035410"/>
              <a:gd name="connsiteX11-205" fmla="*/ 15693 w 2306019"/>
              <a:gd name="connsiteY11-206" fmla="*/ 1074866 h 2035410"/>
              <a:gd name="connsiteX12-207" fmla="*/ 15684 w 2306019"/>
              <a:gd name="connsiteY12-208" fmla="*/ 960560 h 2035410"/>
              <a:gd name="connsiteX0-209" fmla="*/ 15684 w 2306019"/>
              <a:gd name="connsiteY0-210" fmla="*/ 960560 h 2035410"/>
              <a:gd name="connsiteX1-211" fmla="*/ 537270 w 2306019"/>
              <a:gd name="connsiteY1-212" fmla="*/ 57161 h 2035410"/>
              <a:gd name="connsiteX2-213" fmla="*/ 636258 w 2306019"/>
              <a:gd name="connsiteY2-214" fmla="*/ 0 h 2035410"/>
              <a:gd name="connsiteX3-215" fmla="*/ 1679418 w 2306019"/>
              <a:gd name="connsiteY3-216" fmla="*/ 0 h 2035410"/>
              <a:gd name="connsiteX4-217" fmla="*/ 1778390 w 2306019"/>
              <a:gd name="connsiteY4-218" fmla="*/ 57145 h 2035410"/>
              <a:gd name="connsiteX5-219" fmla="*/ 2299977 w 2306019"/>
              <a:gd name="connsiteY5-220" fmla="*/ 960544 h 2035410"/>
              <a:gd name="connsiteX6-221" fmla="*/ 2299986 w 2306019"/>
              <a:gd name="connsiteY6-222" fmla="*/ 1074850 h 2035410"/>
              <a:gd name="connsiteX7-223" fmla="*/ 1778399 w 2306019"/>
              <a:gd name="connsiteY7-224" fmla="*/ 1978249 h 2035410"/>
              <a:gd name="connsiteX8-225" fmla="*/ 1679411 w 2306019"/>
              <a:gd name="connsiteY8-226" fmla="*/ 2035410 h 2035410"/>
              <a:gd name="connsiteX9-227" fmla="*/ 636251 w 2306019"/>
              <a:gd name="connsiteY9-228" fmla="*/ 2035410 h 2035410"/>
              <a:gd name="connsiteX10-229" fmla="*/ 537279 w 2306019"/>
              <a:gd name="connsiteY10-230" fmla="*/ 1978265 h 2035410"/>
              <a:gd name="connsiteX11-231" fmla="*/ 15693 w 2306019"/>
              <a:gd name="connsiteY11-232" fmla="*/ 1074866 h 2035410"/>
              <a:gd name="connsiteX12-233" fmla="*/ 15684 w 2306019"/>
              <a:gd name="connsiteY12-234" fmla="*/ 960560 h 2035410"/>
              <a:gd name="connsiteX0-235" fmla="*/ 15684 w 2306016"/>
              <a:gd name="connsiteY0-236" fmla="*/ 960560 h 2035410"/>
              <a:gd name="connsiteX1-237" fmla="*/ 537270 w 2306016"/>
              <a:gd name="connsiteY1-238" fmla="*/ 57161 h 2035410"/>
              <a:gd name="connsiteX2-239" fmla="*/ 636258 w 2306016"/>
              <a:gd name="connsiteY2-240" fmla="*/ 0 h 2035410"/>
              <a:gd name="connsiteX3-241" fmla="*/ 1679418 w 2306016"/>
              <a:gd name="connsiteY3-242" fmla="*/ 0 h 2035410"/>
              <a:gd name="connsiteX4-243" fmla="*/ 1778390 w 2306016"/>
              <a:gd name="connsiteY4-244" fmla="*/ 57145 h 2035410"/>
              <a:gd name="connsiteX5-245" fmla="*/ 2299977 w 2306016"/>
              <a:gd name="connsiteY5-246" fmla="*/ 960544 h 2035410"/>
              <a:gd name="connsiteX6-247" fmla="*/ 2299986 w 2306016"/>
              <a:gd name="connsiteY6-248" fmla="*/ 1074850 h 2035410"/>
              <a:gd name="connsiteX7-249" fmla="*/ 1778399 w 2306016"/>
              <a:gd name="connsiteY7-250" fmla="*/ 1978249 h 2035410"/>
              <a:gd name="connsiteX8-251" fmla="*/ 1679411 w 2306016"/>
              <a:gd name="connsiteY8-252" fmla="*/ 2035410 h 2035410"/>
              <a:gd name="connsiteX9-253" fmla="*/ 636251 w 2306016"/>
              <a:gd name="connsiteY9-254" fmla="*/ 2035410 h 2035410"/>
              <a:gd name="connsiteX10-255" fmla="*/ 537279 w 2306016"/>
              <a:gd name="connsiteY10-256" fmla="*/ 1978265 h 2035410"/>
              <a:gd name="connsiteX11-257" fmla="*/ 15693 w 2306016"/>
              <a:gd name="connsiteY11-258" fmla="*/ 1074866 h 2035410"/>
              <a:gd name="connsiteX12-259" fmla="*/ 15684 w 2306016"/>
              <a:gd name="connsiteY12-260" fmla="*/ 960560 h 2035410"/>
              <a:gd name="connsiteX0-261" fmla="*/ 15684 w 2315670"/>
              <a:gd name="connsiteY0-262" fmla="*/ 960560 h 2035410"/>
              <a:gd name="connsiteX1-263" fmla="*/ 537270 w 2315670"/>
              <a:gd name="connsiteY1-264" fmla="*/ 57161 h 2035410"/>
              <a:gd name="connsiteX2-265" fmla="*/ 636258 w 2315670"/>
              <a:gd name="connsiteY2-266" fmla="*/ 0 h 2035410"/>
              <a:gd name="connsiteX3-267" fmla="*/ 1679418 w 2315670"/>
              <a:gd name="connsiteY3-268" fmla="*/ 0 h 2035410"/>
              <a:gd name="connsiteX4-269" fmla="*/ 1778390 w 2315670"/>
              <a:gd name="connsiteY4-270" fmla="*/ 57145 h 2035410"/>
              <a:gd name="connsiteX5-271" fmla="*/ 2299977 w 2315670"/>
              <a:gd name="connsiteY5-272" fmla="*/ 960544 h 2035410"/>
              <a:gd name="connsiteX6-273" fmla="*/ 2299986 w 2315670"/>
              <a:gd name="connsiteY6-274" fmla="*/ 1074850 h 2035410"/>
              <a:gd name="connsiteX7-275" fmla="*/ 1778399 w 2315670"/>
              <a:gd name="connsiteY7-276" fmla="*/ 1978249 h 2035410"/>
              <a:gd name="connsiteX8-277" fmla="*/ 1679411 w 2315670"/>
              <a:gd name="connsiteY8-278" fmla="*/ 2035410 h 2035410"/>
              <a:gd name="connsiteX9-279" fmla="*/ 636251 w 2315670"/>
              <a:gd name="connsiteY9-280" fmla="*/ 2035410 h 2035410"/>
              <a:gd name="connsiteX10-281" fmla="*/ 537279 w 2315670"/>
              <a:gd name="connsiteY10-282" fmla="*/ 1978265 h 2035410"/>
              <a:gd name="connsiteX11-283" fmla="*/ 15693 w 2315670"/>
              <a:gd name="connsiteY11-284" fmla="*/ 1074866 h 2035410"/>
              <a:gd name="connsiteX12-285" fmla="*/ 15684 w 2315670"/>
              <a:gd name="connsiteY12-286" fmla="*/ 960560 h 2035410"/>
              <a:gd name="connsiteX0-287" fmla="*/ 15684 w 2315670"/>
              <a:gd name="connsiteY0-288" fmla="*/ 960560 h 2035410"/>
              <a:gd name="connsiteX1-289" fmla="*/ 537270 w 2315670"/>
              <a:gd name="connsiteY1-290" fmla="*/ 57161 h 2035410"/>
              <a:gd name="connsiteX2-291" fmla="*/ 636258 w 2315670"/>
              <a:gd name="connsiteY2-292" fmla="*/ 0 h 2035410"/>
              <a:gd name="connsiteX3-293" fmla="*/ 1679418 w 2315670"/>
              <a:gd name="connsiteY3-294" fmla="*/ 0 h 2035410"/>
              <a:gd name="connsiteX4-295" fmla="*/ 1778390 w 2315670"/>
              <a:gd name="connsiteY4-296" fmla="*/ 57145 h 2035410"/>
              <a:gd name="connsiteX5-297" fmla="*/ 2299977 w 2315670"/>
              <a:gd name="connsiteY5-298" fmla="*/ 960544 h 2035410"/>
              <a:gd name="connsiteX6-299" fmla="*/ 2299986 w 2315670"/>
              <a:gd name="connsiteY6-300" fmla="*/ 1074850 h 2035410"/>
              <a:gd name="connsiteX7-301" fmla="*/ 1778399 w 2315670"/>
              <a:gd name="connsiteY7-302" fmla="*/ 1978249 h 2035410"/>
              <a:gd name="connsiteX8-303" fmla="*/ 1679411 w 2315670"/>
              <a:gd name="connsiteY8-304" fmla="*/ 2035410 h 2035410"/>
              <a:gd name="connsiteX9-305" fmla="*/ 636251 w 2315670"/>
              <a:gd name="connsiteY9-306" fmla="*/ 2035410 h 2035410"/>
              <a:gd name="connsiteX10-307" fmla="*/ 537279 w 2315670"/>
              <a:gd name="connsiteY10-308" fmla="*/ 1978265 h 2035410"/>
              <a:gd name="connsiteX11-309" fmla="*/ 15693 w 2315670"/>
              <a:gd name="connsiteY11-310" fmla="*/ 1074866 h 2035410"/>
              <a:gd name="connsiteX12-311" fmla="*/ 15684 w 2315670"/>
              <a:gd name="connsiteY12-312" fmla="*/ 960560 h 2035410"/>
              <a:gd name="connsiteX0-313" fmla="*/ 15684 w 2315670"/>
              <a:gd name="connsiteY0-314" fmla="*/ 960560 h 2035410"/>
              <a:gd name="connsiteX1-315" fmla="*/ 537270 w 2315670"/>
              <a:gd name="connsiteY1-316" fmla="*/ 57161 h 2035410"/>
              <a:gd name="connsiteX2-317" fmla="*/ 636258 w 2315670"/>
              <a:gd name="connsiteY2-318" fmla="*/ 0 h 2035410"/>
              <a:gd name="connsiteX3-319" fmla="*/ 1679418 w 2315670"/>
              <a:gd name="connsiteY3-320" fmla="*/ 0 h 2035410"/>
              <a:gd name="connsiteX4-321" fmla="*/ 1778390 w 2315670"/>
              <a:gd name="connsiteY4-322" fmla="*/ 57145 h 2035410"/>
              <a:gd name="connsiteX5-323" fmla="*/ 2299977 w 2315670"/>
              <a:gd name="connsiteY5-324" fmla="*/ 960544 h 2035410"/>
              <a:gd name="connsiteX6-325" fmla="*/ 2299986 w 2315670"/>
              <a:gd name="connsiteY6-326" fmla="*/ 1074850 h 2035410"/>
              <a:gd name="connsiteX7-327" fmla="*/ 1778399 w 2315670"/>
              <a:gd name="connsiteY7-328" fmla="*/ 1978249 h 2035410"/>
              <a:gd name="connsiteX8-329" fmla="*/ 1679411 w 2315670"/>
              <a:gd name="connsiteY8-330" fmla="*/ 2035410 h 2035410"/>
              <a:gd name="connsiteX9-331" fmla="*/ 636251 w 2315670"/>
              <a:gd name="connsiteY9-332" fmla="*/ 2035410 h 2035410"/>
              <a:gd name="connsiteX10-333" fmla="*/ 537279 w 2315670"/>
              <a:gd name="connsiteY10-334" fmla="*/ 1978265 h 2035410"/>
              <a:gd name="connsiteX11-335" fmla="*/ 15693 w 2315670"/>
              <a:gd name="connsiteY11-336" fmla="*/ 1074866 h 2035410"/>
              <a:gd name="connsiteX12-337" fmla="*/ 15684 w 2315670"/>
              <a:gd name="connsiteY12-338" fmla="*/ 960560 h 2035410"/>
              <a:gd name="connsiteX0-339" fmla="*/ 15684 w 2315670"/>
              <a:gd name="connsiteY0-340" fmla="*/ 960560 h 2035410"/>
              <a:gd name="connsiteX1-341" fmla="*/ 537270 w 2315670"/>
              <a:gd name="connsiteY1-342" fmla="*/ 57161 h 2035410"/>
              <a:gd name="connsiteX2-343" fmla="*/ 636258 w 2315670"/>
              <a:gd name="connsiteY2-344" fmla="*/ 0 h 2035410"/>
              <a:gd name="connsiteX3-345" fmla="*/ 1679418 w 2315670"/>
              <a:gd name="connsiteY3-346" fmla="*/ 0 h 2035410"/>
              <a:gd name="connsiteX4-347" fmla="*/ 1778390 w 2315670"/>
              <a:gd name="connsiteY4-348" fmla="*/ 57145 h 2035410"/>
              <a:gd name="connsiteX5-349" fmla="*/ 2299977 w 2315670"/>
              <a:gd name="connsiteY5-350" fmla="*/ 960544 h 2035410"/>
              <a:gd name="connsiteX6-351" fmla="*/ 2299986 w 2315670"/>
              <a:gd name="connsiteY6-352" fmla="*/ 1074850 h 2035410"/>
              <a:gd name="connsiteX7-353" fmla="*/ 1778399 w 2315670"/>
              <a:gd name="connsiteY7-354" fmla="*/ 1978249 h 2035410"/>
              <a:gd name="connsiteX8-355" fmla="*/ 1679411 w 2315670"/>
              <a:gd name="connsiteY8-356" fmla="*/ 2035410 h 2035410"/>
              <a:gd name="connsiteX9-357" fmla="*/ 636251 w 2315670"/>
              <a:gd name="connsiteY9-358" fmla="*/ 2035410 h 2035410"/>
              <a:gd name="connsiteX10-359" fmla="*/ 537279 w 2315670"/>
              <a:gd name="connsiteY10-360" fmla="*/ 1978265 h 2035410"/>
              <a:gd name="connsiteX11-361" fmla="*/ 15693 w 2315670"/>
              <a:gd name="connsiteY11-362" fmla="*/ 1074866 h 2035410"/>
              <a:gd name="connsiteX12-363" fmla="*/ 15684 w 2315670"/>
              <a:gd name="connsiteY12-364" fmla="*/ 960560 h 2035410"/>
              <a:gd name="connsiteX0-365" fmla="*/ 15684 w 2315670"/>
              <a:gd name="connsiteY0-366" fmla="*/ 960560 h 2035410"/>
              <a:gd name="connsiteX1-367" fmla="*/ 537270 w 2315670"/>
              <a:gd name="connsiteY1-368" fmla="*/ 57161 h 2035410"/>
              <a:gd name="connsiteX2-369" fmla="*/ 636258 w 2315670"/>
              <a:gd name="connsiteY2-370" fmla="*/ 0 h 2035410"/>
              <a:gd name="connsiteX3-371" fmla="*/ 1679418 w 2315670"/>
              <a:gd name="connsiteY3-372" fmla="*/ 0 h 2035410"/>
              <a:gd name="connsiteX4-373" fmla="*/ 1778390 w 2315670"/>
              <a:gd name="connsiteY4-374" fmla="*/ 57145 h 2035410"/>
              <a:gd name="connsiteX5-375" fmla="*/ 2299977 w 2315670"/>
              <a:gd name="connsiteY5-376" fmla="*/ 960544 h 2035410"/>
              <a:gd name="connsiteX6-377" fmla="*/ 2299986 w 2315670"/>
              <a:gd name="connsiteY6-378" fmla="*/ 1074850 h 2035410"/>
              <a:gd name="connsiteX7-379" fmla="*/ 1778399 w 2315670"/>
              <a:gd name="connsiteY7-380" fmla="*/ 1978249 h 2035410"/>
              <a:gd name="connsiteX8-381" fmla="*/ 1679411 w 2315670"/>
              <a:gd name="connsiteY8-382" fmla="*/ 2035410 h 2035410"/>
              <a:gd name="connsiteX9-383" fmla="*/ 636251 w 2315670"/>
              <a:gd name="connsiteY9-384" fmla="*/ 2035410 h 2035410"/>
              <a:gd name="connsiteX10-385" fmla="*/ 537279 w 2315670"/>
              <a:gd name="connsiteY10-386" fmla="*/ 1978265 h 2035410"/>
              <a:gd name="connsiteX11-387" fmla="*/ 15693 w 2315670"/>
              <a:gd name="connsiteY11-388" fmla="*/ 1074866 h 2035410"/>
              <a:gd name="connsiteX12-389" fmla="*/ 15684 w 2315670"/>
              <a:gd name="connsiteY12-390" fmla="*/ 960560 h 2035410"/>
              <a:gd name="connsiteX0-391" fmla="*/ 15684 w 2315670"/>
              <a:gd name="connsiteY0-392" fmla="*/ 960560 h 2035410"/>
              <a:gd name="connsiteX1-393" fmla="*/ 537270 w 2315670"/>
              <a:gd name="connsiteY1-394" fmla="*/ 57161 h 2035410"/>
              <a:gd name="connsiteX2-395" fmla="*/ 636258 w 2315670"/>
              <a:gd name="connsiteY2-396" fmla="*/ 0 h 2035410"/>
              <a:gd name="connsiteX3-397" fmla="*/ 1679418 w 2315670"/>
              <a:gd name="connsiteY3-398" fmla="*/ 0 h 2035410"/>
              <a:gd name="connsiteX4-399" fmla="*/ 1778390 w 2315670"/>
              <a:gd name="connsiteY4-400" fmla="*/ 57145 h 2035410"/>
              <a:gd name="connsiteX5-401" fmla="*/ 2299977 w 2315670"/>
              <a:gd name="connsiteY5-402" fmla="*/ 960544 h 2035410"/>
              <a:gd name="connsiteX6-403" fmla="*/ 2299986 w 2315670"/>
              <a:gd name="connsiteY6-404" fmla="*/ 1074850 h 2035410"/>
              <a:gd name="connsiteX7-405" fmla="*/ 1778399 w 2315670"/>
              <a:gd name="connsiteY7-406" fmla="*/ 1978249 h 2035410"/>
              <a:gd name="connsiteX8-407" fmla="*/ 1679411 w 2315670"/>
              <a:gd name="connsiteY8-408" fmla="*/ 2035410 h 2035410"/>
              <a:gd name="connsiteX9-409" fmla="*/ 636251 w 2315670"/>
              <a:gd name="connsiteY9-410" fmla="*/ 2035410 h 2035410"/>
              <a:gd name="connsiteX10-411" fmla="*/ 537279 w 2315670"/>
              <a:gd name="connsiteY10-412" fmla="*/ 1978265 h 2035410"/>
              <a:gd name="connsiteX11-413" fmla="*/ 15693 w 2315670"/>
              <a:gd name="connsiteY11-414" fmla="*/ 1074866 h 2035410"/>
              <a:gd name="connsiteX12-415" fmla="*/ 15684 w 2315670"/>
              <a:gd name="connsiteY12-416" fmla="*/ 960560 h 2035410"/>
              <a:gd name="connsiteX0-417" fmla="*/ 15684 w 2315670"/>
              <a:gd name="connsiteY0-418" fmla="*/ 960560 h 2035410"/>
              <a:gd name="connsiteX1-419" fmla="*/ 537270 w 2315670"/>
              <a:gd name="connsiteY1-420" fmla="*/ 57161 h 2035410"/>
              <a:gd name="connsiteX2-421" fmla="*/ 636258 w 2315670"/>
              <a:gd name="connsiteY2-422" fmla="*/ 0 h 2035410"/>
              <a:gd name="connsiteX3-423" fmla="*/ 1679418 w 2315670"/>
              <a:gd name="connsiteY3-424" fmla="*/ 0 h 2035410"/>
              <a:gd name="connsiteX4-425" fmla="*/ 1778390 w 2315670"/>
              <a:gd name="connsiteY4-426" fmla="*/ 57145 h 2035410"/>
              <a:gd name="connsiteX5-427" fmla="*/ 2299977 w 2315670"/>
              <a:gd name="connsiteY5-428" fmla="*/ 960544 h 2035410"/>
              <a:gd name="connsiteX6-429" fmla="*/ 2299986 w 2315670"/>
              <a:gd name="connsiteY6-430" fmla="*/ 1074850 h 2035410"/>
              <a:gd name="connsiteX7-431" fmla="*/ 1778399 w 2315670"/>
              <a:gd name="connsiteY7-432" fmla="*/ 1978249 h 2035410"/>
              <a:gd name="connsiteX8-433" fmla="*/ 1679411 w 2315670"/>
              <a:gd name="connsiteY8-434" fmla="*/ 2035410 h 2035410"/>
              <a:gd name="connsiteX9-435" fmla="*/ 636251 w 2315670"/>
              <a:gd name="connsiteY9-436" fmla="*/ 2035410 h 2035410"/>
              <a:gd name="connsiteX10-437" fmla="*/ 537279 w 2315670"/>
              <a:gd name="connsiteY10-438" fmla="*/ 1978265 h 2035410"/>
              <a:gd name="connsiteX11-439" fmla="*/ 15693 w 2315670"/>
              <a:gd name="connsiteY11-440" fmla="*/ 1074866 h 2035410"/>
              <a:gd name="connsiteX12-441" fmla="*/ 15684 w 2315670"/>
              <a:gd name="connsiteY12-442" fmla="*/ 960560 h 2035410"/>
              <a:gd name="connsiteX0-443" fmla="*/ 15684 w 2315670"/>
              <a:gd name="connsiteY0-444" fmla="*/ 960560 h 2035410"/>
              <a:gd name="connsiteX1-445" fmla="*/ 537270 w 2315670"/>
              <a:gd name="connsiteY1-446" fmla="*/ 57161 h 2035410"/>
              <a:gd name="connsiteX2-447" fmla="*/ 636258 w 2315670"/>
              <a:gd name="connsiteY2-448" fmla="*/ 0 h 2035410"/>
              <a:gd name="connsiteX3-449" fmla="*/ 1679418 w 2315670"/>
              <a:gd name="connsiteY3-450" fmla="*/ 0 h 2035410"/>
              <a:gd name="connsiteX4-451" fmla="*/ 1778390 w 2315670"/>
              <a:gd name="connsiteY4-452" fmla="*/ 57145 h 2035410"/>
              <a:gd name="connsiteX5-453" fmla="*/ 2299977 w 2315670"/>
              <a:gd name="connsiteY5-454" fmla="*/ 960544 h 2035410"/>
              <a:gd name="connsiteX6-455" fmla="*/ 2299986 w 2315670"/>
              <a:gd name="connsiteY6-456" fmla="*/ 1074850 h 2035410"/>
              <a:gd name="connsiteX7-457" fmla="*/ 1778399 w 2315670"/>
              <a:gd name="connsiteY7-458" fmla="*/ 1978249 h 2035410"/>
              <a:gd name="connsiteX8-459" fmla="*/ 1679411 w 2315670"/>
              <a:gd name="connsiteY8-460" fmla="*/ 2035410 h 2035410"/>
              <a:gd name="connsiteX9-461" fmla="*/ 636251 w 2315670"/>
              <a:gd name="connsiteY9-462" fmla="*/ 2035410 h 2035410"/>
              <a:gd name="connsiteX10-463" fmla="*/ 537279 w 2315670"/>
              <a:gd name="connsiteY10-464" fmla="*/ 1978265 h 2035410"/>
              <a:gd name="connsiteX11-465" fmla="*/ 15693 w 2315670"/>
              <a:gd name="connsiteY11-466" fmla="*/ 1074866 h 2035410"/>
              <a:gd name="connsiteX12-467" fmla="*/ 15684 w 2315670"/>
              <a:gd name="connsiteY12-468" fmla="*/ 960560 h 2035410"/>
              <a:gd name="connsiteX0-469" fmla="*/ 15684 w 2315670"/>
              <a:gd name="connsiteY0-470" fmla="*/ 960560 h 2035410"/>
              <a:gd name="connsiteX1-471" fmla="*/ 537270 w 2315670"/>
              <a:gd name="connsiteY1-472" fmla="*/ 57161 h 2035410"/>
              <a:gd name="connsiteX2-473" fmla="*/ 636258 w 2315670"/>
              <a:gd name="connsiteY2-474" fmla="*/ 0 h 2035410"/>
              <a:gd name="connsiteX3-475" fmla="*/ 1679418 w 2315670"/>
              <a:gd name="connsiteY3-476" fmla="*/ 0 h 2035410"/>
              <a:gd name="connsiteX4-477" fmla="*/ 1778390 w 2315670"/>
              <a:gd name="connsiteY4-478" fmla="*/ 57145 h 2035410"/>
              <a:gd name="connsiteX5-479" fmla="*/ 2299977 w 2315670"/>
              <a:gd name="connsiteY5-480" fmla="*/ 960544 h 2035410"/>
              <a:gd name="connsiteX6-481" fmla="*/ 2299986 w 2315670"/>
              <a:gd name="connsiteY6-482" fmla="*/ 1074850 h 2035410"/>
              <a:gd name="connsiteX7-483" fmla="*/ 1778399 w 2315670"/>
              <a:gd name="connsiteY7-484" fmla="*/ 1978249 h 2035410"/>
              <a:gd name="connsiteX8-485" fmla="*/ 1679411 w 2315670"/>
              <a:gd name="connsiteY8-486" fmla="*/ 2035410 h 2035410"/>
              <a:gd name="connsiteX9-487" fmla="*/ 636251 w 2315670"/>
              <a:gd name="connsiteY9-488" fmla="*/ 2035410 h 2035410"/>
              <a:gd name="connsiteX10-489" fmla="*/ 537279 w 2315670"/>
              <a:gd name="connsiteY10-490" fmla="*/ 1978265 h 2035410"/>
              <a:gd name="connsiteX11-491" fmla="*/ 15693 w 2315670"/>
              <a:gd name="connsiteY11-492" fmla="*/ 1074866 h 2035410"/>
              <a:gd name="connsiteX12-493" fmla="*/ 15684 w 2315670"/>
              <a:gd name="connsiteY12-494" fmla="*/ 960560 h 2035410"/>
              <a:gd name="connsiteX0-495" fmla="*/ 15684 w 2315670"/>
              <a:gd name="connsiteY0-496" fmla="*/ 960560 h 2035410"/>
              <a:gd name="connsiteX1-497" fmla="*/ 537270 w 2315670"/>
              <a:gd name="connsiteY1-498" fmla="*/ 57161 h 2035410"/>
              <a:gd name="connsiteX2-499" fmla="*/ 636258 w 2315670"/>
              <a:gd name="connsiteY2-500" fmla="*/ 0 h 2035410"/>
              <a:gd name="connsiteX3-501" fmla="*/ 1679418 w 2315670"/>
              <a:gd name="connsiteY3-502" fmla="*/ 0 h 2035410"/>
              <a:gd name="connsiteX4-503" fmla="*/ 1778390 w 2315670"/>
              <a:gd name="connsiteY4-504" fmla="*/ 57145 h 2035410"/>
              <a:gd name="connsiteX5-505" fmla="*/ 2299977 w 2315670"/>
              <a:gd name="connsiteY5-506" fmla="*/ 960544 h 2035410"/>
              <a:gd name="connsiteX6-507" fmla="*/ 2299986 w 2315670"/>
              <a:gd name="connsiteY6-508" fmla="*/ 1074850 h 2035410"/>
              <a:gd name="connsiteX7-509" fmla="*/ 1778399 w 2315670"/>
              <a:gd name="connsiteY7-510" fmla="*/ 1978249 h 2035410"/>
              <a:gd name="connsiteX8-511" fmla="*/ 1679411 w 2315670"/>
              <a:gd name="connsiteY8-512" fmla="*/ 2035410 h 2035410"/>
              <a:gd name="connsiteX9-513" fmla="*/ 636251 w 2315670"/>
              <a:gd name="connsiteY9-514" fmla="*/ 2035410 h 2035410"/>
              <a:gd name="connsiteX10-515" fmla="*/ 537279 w 2315670"/>
              <a:gd name="connsiteY10-516" fmla="*/ 1978265 h 2035410"/>
              <a:gd name="connsiteX11-517" fmla="*/ 15693 w 2315670"/>
              <a:gd name="connsiteY11-518" fmla="*/ 1074866 h 2035410"/>
              <a:gd name="connsiteX12-519" fmla="*/ 15684 w 2315670"/>
              <a:gd name="connsiteY12-520" fmla="*/ 960560 h 2035410"/>
              <a:gd name="connsiteX0-521" fmla="*/ 15684 w 2315670"/>
              <a:gd name="connsiteY0-522" fmla="*/ 960560 h 2035410"/>
              <a:gd name="connsiteX1-523" fmla="*/ 537270 w 2315670"/>
              <a:gd name="connsiteY1-524" fmla="*/ 57161 h 2035410"/>
              <a:gd name="connsiteX2-525" fmla="*/ 636258 w 2315670"/>
              <a:gd name="connsiteY2-526" fmla="*/ 0 h 2035410"/>
              <a:gd name="connsiteX3-527" fmla="*/ 1679418 w 2315670"/>
              <a:gd name="connsiteY3-528" fmla="*/ 0 h 2035410"/>
              <a:gd name="connsiteX4-529" fmla="*/ 1778390 w 2315670"/>
              <a:gd name="connsiteY4-530" fmla="*/ 57145 h 2035410"/>
              <a:gd name="connsiteX5-531" fmla="*/ 2299977 w 2315670"/>
              <a:gd name="connsiteY5-532" fmla="*/ 960544 h 2035410"/>
              <a:gd name="connsiteX6-533" fmla="*/ 2299986 w 2315670"/>
              <a:gd name="connsiteY6-534" fmla="*/ 1074850 h 2035410"/>
              <a:gd name="connsiteX7-535" fmla="*/ 1778399 w 2315670"/>
              <a:gd name="connsiteY7-536" fmla="*/ 1978249 h 2035410"/>
              <a:gd name="connsiteX8-537" fmla="*/ 1679411 w 2315670"/>
              <a:gd name="connsiteY8-538" fmla="*/ 2035410 h 2035410"/>
              <a:gd name="connsiteX9-539" fmla="*/ 636251 w 2315670"/>
              <a:gd name="connsiteY9-540" fmla="*/ 2035410 h 2035410"/>
              <a:gd name="connsiteX10-541" fmla="*/ 537279 w 2315670"/>
              <a:gd name="connsiteY10-542" fmla="*/ 1978265 h 2035410"/>
              <a:gd name="connsiteX11-543" fmla="*/ 15693 w 2315670"/>
              <a:gd name="connsiteY11-544" fmla="*/ 1074866 h 2035410"/>
              <a:gd name="connsiteX12-545" fmla="*/ 15684 w 2315670"/>
              <a:gd name="connsiteY12-546" fmla="*/ 960560 h 2035410"/>
              <a:gd name="connsiteX0-547" fmla="*/ 15684 w 2315670"/>
              <a:gd name="connsiteY0-548" fmla="*/ 960560 h 2035410"/>
              <a:gd name="connsiteX1-549" fmla="*/ 537270 w 2315670"/>
              <a:gd name="connsiteY1-550" fmla="*/ 57161 h 2035410"/>
              <a:gd name="connsiteX2-551" fmla="*/ 636258 w 2315670"/>
              <a:gd name="connsiteY2-552" fmla="*/ 0 h 2035410"/>
              <a:gd name="connsiteX3-553" fmla="*/ 1679418 w 2315670"/>
              <a:gd name="connsiteY3-554" fmla="*/ 0 h 2035410"/>
              <a:gd name="connsiteX4-555" fmla="*/ 1778390 w 2315670"/>
              <a:gd name="connsiteY4-556" fmla="*/ 57145 h 2035410"/>
              <a:gd name="connsiteX5-557" fmla="*/ 2299977 w 2315670"/>
              <a:gd name="connsiteY5-558" fmla="*/ 960544 h 2035410"/>
              <a:gd name="connsiteX6-559" fmla="*/ 2299986 w 2315670"/>
              <a:gd name="connsiteY6-560" fmla="*/ 1074850 h 2035410"/>
              <a:gd name="connsiteX7-561" fmla="*/ 1778399 w 2315670"/>
              <a:gd name="connsiteY7-562" fmla="*/ 1978249 h 2035410"/>
              <a:gd name="connsiteX8-563" fmla="*/ 1679411 w 2315670"/>
              <a:gd name="connsiteY8-564" fmla="*/ 2035410 h 2035410"/>
              <a:gd name="connsiteX9-565" fmla="*/ 636251 w 2315670"/>
              <a:gd name="connsiteY9-566" fmla="*/ 2035410 h 2035410"/>
              <a:gd name="connsiteX10-567" fmla="*/ 537279 w 2315670"/>
              <a:gd name="connsiteY10-568" fmla="*/ 1978265 h 2035410"/>
              <a:gd name="connsiteX11-569" fmla="*/ 15693 w 2315670"/>
              <a:gd name="connsiteY11-570" fmla="*/ 1074866 h 2035410"/>
              <a:gd name="connsiteX12-571" fmla="*/ 15684 w 2315670"/>
              <a:gd name="connsiteY12-572" fmla="*/ 960560 h 203541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2315670" h="2035410">
                <a:moveTo>
                  <a:pt x="15684" y="960560"/>
                </a:moveTo>
                <a:cubicBezTo>
                  <a:pt x="36600" y="924331"/>
                  <a:pt x="516354" y="93390"/>
                  <a:pt x="537270" y="57161"/>
                </a:cubicBezTo>
                <a:cubicBezTo>
                  <a:pt x="558188" y="20932"/>
                  <a:pt x="594425" y="0"/>
                  <a:pt x="636258" y="0"/>
                </a:cubicBezTo>
                <a:cubicBezTo>
                  <a:pt x="678092" y="0"/>
                  <a:pt x="1637585" y="0"/>
                  <a:pt x="1679418" y="0"/>
                </a:cubicBezTo>
                <a:cubicBezTo>
                  <a:pt x="1721252" y="0"/>
                  <a:pt x="1757474" y="20916"/>
                  <a:pt x="1778390" y="57145"/>
                </a:cubicBezTo>
                <a:cubicBezTo>
                  <a:pt x="1799308" y="93374"/>
                  <a:pt x="2279060" y="924315"/>
                  <a:pt x="2299977" y="960544"/>
                </a:cubicBezTo>
                <a:cubicBezTo>
                  <a:pt x="2320895" y="996772"/>
                  <a:pt x="2320904" y="1038621"/>
                  <a:pt x="2299986" y="1074850"/>
                </a:cubicBezTo>
                <a:cubicBezTo>
                  <a:pt x="2279070" y="1111079"/>
                  <a:pt x="1799318" y="1942020"/>
                  <a:pt x="1778399" y="1978249"/>
                </a:cubicBezTo>
                <a:cubicBezTo>
                  <a:pt x="1757483" y="2014478"/>
                  <a:pt x="1721246" y="2035410"/>
                  <a:pt x="1679411" y="2035410"/>
                </a:cubicBezTo>
                <a:cubicBezTo>
                  <a:pt x="1637579" y="2035410"/>
                  <a:pt x="678086" y="2035410"/>
                  <a:pt x="636251" y="2035410"/>
                </a:cubicBezTo>
                <a:cubicBezTo>
                  <a:pt x="594419" y="2035410"/>
                  <a:pt x="558197" y="2014494"/>
                  <a:pt x="537279" y="1978265"/>
                </a:cubicBezTo>
                <a:cubicBezTo>
                  <a:pt x="516363" y="1942036"/>
                  <a:pt x="36610" y="1111095"/>
                  <a:pt x="15693" y="1074866"/>
                </a:cubicBezTo>
                <a:cubicBezTo>
                  <a:pt x="-5223" y="1038637"/>
                  <a:pt x="-5234" y="996789"/>
                  <a:pt x="15684" y="960560"/>
                </a:cubicBezTo>
                <a:close/>
              </a:path>
            </a:pathLst>
          </a:custGeom>
          <a:ln>
            <a:solidFill>
              <a:schemeClr val="accent1"/>
            </a:solidFill>
          </a:ln>
        </p:spPr>
        <p:style>
          <a:lnRef idx="2">
            <a:schemeClr val="accent1"/>
          </a:lnRef>
          <a:fillRef idx="0">
            <a:srgbClr val="FFFFFF"/>
          </a:fillRef>
          <a:effectRef idx="0">
            <a:srgbClr val="FFFFFF"/>
          </a:effectRef>
          <a:fontRef idx="minor">
            <a:schemeClr val="tx1"/>
          </a:fontRef>
        </p:style>
        <p:txBody>
          <a:bodyPr wrap="square" lIns="697184" tIns="695691" rIns="697184" bIns="695691" anchor="ctr" anchorCtr="1">
            <a:noAutofit/>
          </a:bodyPr>
          <a:p>
            <a:pPr marL="0" algn="ctr" rtl="0" eaLnBrk="1" hangingPunct="1">
              <a:lnSpc>
                <a:spcPct val="100000"/>
              </a:lnSpc>
              <a:spcBef>
                <a:spcPts val="0"/>
              </a:spcBef>
              <a:spcAft>
                <a:spcPts val="0"/>
              </a:spcAft>
            </a:pPr>
            <a:r>
              <a:rPr lang="en-US">
                <a:gradFill>
                  <a:gsLst>
                    <a:gs pos="50000">
                      <a:schemeClr val="tx1"/>
                    </a:gs>
                    <a:gs pos="0">
                      <a:schemeClr val="tx1">
                        <a:lumMod val="25000"/>
                        <a:lumOff val="75000"/>
                      </a:schemeClr>
                    </a:gs>
                    <a:gs pos="100000">
                      <a:schemeClr val="tx1">
                        <a:lumMod val="85000"/>
                      </a:schemeClr>
                    </a:gs>
                  </a:gsLst>
                  <a:lin ang="5400000" scaled="1"/>
                </a:gradFill>
                <a:latin typeface="Times New Roman" panose="02020603050405020304" charset="0"/>
                <a:cs typeface="Times New Roman" panose="02020603050405020304" charset="0"/>
                <a:sym typeface="+mn-ea"/>
              </a:rPr>
              <a:t>Business Questions</a:t>
            </a:r>
            <a:endParaRPr lang="en-US" b="1" kern="1200" dirty="0">
              <a:gradFill>
                <a:gsLst>
                  <a:gs pos="50000">
                    <a:schemeClr val="tx1"/>
                  </a:gs>
                  <a:gs pos="0">
                    <a:schemeClr val="tx1">
                      <a:lumMod val="25000"/>
                      <a:lumOff val="75000"/>
                    </a:schemeClr>
                  </a:gs>
                  <a:gs pos="100000">
                    <a:schemeClr val="tx1">
                      <a:lumMod val="85000"/>
                    </a:schemeClr>
                  </a:gs>
                </a:gsLst>
                <a:lin ang="5400000" scaled="1"/>
              </a:gradFill>
              <a:effectLst/>
              <a:latin typeface="Times New Roman" panose="02020603050405020304" charset="0"/>
              <a:cs typeface="Times New Roman" panose="02020603050405020304" charset="0"/>
              <a:sym typeface="+mn-ea"/>
            </a:endParaRPr>
          </a:p>
        </p:txBody>
      </p:sp>
    </p:spTree>
    <p:custDataLst>
      <p:tags r:id="rId16"/>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Placeholder 4"/>
          <p:cNvSpPr>
            <a:spLocks noGrp="1"/>
          </p:cNvSpPr>
          <p:nvPr>
            <p:ph type="body" sz="half" idx="2"/>
            <p:custDataLst>
              <p:tags r:id="rId1"/>
            </p:custDataLst>
          </p:nvPr>
        </p:nvSpPr>
        <p:spPr>
          <a:xfrm>
            <a:off x="686435" y="1010920"/>
            <a:ext cx="6315075" cy="4951095"/>
          </a:xfrm>
        </p:spPr>
        <p:txBody>
          <a:bodyPr>
            <a:noAutofit/>
          </a:bodyPr>
          <a:p>
            <a:pPr marL="0" indent="0" algn="l"/>
            <a:r>
              <a:rPr lang="en-US" altLang="en-US" sz="1650">
                <a:solidFill>
                  <a:schemeClr val="tx1"/>
                </a:solidFill>
                <a:latin typeface="Times New Roman" panose="02020603050405020304" charset="0"/>
                <a:cs typeface="Times New Roman" panose="02020603050405020304" charset="0"/>
              </a:rPr>
              <a:t>Before beginning the analysis, the dataset was explored to understand its structure, data types, and overall quality.</a:t>
            </a:r>
            <a:endParaRPr lang="en-US" altLang="en-US" sz="1650">
              <a:solidFill>
                <a:schemeClr val="tx1"/>
              </a:solidFill>
              <a:latin typeface="Times New Roman" panose="02020603050405020304" charset="0"/>
              <a:cs typeface="Times New Roman" panose="02020603050405020304" charset="0"/>
            </a:endParaRPr>
          </a:p>
          <a:p>
            <a:pPr marL="0" indent="0" algn="l"/>
            <a:endParaRPr lang="en-US" altLang="en-US" sz="1650">
              <a:solidFill>
                <a:schemeClr val="tx1"/>
              </a:solidFill>
              <a:latin typeface="Times New Roman" panose="02020603050405020304" charset="0"/>
              <a:cs typeface="Times New Roman" panose="02020603050405020304" charset="0"/>
            </a:endParaRPr>
          </a:p>
          <a:p>
            <a:pPr marL="0" indent="0" algn="l"/>
            <a:r>
              <a:rPr lang="en-US" altLang="en-US" sz="1650">
                <a:solidFill>
                  <a:schemeClr val="tx1"/>
                </a:solidFill>
                <a:latin typeface="Times New Roman" panose="02020603050405020304" charset="0"/>
                <a:cs typeface="Times New Roman" panose="02020603050405020304" charset="0"/>
              </a:rPr>
              <a:t>The preparation process included:</a:t>
            </a:r>
            <a:endParaRPr lang="en-US" altLang="en-US" sz="1650">
              <a:solidFill>
                <a:schemeClr val="tx1"/>
              </a:solidFill>
              <a:latin typeface="Times New Roman" panose="02020603050405020304" charset="0"/>
              <a:cs typeface="Times New Roman" panose="02020603050405020304" charset="0"/>
            </a:endParaRPr>
          </a:p>
          <a:p>
            <a:pPr marL="0" indent="0" algn="l"/>
            <a:r>
              <a:rPr lang="en-US" altLang="en-US" sz="1650">
                <a:solidFill>
                  <a:schemeClr val="tx1"/>
                </a:solidFill>
                <a:latin typeface="Times New Roman" panose="02020603050405020304" charset="0"/>
                <a:cs typeface="Times New Roman" panose="02020603050405020304" charset="0"/>
              </a:rPr>
              <a:t>1. Reviewing all variables and their business meaning</a:t>
            </a:r>
            <a:endParaRPr lang="en-US" altLang="en-US" sz="1650">
              <a:solidFill>
                <a:schemeClr val="tx1"/>
              </a:solidFill>
              <a:latin typeface="Times New Roman" panose="02020603050405020304" charset="0"/>
              <a:cs typeface="Times New Roman" panose="02020603050405020304" charset="0"/>
            </a:endParaRPr>
          </a:p>
          <a:p>
            <a:pPr marL="0" indent="0" algn="l"/>
            <a:r>
              <a:rPr lang="en-US" altLang="en-US" sz="1650">
                <a:solidFill>
                  <a:schemeClr val="tx1"/>
                </a:solidFill>
                <a:latin typeface="Times New Roman" panose="02020603050405020304" charset="0"/>
                <a:cs typeface="Times New Roman" panose="02020603050405020304" charset="0"/>
              </a:rPr>
              <a:t>2. Identifying missing values and inconsistencies</a:t>
            </a:r>
            <a:endParaRPr lang="en-US" altLang="en-US" sz="1650">
              <a:solidFill>
                <a:schemeClr val="tx1"/>
              </a:solidFill>
              <a:latin typeface="Times New Roman" panose="02020603050405020304" charset="0"/>
              <a:cs typeface="Times New Roman" panose="02020603050405020304" charset="0"/>
            </a:endParaRPr>
          </a:p>
          <a:p>
            <a:pPr marL="0" indent="0" algn="l"/>
            <a:r>
              <a:rPr lang="en-US" altLang="en-US" sz="1650">
                <a:solidFill>
                  <a:schemeClr val="tx1"/>
                </a:solidFill>
                <a:latin typeface="Times New Roman" panose="02020603050405020304" charset="0"/>
                <a:cs typeface="Times New Roman" panose="02020603050405020304" charset="0"/>
              </a:rPr>
              <a:t>3. Cleaning and standardizing the dataset</a:t>
            </a:r>
            <a:endParaRPr lang="en-US" altLang="en-US" sz="1650">
              <a:solidFill>
                <a:schemeClr val="tx1"/>
              </a:solidFill>
              <a:latin typeface="Times New Roman" panose="02020603050405020304" charset="0"/>
              <a:cs typeface="Times New Roman" panose="02020603050405020304" charset="0"/>
            </a:endParaRPr>
          </a:p>
          <a:p>
            <a:pPr marL="0" indent="0" algn="l"/>
            <a:r>
              <a:rPr lang="en-US" altLang="en-US" sz="1650">
                <a:solidFill>
                  <a:schemeClr val="tx1"/>
                </a:solidFill>
                <a:latin typeface="Times New Roman" panose="02020603050405020304" charset="0"/>
                <a:cs typeface="Times New Roman" panose="02020603050405020304" charset="0"/>
              </a:rPr>
              <a:t>4. Preparing the data for SQL analysis and Power BI visualization</a:t>
            </a:r>
            <a:endParaRPr lang="en-US" altLang="en-US" sz="1650">
              <a:solidFill>
                <a:schemeClr val="tx1"/>
              </a:solidFill>
              <a:latin typeface="Times New Roman" panose="02020603050405020304" charset="0"/>
              <a:cs typeface="Times New Roman" panose="02020603050405020304" charset="0"/>
            </a:endParaRPr>
          </a:p>
          <a:p>
            <a:pPr marL="0" indent="0" algn="l"/>
            <a:endParaRPr lang="en-US" altLang="en-US" sz="1650">
              <a:solidFill>
                <a:schemeClr val="tx1"/>
              </a:solidFill>
              <a:latin typeface="Times New Roman" panose="02020603050405020304" charset="0"/>
              <a:cs typeface="Times New Roman" panose="02020603050405020304" charset="0"/>
            </a:endParaRPr>
          </a:p>
          <a:p>
            <a:pPr marL="0" indent="0" algn="l"/>
            <a:r>
              <a:rPr lang="en-US" altLang="en-US" sz="1650">
                <a:solidFill>
                  <a:schemeClr val="tx1"/>
                </a:solidFill>
                <a:latin typeface="Times New Roman" panose="02020603050405020304" charset="0"/>
                <a:cs typeface="Times New Roman" panose="02020603050405020304" charset="0"/>
              </a:rPr>
              <a:t>This ensured the analysis was based on reliable and consistent data.</a:t>
            </a:r>
            <a:endParaRPr lang="en-US" altLang="en-US" sz="1650">
              <a:solidFill>
                <a:schemeClr val="tx1"/>
              </a:solidFill>
              <a:latin typeface="Times New Roman" panose="02020603050405020304" charset="0"/>
              <a:cs typeface="Times New Roman" panose="02020603050405020304" charset="0"/>
            </a:endParaRPr>
          </a:p>
        </p:txBody>
      </p:sp>
      <p:cxnSp>
        <p:nvCxnSpPr>
          <p:cNvPr id="7" name="Straight Connector 6"/>
          <p:cNvCxnSpPr/>
          <p:nvPr/>
        </p:nvCxnSpPr>
        <p:spPr>
          <a:xfrm>
            <a:off x="7150100" y="0"/>
            <a:ext cx="0" cy="6972935"/>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1" name="Straight Connector 10"/>
          <p:cNvCxnSpPr/>
          <p:nvPr/>
        </p:nvCxnSpPr>
        <p:spPr>
          <a:xfrm>
            <a:off x="7158990" y="685800"/>
            <a:ext cx="4792345" cy="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 name="Straight Connector 11"/>
          <p:cNvCxnSpPr/>
          <p:nvPr/>
        </p:nvCxnSpPr>
        <p:spPr>
          <a:xfrm>
            <a:off x="7158990" y="1952625"/>
            <a:ext cx="4806950" cy="0"/>
          </a:xfrm>
          <a:prstGeom prst="line">
            <a:avLst/>
          </a:prstGeom>
          <a:ln w="12700" cap="flat" cmpd="sng" algn="ctr">
            <a:solidFill>
              <a:schemeClr val="accent1"/>
            </a:solidFill>
            <a:prstDash val="dash"/>
            <a:miter lim="800000"/>
          </a:ln>
        </p:spPr>
        <p:style>
          <a:lnRef idx="0">
            <a:schemeClr val="accent1"/>
          </a:lnRef>
          <a:fillRef idx="0">
            <a:srgbClr val="FFFFFF"/>
          </a:fillRef>
          <a:effectRef idx="0">
            <a:srgbClr val="FFFFFF"/>
          </a:effectRef>
          <a:fontRef idx="minor">
            <a:schemeClr val="tx1"/>
          </a:fontRef>
        </p:style>
      </p:cxnSp>
      <p:sp>
        <p:nvSpPr>
          <p:cNvPr id="14" name="Text Placeholder 4"/>
          <p:cNvSpPr>
            <a:spLocks noGrp="1"/>
          </p:cNvSpPr>
          <p:nvPr>
            <p:custDataLst>
              <p:tags r:id="rId2"/>
            </p:custDataLst>
          </p:nvPr>
        </p:nvSpPr>
        <p:spPr>
          <a:xfrm>
            <a:off x="7309485" y="728980"/>
            <a:ext cx="4501515" cy="1175385"/>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lnSpc>
                <a:spcPct val="100000"/>
              </a:lnSpc>
              <a:spcAft>
                <a:spcPts val="0"/>
              </a:spcAft>
            </a:pPr>
            <a:r>
              <a:rPr lang="en-US" sz="3600" b="1">
                <a:solidFill>
                  <a:schemeClr val="accent1"/>
                </a:solidFill>
                <a:latin typeface="Times New Roman" panose="02020603050405020304" charset="0"/>
                <a:cs typeface="Times New Roman" panose="02020603050405020304" charset="0"/>
              </a:rPr>
              <a:t>Data Understanding and Preparation</a:t>
            </a:r>
            <a:endParaRPr lang="en-US" sz="3600" b="1">
              <a:solidFill>
                <a:schemeClr val="accent1"/>
              </a:solidFill>
              <a:latin typeface="Times New Roman" panose="02020603050405020304" charset="0"/>
              <a:cs typeface="Times New Roman" panose="02020603050405020304" charset="0"/>
            </a:endParaRPr>
          </a:p>
        </p:txBody>
      </p:sp>
      <p:sp>
        <p:nvSpPr>
          <p:cNvPr id="15" name="Text Box 14"/>
          <p:cNvSpPr txBox="1"/>
          <p:nvPr/>
        </p:nvSpPr>
        <p:spPr>
          <a:xfrm>
            <a:off x="8194040" y="2253615"/>
            <a:ext cx="2862580" cy="3708400"/>
          </a:xfrm>
          <a:prstGeom prst="rect">
            <a:avLst/>
          </a:prstGeom>
          <a:noFill/>
        </p:spPr>
        <p:txBody>
          <a:bodyPr wrap="square" rtlCol="0" anchor="t">
            <a:noAutofit/>
          </a:bodyPr>
          <a:p>
            <a:pPr indent="0" algn="ctr" fontAlgn="auto"/>
            <a:r>
              <a:rPr lang="en-US" altLang="en-US"/>
              <a:t>Raw Dataset</a:t>
            </a:r>
            <a:endParaRPr lang="en-US" altLang="en-US"/>
          </a:p>
          <a:p>
            <a:pPr indent="0" algn="ctr" fontAlgn="auto"/>
            <a:r>
              <a:rPr lang="en-US" altLang="en-US"/>
              <a:t>     ↓</a:t>
            </a:r>
            <a:endParaRPr lang="en-US" altLang="en-US"/>
          </a:p>
          <a:p>
            <a:pPr indent="0" algn="ctr" fontAlgn="auto"/>
            <a:r>
              <a:rPr lang="en-US" altLang="en-US"/>
              <a:t>Data Cleaning</a:t>
            </a:r>
            <a:endParaRPr lang="en-US" altLang="en-US"/>
          </a:p>
          <a:p>
            <a:pPr indent="0" algn="ctr" fontAlgn="auto"/>
            <a:r>
              <a:rPr lang="en-US" altLang="en-US"/>
              <a:t>     ↓</a:t>
            </a:r>
            <a:endParaRPr lang="en-US" altLang="en-US"/>
          </a:p>
          <a:p>
            <a:pPr indent="0" algn="ctr" fontAlgn="auto"/>
            <a:r>
              <a:rPr lang="en-US" altLang="en-US"/>
              <a:t>Exploratory Analysis</a:t>
            </a:r>
            <a:endParaRPr lang="en-US" altLang="en-US"/>
          </a:p>
          <a:p>
            <a:pPr indent="0" algn="ctr" fontAlgn="auto"/>
            <a:r>
              <a:rPr lang="en-US" altLang="en-US"/>
              <a:t>     ↓</a:t>
            </a:r>
            <a:endParaRPr lang="en-US" altLang="en-US"/>
          </a:p>
          <a:p>
            <a:pPr indent="0" algn="ctr" fontAlgn="auto"/>
            <a:r>
              <a:rPr lang="en-US" altLang="en-US"/>
              <a:t>SQL Analysis</a:t>
            </a:r>
            <a:endParaRPr lang="en-US" altLang="en-US"/>
          </a:p>
          <a:p>
            <a:pPr indent="0" algn="ctr" fontAlgn="auto"/>
            <a:r>
              <a:rPr lang="en-US" altLang="en-US"/>
              <a:t>     ↓</a:t>
            </a:r>
            <a:endParaRPr lang="en-US" altLang="en-US"/>
          </a:p>
          <a:p>
            <a:pPr indent="0" algn="ctr" fontAlgn="auto"/>
            <a:r>
              <a:rPr lang="en-US" altLang="en-US"/>
              <a:t>Power BI Dashboard</a:t>
            </a:r>
            <a:endParaRPr lang="en-US" altLang="en-US"/>
          </a:p>
          <a:p>
            <a:pPr indent="0" algn="ctr" fontAlgn="auto"/>
            <a:r>
              <a:rPr lang="en-US" altLang="en-US"/>
              <a:t>     ↓</a:t>
            </a:r>
            <a:endParaRPr lang="en-US" altLang="en-US"/>
          </a:p>
          <a:p>
            <a:pPr indent="0" algn="ctr" fontAlgn="auto"/>
            <a:r>
              <a:rPr lang="en-US" altLang="en-US"/>
              <a:t>Business Insights</a:t>
            </a:r>
            <a:endParaRPr lang="en-US" altLang="en-US"/>
          </a:p>
          <a:p>
            <a:pPr indent="0" algn="ctr" fontAlgn="auto"/>
            <a:r>
              <a:rPr lang="en-US" altLang="en-US"/>
              <a:t>     ↓</a:t>
            </a:r>
            <a:endParaRPr lang="en-US" altLang="en-US"/>
          </a:p>
          <a:p>
            <a:pPr indent="0" algn="ctr" fontAlgn="auto"/>
            <a:r>
              <a:rPr lang="en-US" altLang="en-US"/>
              <a:t>Recommendations</a:t>
            </a:r>
            <a:endParaRPr lang="en-US" altLang="en-US"/>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 name="任意多边形: 形状 53"/>
          <p:cNvSpPr/>
          <p:nvPr>
            <p:custDataLst>
              <p:tags r:id="rId1"/>
            </p:custDataLst>
          </p:nvPr>
        </p:nvSpPr>
        <p:spPr>
          <a:xfrm>
            <a:off x="4819139" y="2784942"/>
            <a:ext cx="735640" cy="570710"/>
          </a:xfrm>
          <a:custGeom>
            <a:avLst/>
            <a:gdLst>
              <a:gd name="connsiteX0" fmla="*/ 0 w 1047166"/>
              <a:gd name="connsiteY0" fmla="*/ 1045294 h 1132236"/>
              <a:gd name="connsiteX1" fmla="*/ 0 w 1047166"/>
              <a:gd name="connsiteY1" fmla="*/ 1045295 h 1132236"/>
              <a:gd name="connsiteX2" fmla="*/ 0 w 1047166"/>
              <a:gd name="connsiteY2" fmla="*/ 1045295 h 1132236"/>
              <a:gd name="connsiteX3" fmla="*/ 1045295 w 1047166"/>
              <a:gd name="connsiteY3" fmla="*/ 0 h 1132236"/>
              <a:gd name="connsiteX4" fmla="*/ 1047166 w 1047166"/>
              <a:gd name="connsiteY4" fmla="*/ 0 h 1132236"/>
              <a:gd name="connsiteX5" fmla="*/ 1047166 w 1047166"/>
              <a:gd name="connsiteY5" fmla="*/ 1132236 h 1132236"/>
              <a:gd name="connsiteX6" fmla="*/ 4390 w 1047166"/>
              <a:gd name="connsiteY6" fmla="*/ 1132236 h 1132236"/>
              <a:gd name="connsiteX7" fmla="*/ 0 w 1047166"/>
              <a:gd name="connsiteY7" fmla="*/ 1045295 h 1132236"/>
              <a:gd name="connsiteX8" fmla="*/ 5397 w 1047166"/>
              <a:gd name="connsiteY8" fmla="*/ 938420 h 1132236"/>
              <a:gd name="connsiteX9" fmla="*/ 1045295 w 1047166"/>
              <a:gd name="connsiteY9" fmla="*/ 0 h 113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166" h="1132236">
                <a:moveTo>
                  <a:pt x="0" y="1045294"/>
                </a:moveTo>
                <a:lnTo>
                  <a:pt x="0" y="1045295"/>
                </a:lnTo>
                <a:lnTo>
                  <a:pt x="0" y="1045295"/>
                </a:lnTo>
                <a:close/>
                <a:moveTo>
                  <a:pt x="1045295" y="0"/>
                </a:moveTo>
                <a:lnTo>
                  <a:pt x="1047166" y="0"/>
                </a:lnTo>
                <a:lnTo>
                  <a:pt x="1047166" y="1132236"/>
                </a:lnTo>
                <a:lnTo>
                  <a:pt x="4390" y="1132236"/>
                </a:lnTo>
                <a:lnTo>
                  <a:pt x="0" y="1045295"/>
                </a:lnTo>
                <a:lnTo>
                  <a:pt x="5397" y="938420"/>
                </a:lnTo>
                <a:cubicBezTo>
                  <a:pt x="58927" y="411324"/>
                  <a:pt x="504076" y="0"/>
                  <a:pt x="1045295"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none" lIns="144000" tIns="324000" rIns="0" bIns="47486" rtlCol="0" anchor="ctr">
            <a:noAutofit/>
          </a:bodyPr>
          <a:p>
            <a:pPr algn="ctr"/>
            <a:r>
              <a:rPr lang="en-US" b="1" dirty="0">
                <a:solidFill>
                  <a:schemeClr val="bg1"/>
                </a:solidFill>
                <a:latin typeface="Times New Roman" panose="02020603050405020304" charset="0"/>
                <a:cs typeface="Times New Roman" panose="02020603050405020304" charset="0"/>
              </a:rPr>
              <a:t>01</a:t>
            </a:r>
            <a:endParaRPr lang="en-US" b="1" dirty="0">
              <a:solidFill>
                <a:schemeClr val="bg1"/>
              </a:solidFill>
              <a:latin typeface="Times New Roman" panose="02020603050405020304" charset="0"/>
              <a:cs typeface="Times New Roman" panose="02020603050405020304" charset="0"/>
            </a:endParaRPr>
          </a:p>
        </p:txBody>
      </p:sp>
      <p:sp>
        <p:nvSpPr>
          <p:cNvPr id="57" name="任意多边形: 形状 56"/>
          <p:cNvSpPr/>
          <p:nvPr>
            <p:custDataLst>
              <p:tags r:id="rId2"/>
            </p:custDataLst>
          </p:nvPr>
        </p:nvSpPr>
        <p:spPr>
          <a:xfrm>
            <a:off x="1286510" y="2383997"/>
            <a:ext cx="4301924" cy="981726"/>
          </a:xfrm>
          <a:custGeom>
            <a:avLst/>
            <a:gdLst>
              <a:gd name="connsiteX0" fmla="*/ 133648 w 5197663"/>
              <a:gd name="connsiteY0" fmla="*/ 54697 h 1529474"/>
              <a:gd name="connsiteX1" fmla="*/ 59477 w 5197663"/>
              <a:gd name="connsiteY1" fmla="*/ 128868 h 1529474"/>
              <a:gd name="connsiteX2" fmla="*/ 59477 w 5197663"/>
              <a:gd name="connsiteY2" fmla="*/ 1400606 h 1529474"/>
              <a:gd name="connsiteX3" fmla="*/ 133648 w 5197663"/>
              <a:gd name="connsiteY3" fmla="*/ 1474777 h 1529474"/>
              <a:gd name="connsiteX4" fmla="*/ 5064014 w 5197663"/>
              <a:gd name="connsiteY4" fmla="*/ 1474777 h 1529474"/>
              <a:gd name="connsiteX5" fmla="*/ 5138185 w 5197663"/>
              <a:gd name="connsiteY5" fmla="*/ 1400606 h 1529474"/>
              <a:gd name="connsiteX6" fmla="*/ 5138185 w 5197663"/>
              <a:gd name="connsiteY6" fmla="*/ 128868 h 1529474"/>
              <a:gd name="connsiteX7" fmla="*/ 5064014 w 5197663"/>
              <a:gd name="connsiteY7" fmla="*/ 54697 h 1529474"/>
              <a:gd name="connsiteX8" fmla="*/ 81720 w 5197663"/>
              <a:gd name="connsiteY8" fmla="*/ 0 h 1529474"/>
              <a:gd name="connsiteX9" fmla="*/ 5115943 w 5197663"/>
              <a:gd name="connsiteY9" fmla="*/ 0 h 1529474"/>
              <a:gd name="connsiteX10" fmla="*/ 5197663 w 5197663"/>
              <a:gd name="connsiteY10" fmla="*/ 81720 h 1529474"/>
              <a:gd name="connsiteX11" fmla="*/ 5197663 w 5197663"/>
              <a:gd name="connsiteY11" fmla="*/ 1447754 h 1529474"/>
              <a:gd name="connsiteX12" fmla="*/ 5115943 w 5197663"/>
              <a:gd name="connsiteY12" fmla="*/ 1529474 h 1529474"/>
              <a:gd name="connsiteX13" fmla="*/ 81720 w 5197663"/>
              <a:gd name="connsiteY13" fmla="*/ 1529474 h 1529474"/>
              <a:gd name="connsiteX14" fmla="*/ 0 w 5197663"/>
              <a:gd name="connsiteY14" fmla="*/ 1447754 h 1529474"/>
              <a:gd name="connsiteX15" fmla="*/ 0 w 5197663"/>
              <a:gd name="connsiteY15" fmla="*/ 81720 h 1529474"/>
              <a:gd name="connsiteX16" fmla="*/ 81720 w 5197663"/>
              <a:gd name="connsiteY16" fmla="*/ 0 h 152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97663" h="1529474">
                <a:moveTo>
                  <a:pt x="133648" y="54697"/>
                </a:moveTo>
                <a:cubicBezTo>
                  <a:pt x="92684" y="54697"/>
                  <a:pt x="59477" y="87904"/>
                  <a:pt x="59477" y="128868"/>
                </a:cubicBezTo>
                <a:lnTo>
                  <a:pt x="59477" y="1400606"/>
                </a:lnTo>
                <a:cubicBezTo>
                  <a:pt x="59477" y="1441570"/>
                  <a:pt x="92684" y="1474777"/>
                  <a:pt x="133648" y="1474777"/>
                </a:cubicBezTo>
                <a:lnTo>
                  <a:pt x="5064014" y="1474777"/>
                </a:lnTo>
                <a:cubicBezTo>
                  <a:pt x="5104978" y="1474777"/>
                  <a:pt x="5138185" y="1441570"/>
                  <a:pt x="5138185" y="1400606"/>
                </a:cubicBezTo>
                <a:lnTo>
                  <a:pt x="5138185" y="128868"/>
                </a:lnTo>
                <a:cubicBezTo>
                  <a:pt x="5138185" y="87904"/>
                  <a:pt x="5104978" y="54697"/>
                  <a:pt x="5064014" y="54697"/>
                </a:cubicBezTo>
                <a:close/>
                <a:moveTo>
                  <a:pt x="81720" y="0"/>
                </a:moveTo>
                <a:lnTo>
                  <a:pt x="5115943" y="0"/>
                </a:lnTo>
                <a:cubicBezTo>
                  <a:pt x="5161076" y="0"/>
                  <a:pt x="5197663" y="36587"/>
                  <a:pt x="5197663" y="81720"/>
                </a:cubicBezTo>
                <a:lnTo>
                  <a:pt x="5197663" y="1447754"/>
                </a:lnTo>
                <a:cubicBezTo>
                  <a:pt x="5197663" y="1492887"/>
                  <a:pt x="5161076" y="1529474"/>
                  <a:pt x="5115943" y="1529474"/>
                </a:cubicBezTo>
                <a:lnTo>
                  <a:pt x="81720" y="1529474"/>
                </a:lnTo>
                <a:cubicBezTo>
                  <a:pt x="36587" y="1529474"/>
                  <a:pt x="0" y="1492887"/>
                  <a:pt x="0" y="1447754"/>
                </a:cubicBezTo>
                <a:lnTo>
                  <a:pt x="0" y="81720"/>
                </a:lnTo>
                <a:cubicBezTo>
                  <a:pt x="0" y="36587"/>
                  <a:pt x="36587" y="0"/>
                  <a:pt x="81720"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square" lIns="322371" tIns="177358" rIns="1253264" bIns="177357" rtlCol="0" anchor="ctr">
            <a:normAutofit/>
          </a:bodyPr>
          <a:p>
            <a:pPr>
              <a:lnSpc>
                <a:spcPct val="150000"/>
              </a:lnSpc>
            </a:pPr>
            <a:r>
              <a:rPr lang="en-US" altLang="en-US" sz="2445" dirty="0">
                <a:solidFill>
                  <a:schemeClr val="tx1"/>
                </a:solidFill>
                <a:latin typeface="Times New Roman" panose="02020603050405020304" charset="0"/>
                <a:cs typeface="Times New Roman" panose="02020603050405020304" charset="0"/>
              </a:rPr>
              <a:t>Sales performance</a:t>
            </a:r>
            <a:endParaRPr lang="en-US" altLang="en-US" sz="2445" dirty="0">
              <a:solidFill>
                <a:schemeClr val="tx1"/>
              </a:solidFill>
              <a:latin typeface="Times New Roman" panose="02020603050405020304" charset="0"/>
              <a:cs typeface="Times New Roman" panose="02020603050405020304" charset="0"/>
            </a:endParaRPr>
          </a:p>
        </p:txBody>
      </p:sp>
      <p:sp>
        <p:nvSpPr>
          <p:cNvPr id="5" name="Text Box 4"/>
          <p:cNvSpPr txBox="1"/>
          <p:nvPr/>
        </p:nvSpPr>
        <p:spPr>
          <a:xfrm>
            <a:off x="1017270" y="584200"/>
            <a:ext cx="6130925" cy="645160"/>
          </a:xfrm>
          <a:prstGeom prst="rect">
            <a:avLst/>
          </a:prstGeom>
          <a:noFill/>
        </p:spPr>
        <p:txBody>
          <a:bodyPr wrap="square" rtlCol="0">
            <a:spAutoFit/>
          </a:bodyPr>
          <a:p>
            <a:r>
              <a:rPr lang="en-US" sz="3600">
                <a:solidFill>
                  <a:schemeClr val="accent1"/>
                </a:solidFill>
                <a:latin typeface="Times New Roman" panose="02020603050405020304" charset="0"/>
                <a:cs typeface="Times New Roman" panose="02020603050405020304" charset="0"/>
              </a:rPr>
              <a:t>SQL Analysis</a:t>
            </a:r>
            <a:endParaRPr lang="en-US" sz="3600">
              <a:solidFill>
                <a:schemeClr val="accent1"/>
              </a:solidFill>
              <a:latin typeface="Times New Roman" panose="02020603050405020304" charset="0"/>
              <a:cs typeface="Times New Roman" panose="02020603050405020304" charset="0"/>
            </a:endParaRPr>
          </a:p>
        </p:txBody>
      </p:sp>
      <p:sp>
        <p:nvSpPr>
          <p:cNvPr id="6" name="Text Box 5"/>
          <p:cNvSpPr txBox="1"/>
          <p:nvPr/>
        </p:nvSpPr>
        <p:spPr>
          <a:xfrm>
            <a:off x="1017270" y="1297940"/>
            <a:ext cx="9948545" cy="922020"/>
          </a:xfrm>
          <a:prstGeom prst="rect">
            <a:avLst/>
          </a:prstGeom>
          <a:noFill/>
        </p:spPr>
        <p:txBody>
          <a:bodyPr wrap="square" rtlCol="0">
            <a:spAutoFit/>
          </a:bodyPr>
          <a:p>
            <a:r>
              <a:rPr lang="en-US" altLang="en-US">
                <a:solidFill>
                  <a:schemeClr val="tx1"/>
                </a:solidFill>
                <a:latin typeface="Times New Roman" panose="02020603050405020304" charset="0"/>
                <a:cs typeface="Times New Roman" panose="02020603050405020304" charset="0"/>
              </a:rPr>
              <a:t>SQL was used to explore the dataset, answer key business questions, and prepare insights for visualization.</a:t>
            </a:r>
            <a:endParaRPr lang="en-US" altLang="en-US">
              <a:solidFill>
                <a:schemeClr val="tx1"/>
              </a:solidFill>
              <a:latin typeface="Times New Roman" panose="02020603050405020304" charset="0"/>
              <a:cs typeface="Times New Roman" panose="02020603050405020304" charset="0"/>
            </a:endParaRPr>
          </a:p>
          <a:p>
            <a:endParaRPr lang="en-US" altLang="en-US">
              <a:solidFill>
                <a:schemeClr val="tx1"/>
              </a:solidFill>
              <a:latin typeface="Times New Roman" panose="02020603050405020304" charset="0"/>
              <a:cs typeface="Times New Roman" panose="02020603050405020304" charset="0"/>
            </a:endParaRPr>
          </a:p>
          <a:p>
            <a:r>
              <a:rPr lang="en-US" altLang="en-US">
                <a:solidFill>
                  <a:schemeClr val="tx1"/>
                </a:solidFill>
                <a:latin typeface="Times New Roman" panose="02020603050405020304" charset="0"/>
                <a:cs typeface="Times New Roman" panose="02020603050405020304" charset="0"/>
              </a:rPr>
              <a:t>The analysis focused on:</a:t>
            </a:r>
            <a:endParaRPr lang="en-US" altLang="en-US">
              <a:solidFill>
                <a:schemeClr val="tx1"/>
              </a:solidFill>
              <a:latin typeface="Times New Roman" panose="02020603050405020304" charset="0"/>
              <a:cs typeface="Times New Roman" panose="02020603050405020304" charset="0"/>
            </a:endParaRPr>
          </a:p>
        </p:txBody>
      </p:sp>
      <p:sp>
        <p:nvSpPr>
          <p:cNvPr id="7" name="任意多边形: 形状 56"/>
          <p:cNvSpPr/>
          <p:nvPr>
            <p:custDataLst>
              <p:tags r:id="rId3"/>
            </p:custDataLst>
          </p:nvPr>
        </p:nvSpPr>
        <p:spPr>
          <a:xfrm>
            <a:off x="1286510" y="3529999"/>
            <a:ext cx="4301924" cy="981726"/>
          </a:xfrm>
          <a:custGeom>
            <a:avLst/>
            <a:gdLst>
              <a:gd name="connsiteX0" fmla="*/ 133648 w 5197663"/>
              <a:gd name="connsiteY0" fmla="*/ 54697 h 1529474"/>
              <a:gd name="connsiteX1" fmla="*/ 59477 w 5197663"/>
              <a:gd name="connsiteY1" fmla="*/ 128868 h 1529474"/>
              <a:gd name="connsiteX2" fmla="*/ 59477 w 5197663"/>
              <a:gd name="connsiteY2" fmla="*/ 1400606 h 1529474"/>
              <a:gd name="connsiteX3" fmla="*/ 133648 w 5197663"/>
              <a:gd name="connsiteY3" fmla="*/ 1474777 h 1529474"/>
              <a:gd name="connsiteX4" fmla="*/ 5064014 w 5197663"/>
              <a:gd name="connsiteY4" fmla="*/ 1474777 h 1529474"/>
              <a:gd name="connsiteX5" fmla="*/ 5138185 w 5197663"/>
              <a:gd name="connsiteY5" fmla="*/ 1400606 h 1529474"/>
              <a:gd name="connsiteX6" fmla="*/ 5138185 w 5197663"/>
              <a:gd name="connsiteY6" fmla="*/ 128868 h 1529474"/>
              <a:gd name="connsiteX7" fmla="*/ 5064014 w 5197663"/>
              <a:gd name="connsiteY7" fmla="*/ 54697 h 1529474"/>
              <a:gd name="connsiteX8" fmla="*/ 81720 w 5197663"/>
              <a:gd name="connsiteY8" fmla="*/ 0 h 1529474"/>
              <a:gd name="connsiteX9" fmla="*/ 5115943 w 5197663"/>
              <a:gd name="connsiteY9" fmla="*/ 0 h 1529474"/>
              <a:gd name="connsiteX10" fmla="*/ 5197663 w 5197663"/>
              <a:gd name="connsiteY10" fmla="*/ 81720 h 1529474"/>
              <a:gd name="connsiteX11" fmla="*/ 5197663 w 5197663"/>
              <a:gd name="connsiteY11" fmla="*/ 1447754 h 1529474"/>
              <a:gd name="connsiteX12" fmla="*/ 5115943 w 5197663"/>
              <a:gd name="connsiteY12" fmla="*/ 1529474 h 1529474"/>
              <a:gd name="connsiteX13" fmla="*/ 81720 w 5197663"/>
              <a:gd name="connsiteY13" fmla="*/ 1529474 h 1529474"/>
              <a:gd name="connsiteX14" fmla="*/ 0 w 5197663"/>
              <a:gd name="connsiteY14" fmla="*/ 1447754 h 1529474"/>
              <a:gd name="connsiteX15" fmla="*/ 0 w 5197663"/>
              <a:gd name="connsiteY15" fmla="*/ 81720 h 1529474"/>
              <a:gd name="connsiteX16" fmla="*/ 81720 w 5197663"/>
              <a:gd name="connsiteY16" fmla="*/ 0 h 152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97663" h="1529474">
                <a:moveTo>
                  <a:pt x="133648" y="54697"/>
                </a:moveTo>
                <a:cubicBezTo>
                  <a:pt x="92684" y="54697"/>
                  <a:pt x="59477" y="87904"/>
                  <a:pt x="59477" y="128868"/>
                </a:cubicBezTo>
                <a:lnTo>
                  <a:pt x="59477" y="1400606"/>
                </a:lnTo>
                <a:cubicBezTo>
                  <a:pt x="59477" y="1441570"/>
                  <a:pt x="92684" y="1474777"/>
                  <a:pt x="133648" y="1474777"/>
                </a:cubicBezTo>
                <a:lnTo>
                  <a:pt x="5064014" y="1474777"/>
                </a:lnTo>
                <a:cubicBezTo>
                  <a:pt x="5104978" y="1474777"/>
                  <a:pt x="5138185" y="1441570"/>
                  <a:pt x="5138185" y="1400606"/>
                </a:cubicBezTo>
                <a:lnTo>
                  <a:pt x="5138185" y="128868"/>
                </a:lnTo>
                <a:cubicBezTo>
                  <a:pt x="5138185" y="87904"/>
                  <a:pt x="5104978" y="54697"/>
                  <a:pt x="5064014" y="54697"/>
                </a:cubicBezTo>
                <a:close/>
                <a:moveTo>
                  <a:pt x="81720" y="0"/>
                </a:moveTo>
                <a:lnTo>
                  <a:pt x="5115943" y="0"/>
                </a:lnTo>
                <a:cubicBezTo>
                  <a:pt x="5161076" y="0"/>
                  <a:pt x="5197663" y="36587"/>
                  <a:pt x="5197663" y="81720"/>
                </a:cubicBezTo>
                <a:lnTo>
                  <a:pt x="5197663" y="1447754"/>
                </a:lnTo>
                <a:cubicBezTo>
                  <a:pt x="5197663" y="1492887"/>
                  <a:pt x="5161076" y="1529474"/>
                  <a:pt x="5115943" y="1529474"/>
                </a:cubicBezTo>
                <a:lnTo>
                  <a:pt x="81720" y="1529474"/>
                </a:lnTo>
                <a:cubicBezTo>
                  <a:pt x="36587" y="1529474"/>
                  <a:pt x="0" y="1492887"/>
                  <a:pt x="0" y="1447754"/>
                </a:cubicBezTo>
                <a:lnTo>
                  <a:pt x="0" y="81720"/>
                </a:lnTo>
                <a:cubicBezTo>
                  <a:pt x="0" y="36587"/>
                  <a:pt x="36587" y="0"/>
                  <a:pt x="81720"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square" lIns="322371" tIns="177358" rIns="1253264" bIns="177357" rtlCol="0" anchor="ctr">
            <a:normAutofit/>
          </a:bodyPr>
          <a:p>
            <a:pPr>
              <a:lnSpc>
                <a:spcPct val="150000"/>
              </a:lnSpc>
            </a:pPr>
            <a:r>
              <a:rPr lang="en-US" altLang="en-US" sz="2445" dirty="0">
                <a:solidFill>
                  <a:schemeClr val="tx1"/>
                </a:solidFill>
                <a:latin typeface="Times New Roman" panose="02020603050405020304" charset="0"/>
                <a:cs typeface="Times New Roman" panose="02020603050405020304" charset="0"/>
              </a:rPr>
              <a:t>Profitability</a:t>
            </a:r>
            <a:endParaRPr lang="en-US" altLang="en-US" sz="2445" dirty="0">
              <a:solidFill>
                <a:schemeClr val="tx1"/>
              </a:solidFill>
              <a:latin typeface="Times New Roman" panose="02020603050405020304" charset="0"/>
              <a:cs typeface="Times New Roman" panose="02020603050405020304" charset="0"/>
            </a:endParaRPr>
          </a:p>
        </p:txBody>
      </p:sp>
      <p:sp>
        <p:nvSpPr>
          <p:cNvPr id="8" name="任意多边形: 形状 56"/>
          <p:cNvSpPr/>
          <p:nvPr>
            <p:custDataLst>
              <p:tags r:id="rId4"/>
            </p:custDataLst>
          </p:nvPr>
        </p:nvSpPr>
        <p:spPr>
          <a:xfrm>
            <a:off x="1286510" y="4676000"/>
            <a:ext cx="4301924" cy="981726"/>
          </a:xfrm>
          <a:custGeom>
            <a:avLst/>
            <a:gdLst>
              <a:gd name="connsiteX0" fmla="*/ 133648 w 5197663"/>
              <a:gd name="connsiteY0" fmla="*/ 54697 h 1529474"/>
              <a:gd name="connsiteX1" fmla="*/ 59477 w 5197663"/>
              <a:gd name="connsiteY1" fmla="*/ 128868 h 1529474"/>
              <a:gd name="connsiteX2" fmla="*/ 59477 w 5197663"/>
              <a:gd name="connsiteY2" fmla="*/ 1400606 h 1529474"/>
              <a:gd name="connsiteX3" fmla="*/ 133648 w 5197663"/>
              <a:gd name="connsiteY3" fmla="*/ 1474777 h 1529474"/>
              <a:gd name="connsiteX4" fmla="*/ 5064014 w 5197663"/>
              <a:gd name="connsiteY4" fmla="*/ 1474777 h 1529474"/>
              <a:gd name="connsiteX5" fmla="*/ 5138185 w 5197663"/>
              <a:gd name="connsiteY5" fmla="*/ 1400606 h 1529474"/>
              <a:gd name="connsiteX6" fmla="*/ 5138185 w 5197663"/>
              <a:gd name="connsiteY6" fmla="*/ 128868 h 1529474"/>
              <a:gd name="connsiteX7" fmla="*/ 5064014 w 5197663"/>
              <a:gd name="connsiteY7" fmla="*/ 54697 h 1529474"/>
              <a:gd name="connsiteX8" fmla="*/ 81720 w 5197663"/>
              <a:gd name="connsiteY8" fmla="*/ 0 h 1529474"/>
              <a:gd name="connsiteX9" fmla="*/ 5115943 w 5197663"/>
              <a:gd name="connsiteY9" fmla="*/ 0 h 1529474"/>
              <a:gd name="connsiteX10" fmla="*/ 5197663 w 5197663"/>
              <a:gd name="connsiteY10" fmla="*/ 81720 h 1529474"/>
              <a:gd name="connsiteX11" fmla="*/ 5197663 w 5197663"/>
              <a:gd name="connsiteY11" fmla="*/ 1447754 h 1529474"/>
              <a:gd name="connsiteX12" fmla="*/ 5115943 w 5197663"/>
              <a:gd name="connsiteY12" fmla="*/ 1529474 h 1529474"/>
              <a:gd name="connsiteX13" fmla="*/ 81720 w 5197663"/>
              <a:gd name="connsiteY13" fmla="*/ 1529474 h 1529474"/>
              <a:gd name="connsiteX14" fmla="*/ 0 w 5197663"/>
              <a:gd name="connsiteY14" fmla="*/ 1447754 h 1529474"/>
              <a:gd name="connsiteX15" fmla="*/ 0 w 5197663"/>
              <a:gd name="connsiteY15" fmla="*/ 81720 h 1529474"/>
              <a:gd name="connsiteX16" fmla="*/ 81720 w 5197663"/>
              <a:gd name="connsiteY16" fmla="*/ 0 h 152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97663" h="1529474">
                <a:moveTo>
                  <a:pt x="133648" y="54697"/>
                </a:moveTo>
                <a:cubicBezTo>
                  <a:pt x="92684" y="54697"/>
                  <a:pt x="59477" y="87904"/>
                  <a:pt x="59477" y="128868"/>
                </a:cubicBezTo>
                <a:lnTo>
                  <a:pt x="59477" y="1400606"/>
                </a:lnTo>
                <a:cubicBezTo>
                  <a:pt x="59477" y="1441570"/>
                  <a:pt x="92684" y="1474777"/>
                  <a:pt x="133648" y="1474777"/>
                </a:cubicBezTo>
                <a:lnTo>
                  <a:pt x="5064014" y="1474777"/>
                </a:lnTo>
                <a:cubicBezTo>
                  <a:pt x="5104978" y="1474777"/>
                  <a:pt x="5138185" y="1441570"/>
                  <a:pt x="5138185" y="1400606"/>
                </a:cubicBezTo>
                <a:lnTo>
                  <a:pt x="5138185" y="128868"/>
                </a:lnTo>
                <a:cubicBezTo>
                  <a:pt x="5138185" y="87904"/>
                  <a:pt x="5104978" y="54697"/>
                  <a:pt x="5064014" y="54697"/>
                </a:cubicBezTo>
                <a:close/>
                <a:moveTo>
                  <a:pt x="81720" y="0"/>
                </a:moveTo>
                <a:lnTo>
                  <a:pt x="5115943" y="0"/>
                </a:lnTo>
                <a:cubicBezTo>
                  <a:pt x="5161076" y="0"/>
                  <a:pt x="5197663" y="36587"/>
                  <a:pt x="5197663" y="81720"/>
                </a:cubicBezTo>
                <a:lnTo>
                  <a:pt x="5197663" y="1447754"/>
                </a:lnTo>
                <a:cubicBezTo>
                  <a:pt x="5197663" y="1492887"/>
                  <a:pt x="5161076" y="1529474"/>
                  <a:pt x="5115943" y="1529474"/>
                </a:cubicBezTo>
                <a:lnTo>
                  <a:pt x="81720" y="1529474"/>
                </a:lnTo>
                <a:cubicBezTo>
                  <a:pt x="36587" y="1529474"/>
                  <a:pt x="0" y="1492887"/>
                  <a:pt x="0" y="1447754"/>
                </a:cubicBezTo>
                <a:lnTo>
                  <a:pt x="0" y="81720"/>
                </a:lnTo>
                <a:cubicBezTo>
                  <a:pt x="0" y="36587"/>
                  <a:pt x="36587" y="0"/>
                  <a:pt x="81720"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square" lIns="322371" tIns="177358" rIns="1253264" bIns="177357" rtlCol="0" anchor="ctr">
            <a:normAutofit/>
          </a:bodyPr>
          <a:p>
            <a:pPr>
              <a:lnSpc>
                <a:spcPct val="150000"/>
              </a:lnSpc>
            </a:pPr>
            <a:r>
              <a:rPr lang="en-US" sz="2200" dirty="0">
                <a:solidFill>
                  <a:schemeClr val="tx1"/>
                </a:solidFill>
                <a:latin typeface="Times New Roman" panose="02020603050405020304" charset="0"/>
                <a:cs typeface="Times New Roman" panose="02020603050405020304" charset="0"/>
              </a:rPr>
              <a:t>C</a:t>
            </a:r>
            <a:r>
              <a:rPr lang="en-US" altLang="en-US" sz="2200" dirty="0">
                <a:solidFill>
                  <a:schemeClr val="tx1"/>
                </a:solidFill>
                <a:latin typeface="Times New Roman" panose="02020603050405020304" charset="0"/>
                <a:cs typeface="Times New Roman" panose="02020603050405020304" charset="0"/>
              </a:rPr>
              <a:t>ustomer behavior</a:t>
            </a:r>
            <a:endParaRPr lang="en-US" altLang="en-US" sz="2200" dirty="0">
              <a:solidFill>
                <a:schemeClr val="tx1"/>
              </a:solidFill>
              <a:latin typeface="Times New Roman" panose="02020603050405020304" charset="0"/>
              <a:cs typeface="Times New Roman" panose="02020603050405020304" charset="0"/>
            </a:endParaRPr>
          </a:p>
        </p:txBody>
      </p:sp>
      <p:sp>
        <p:nvSpPr>
          <p:cNvPr id="9" name="任意多边形: 形状 56"/>
          <p:cNvSpPr/>
          <p:nvPr>
            <p:custDataLst>
              <p:tags r:id="rId5"/>
            </p:custDataLst>
          </p:nvPr>
        </p:nvSpPr>
        <p:spPr>
          <a:xfrm>
            <a:off x="6041337" y="2375489"/>
            <a:ext cx="4301924" cy="981726"/>
          </a:xfrm>
          <a:custGeom>
            <a:avLst/>
            <a:gdLst>
              <a:gd name="connsiteX0" fmla="*/ 133648 w 5197663"/>
              <a:gd name="connsiteY0" fmla="*/ 54697 h 1529474"/>
              <a:gd name="connsiteX1" fmla="*/ 59477 w 5197663"/>
              <a:gd name="connsiteY1" fmla="*/ 128868 h 1529474"/>
              <a:gd name="connsiteX2" fmla="*/ 59477 w 5197663"/>
              <a:gd name="connsiteY2" fmla="*/ 1400606 h 1529474"/>
              <a:gd name="connsiteX3" fmla="*/ 133648 w 5197663"/>
              <a:gd name="connsiteY3" fmla="*/ 1474777 h 1529474"/>
              <a:gd name="connsiteX4" fmla="*/ 5064014 w 5197663"/>
              <a:gd name="connsiteY4" fmla="*/ 1474777 h 1529474"/>
              <a:gd name="connsiteX5" fmla="*/ 5138185 w 5197663"/>
              <a:gd name="connsiteY5" fmla="*/ 1400606 h 1529474"/>
              <a:gd name="connsiteX6" fmla="*/ 5138185 w 5197663"/>
              <a:gd name="connsiteY6" fmla="*/ 128868 h 1529474"/>
              <a:gd name="connsiteX7" fmla="*/ 5064014 w 5197663"/>
              <a:gd name="connsiteY7" fmla="*/ 54697 h 1529474"/>
              <a:gd name="connsiteX8" fmla="*/ 81720 w 5197663"/>
              <a:gd name="connsiteY8" fmla="*/ 0 h 1529474"/>
              <a:gd name="connsiteX9" fmla="*/ 5115943 w 5197663"/>
              <a:gd name="connsiteY9" fmla="*/ 0 h 1529474"/>
              <a:gd name="connsiteX10" fmla="*/ 5197663 w 5197663"/>
              <a:gd name="connsiteY10" fmla="*/ 81720 h 1529474"/>
              <a:gd name="connsiteX11" fmla="*/ 5197663 w 5197663"/>
              <a:gd name="connsiteY11" fmla="*/ 1447754 h 1529474"/>
              <a:gd name="connsiteX12" fmla="*/ 5115943 w 5197663"/>
              <a:gd name="connsiteY12" fmla="*/ 1529474 h 1529474"/>
              <a:gd name="connsiteX13" fmla="*/ 81720 w 5197663"/>
              <a:gd name="connsiteY13" fmla="*/ 1529474 h 1529474"/>
              <a:gd name="connsiteX14" fmla="*/ 0 w 5197663"/>
              <a:gd name="connsiteY14" fmla="*/ 1447754 h 1529474"/>
              <a:gd name="connsiteX15" fmla="*/ 0 w 5197663"/>
              <a:gd name="connsiteY15" fmla="*/ 81720 h 1529474"/>
              <a:gd name="connsiteX16" fmla="*/ 81720 w 5197663"/>
              <a:gd name="connsiteY16" fmla="*/ 0 h 152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97663" h="1529474">
                <a:moveTo>
                  <a:pt x="133648" y="54697"/>
                </a:moveTo>
                <a:cubicBezTo>
                  <a:pt x="92684" y="54697"/>
                  <a:pt x="59477" y="87904"/>
                  <a:pt x="59477" y="128868"/>
                </a:cubicBezTo>
                <a:lnTo>
                  <a:pt x="59477" y="1400606"/>
                </a:lnTo>
                <a:cubicBezTo>
                  <a:pt x="59477" y="1441570"/>
                  <a:pt x="92684" y="1474777"/>
                  <a:pt x="133648" y="1474777"/>
                </a:cubicBezTo>
                <a:lnTo>
                  <a:pt x="5064014" y="1474777"/>
                </a:lnTo>
                <a:cubicBezTo>
                  <a:pt x="5104978" y="1474777"/>
                  <a:pt x="5138185" y="1441570"/>
                  <a:pt x="5138185" y="1400606"/>
                </a:cubicBezTo>
                <a:lnTo>
                  <a:pt x="5138185" y="128868"/>
                </a:lnTo>
                <a:cubicBezTo>
                  <a:pt x="5138185" y="87904"/>
                  <a:pt x="5104978" y="54697"/>
                  <a:pt x="5064014" y="54697"/>
                </a:cubicBezTo>
                <a:close/>
                <a:moveTo>
                  <a:pt x="81720" y="0"/>
                </a:moveTo>
                <a:lnTo>
                  <a:pt x="5115943" y="0"/>
                </a:lnTo>
                <a:cubicBezTo>
                  <a:pt x="5161076" y="0"/>
                  <a:pt x="5197663" y="36587"/>
                  <a:pt x="5197663" y="81720"/>
                </a:cubicBezTo>
                <a:lnTo>
                  <a:pt x="5197663" y="1447754"/>
                </a:lnTo>
                <a:cubicBezTo>
                  <a:pt x="5197663" y="1492887"/>
                  <a:pt x="5161076" y="1529474"/>
                  <a:pt x="5115943" y="1529474"/>
                </a:cubicBezTo>
                <a:lnTo>
                  <a:pt x="81720" y="1529474"/>
                </a:lnTo>
                <a:cubicBezTo>
                  <a:pt x="36587" y="1529474"/>
                  <a:pt x="0" y="1492887"/>
                  <a:pt x="0" y="1447754"/>
                </a:cubicBezTo>
                <a:lnTo>
                  <a:pt x="0" y="81720"/>
                </a:lnTo>
                <a:cubicBezTo>
                  <a:pt x="0" y="36587"/>
                  <a:pt x="36587" y="0"/>
                  <a:pt x="81720"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square" lIns="322371" tIns="177358" rIns="1253264" bIns="177357" rtlCol="0" anchor="ctr">
            <a:normAutofit/>
          </a:bodyPr>
          <a:p>
            <a:pPr>
              <a:lnSpc>
                <a:spcPct val="150000"/>
              </a:lnSpc>
            </a:pPr>
            <a:r>
              <a:rPr lang="en-US" altLang="en-US" sz="2445" dirty="0">
                <a:solidFill>
                  <a:schemeClr val="tx1"/>
                </a:solidFill>
                <a:latin typeface="Times New Roman" panose="02020603050405020304" charset="0"/>
                <a:cs typeface="Times New Roman" panose="02020603050405020304" charset="0"/>
              </a:rPr>
              <a:t>Product performance</a:t>
            </a:r>
            <a:endParaRPr lang="en-US" altLang="en-US" sz="2445" dirty="0">
              <a:solidFill>
                <a:schemeClr val="tx1"/>
              </a:solidFill>
              <a:latin typeface="Times New Roman" panose="02020603050405020304" charset="0"/>
              <a:cs typeface="Times New Roman" panose="02020603050405020304" charset="0"/>
            </a:endParaRPr>
          </a:p>
        </p:txBody>
      </p:sp>
      <p:sp>
        <p:nvSpPr>
          <p:cNvPr id="11" name="任意多边形: 形状 56"/>
          <p:cNvSpPr/>
          <p:nvPr>
            <p:custDataLst>
              <p:tags r:id="rId6"/>
            </p:custDataLst>
          </p:nvPr>
        </p:nvSpPr>
        <p:spPr>
          <a:xfrm>
            <a:off x="6041337" y="3529999"/>
            <a:ext cx="4301924" cy="981726"/>
          </a:xfrm>
          <a:custGeom>
            <a:avLst/>
            <a:gdLst>
              <a:gd name="connsiteX0" fmla="*/ 133648 w 5197663"/>
              <a:gd name="connsiteY0" fmla="*/ 54697 h 1529474"/>
              <a:gd name="connsiteX1" fmla="*/ 59477 w 5197663"/>
              <a:gd name="connsiteY1" fmla="*/ 128868 h 1529474"/>
              <a:gd name="connsiteX2" fmla="*/ 59477 w 5197663"/>
              <a:gd name="connsiteY2" fmla="*/ 1400606 h 1529474"/>
              <a:gd name="connsiteX3" fmla="*/ 133648 w 5197663"/>
              <a:gd name="connsiteY3" fmla="*/ 1474777 h 1529474"/>
              <a:gd name="connsiteX4" fmla="*/ 5064014 w 5197663"/>
              <a:gd name="connsiteY4" fmla="*/ 1474777 h 1529474"/>
              <a:gd name="connsiteX5" fmla="*/ 5138185 w 5197663"/>
              <a:gd name="connsiteY5" fmla="*/ 1400606 h 1529474"/>
              <a:gd name="connsiteX6" fmla="*/ 5138185 w 5197663"/>
              <a:gd name="connsiteY6" fmla="*/ 128868 h 1529474"/>
              <a:gd name="connsiteX7" fmla="*/ 5064014 w 5197663"/>
              <a:gd name="connsiteY7" fmla="*/ 54697 h 1529474"/>
              <a:gd name="connsiteX8" fmla="*/ 81720 w 5197663"/>
              <a:gd name="connsiteY8" fmla="*/ 0 h 1529474"/>
              <a:gd name="connsiteX9" fmla="*/ 5115943 w 5197663"/>
              <a:gd name="connsiteY9" fmla="*/ 0 h 1529474"/>
              <a:gd name="connsiteX10" fmla="*/ 5197663 w 5197663"/>
              <a:gd name="connsiteY10" fmla="*/ 81720 h 1529474"/>
              <a:gd name="connsiteX11" fmla="*/ 5197663 w 5197663"/>
              <a:gd name="connsiteY11" fmla="*/ 1447754 h 1529474"/>
              <a:gd name="connsiteX12" fmla="*/ 5115943 w 5197663"/>
              <a:gd name="connsiteY12" fmla="*/ 1529474 h 1529474"/>
              <a:gd name="connsiteX13" fmla="*/ 81720 w 5197663"/>
              <a:gd name="connsiteY13" fmla="*/ 1529474 h 1529474"/>
              <a:gd name="connsiteX14" fmla="*/ 0 w 5197663"/>
              <a:gd name="connsiteY14" fmla="*/ 1447754 h 1529474"/>
              <a:gd name="connsiteX15" fmla="*/ 0 w 5197663"/>
              <a:gd name="connsiteY15" fmla="*/ 81720 h 1529474"/>
              <a:gd name="connsiteX16" fmla="*/ 81720 w 5197663"/>
              <a:gd name="connsiteY16" fmla="*/ 0 h 152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97663" h="1529474">
                <a:moveTo>
                  <a:pt x="133648" y="54697"/>
                </a:moveTo>
                <a:cubicBezTo>
                  <a:pt x="92684" y="54697"/>
                  <a:pt x="59477" y="87904"/>
                  <a:pt x="59477" y="128868"/>
                </a:cubicBezTo>
                <a:lnTo>
                  <a:pt x="59477" y="1400606"/>
                </a:lnTo>
                <a:cubicBezTo>
                  <a:pt x="59477" y="1441570"/>
                  <a:pt x="92684" y="1474777"/>
                  <a:pt x="133648" y="1474777"/>
                </a:cubicBezTo>
                <a:lnTo>
                  <a:pt x="5064014" y="1474777"/>
                </a:lnTo>
                <a:cubicBezTo>
                  <a:pt x="5104978" y="1474777"/>
                  <a:pt x="5138185" y="1441570"/>
                  <a:pt x="5138185" y="1400606"/>
                </a:cubicBezTo>
                <a:lnTo>
                  <a:pt x="5138185" y="128868"/>
                </a:lnTo>
                <a:cubicBezTo>
                  <a:pt x="5138185" y="87904"/>
                  <a:pt x="5104978" y="54697"/>
                  <a:pt x="5064014" y="54697"/>
                </a:cubicBezTo>
                <a:close/>
                <a:moveTo>
                  <a:pt x="81720" y="0"/>
                </a:moveTo>
                <a:lnTo>
                  <a:pt x="5115943" y="0"/>
                </a:lnTo>
                <a:cubicBezTo>
                  <a:pt x="5161076" y="0"/>
                  <a:pt x="5197663" y="36587"/>
                  <a:pt x="5197663" y="81720"/>
                </a:cubicBezTo>
                <a:lnTo>
                  <a:pt x="5197663" y="1447754"/>
                </a:lnTo>
                <a:cubicBezTo>
                  <a:pt x="5197663" y="1492887"/>
                  <a:pt x="5161076" y="1529474"/>
                  <a:pt x="5115943" y="1529474"/>
                </a:cubicBezTo>
                <a:lnTo>
                  <a:pt x="81720" y="1529474"/>
                </a:lnTo>
                <a:cubicBezTo>
                  <a:pt x="36587" y="1529474"/>
                  <a:pt x="0" y="1492887"/>
                  <a:pt x="0" y="1447754"/>
                </a:cubicBezTo>
                <a:lnTo>
                  <a:pt x="0" y="81720"/>
                </a:lnTo>
                <a:cubicBezTo>
                  <a:pt x="0" y="36587"/>
                  <a:pt x="36587" y="0"/>
                  <a:pt x="81720"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square" lIns="322371" tIns="177358" rIns="1253264" bIns="177357" rtlCol="0" anchor="ctr">
            <a:normAutofit/>
          </a:bodyPr>
          <a:p>
            <a:pPr>
              <a:lnSpc>
                <a:spcPct val="150000"/>
              </a:lnSpc>
            </a:pPr>
            <a:r>
              <a:rPr lang="en-US" altLang="en-US" sz="2200" dirty="0">
                <a:solidFill>
                  <a:schemeClr val="tx1"/>
                </a:solidFill>
                <a:latin typeface="Times New Roman" panose="02020603050405020304" charset="0"/>
                <a:cs typeface="Times New Roman" panose="02020603050405020304" charset="0"/>
              </a:rPr>
              <a:t>Discount impact</a:t>
            </a:r>
            <a:endParaRPr lang="en-US" altLang="en-US" sz="2200" dirty="0">
              <a:solidFill>
                <a:schemeClr val="tx1"/>
              </a:solidFill>
              <a:latin typeface="Times New Roman" panose="02020603050405020304" charset="0"/>
              <a:cs typeface="Times New Roman" panose="02020603050405020304" charset="0"/>
            </a:endParaRPr>
          </a:p>
        </p:txBody>
      </p:sp>
      <p:sp>
        <p:nvSpPr>
          <p:cNvPr id="12" name="任意多边形: 形状 56"/>
          <p:cNvSpPr/>
          <p:nvPr>
            <p:custDataLst>
              <p:tags r:id="rId7"/>
            </p:custDataLst>
          </p:nvPr>
        </p:nvSpPr>
        <p:spPr>
          <a:xfrm>
            <a:off x="6041337" y="4684509"/>
            <a:ext cx="4301924" cy="981726"/>
          </a:xfrm>
          <a:custGeom>
            <a:avLst/>
            <a:gdLst>
              <a:gd name="connsiteX0" fmla="*/ 133648 w 5197663"/>
              <a:gd name="connsiteY0" fmla="*/ 54697 h 1529474"/>
              <a:gd name="connsiteX1" fmla="*/ 59477 w 5197663"/>
              <a:gd name="connsiteY1" fmla="*/ 128868 h 1529474"/>
              <a:gd name="connsiteX2" fmla="*/ 59477 w 5197663"/>
              <a:gd name="connsiteY2" fmla="*/ 1400606 h 1529474"/>
              <a:gd name="connsiteX3" fmla="*/ 133648 w 5197663"/>
              <a:gd name="connsiteY3" fmla="*/ 1474777 h 1529474"/>
              <a:gd name="connsiteX4" fmla="*/ 5064014 w 5197663"/>
              <a:gd name="connsiteY4" fmla="*/ 1474777 h 1529474"/>
              <a:gd name="connsiteX5" fmla="*/ 5138185 w 5197663"/>
              <a:gd name="connsiteY5" fmla="*/ 1400606 h 1529474"/>
              <a:gd name="connsiteX6" fmla="*/ 5138185 w 5197663"/>
              <a:gd name="connsiteY6" fmla="*/ 128868 h 1529474"/>
              <a:gd name="connsiteX7" fmla="*/ 5064014 w 5197663"/>
              <a:gd name="connsiteY7" fmla="*/ 54697 h 1529474"/>
              <a:gd name="connsiteX8" fmla="*/ 81720 w 5197663"/>
              <a:gd name="connsiteY8" fmla="*/ 0 h 1529474"/>
              <a:gd name="connsiteX9" fmla="*/ 5115943 w 5197663"/>
              <a:gd name="connsiteY9" fmla="*/ 0 h 1529474"/>
              <a:gd name="connsiteX10" fmla="*/ 5197663 w 5197663"/>
              <a:gd name="connsiteY10" fmla="*/ 81720 h 1529474"/>
              <a:gd name="connsiteX11" fmla="*/ 5197663 w 5197663"/>
              <a:gd name="connsiteY11" fmla="*/ 1447754 h 1529474"/>
              <a:gd name="connsiteX12" fmla="*/ 5115943 w 5197663"/>
              <a:gd name="connsiteY12" fmla="*/ 1529474 h 1529474"/>
              <a:gd name="connsiteX13" fmla="*/ 81720 w 5197663"/>
              <a:gd name="connsiteY13" fmla="*/ 1529474 h 1529474"/>
              <a:gd name="connsiteX14" fmla="*/ 0 w 5197663"/>
              <a:gd name="connsiteY14" fmla="*/ 1447754 h 1529474"/>
              <a:gd name="connsiteX15" fmla="*/ 0 w 5197663"/>
              <a:gd name="connsiteY15" fmla="*/ 81720 h 1529474"/>
              <a:gd name="connsiteX16" fmla="*/ 81720 w 5197663"/>
              <a:gd name="connsiteY16" fmla="*/ 0 h 152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197663" h="1529474">
                <a:moveTo>
                  <a:pt x="133648" y="54697"/>
                </a:moveTo>
                <a:cubicBezTo>
                  <a:pt x="92684" y="54697"/>
                  <a:pt x="59477" y="87904"/>
                  <a:pt x="59477" y="128868"/>
                </a:cubicBezTo>
                <a:lnTo>
                  <a:pt x="59477" y="1400606"/>
                </a:lnTo>
                <a:cubicBezTo>
                  <a:pt x="59477" y="1441570"/>
                  <a:pt x="92684" y="1474777"/>
                  <a:pt x="133648" y="1474777"/>
                </a:cubicBezTo>
                <a:lnTo>
                  <a:pt x="5064014" y="1474777"/>
                </a:lnTo>
                <a:cubicBezTo>
                  <a:pt x="5104978" y="1474777"/>
                  <a:pt x="5138185" y="1441570"/>
                  <a:pt x="5138185" y="1400606"/>
                </a:cubicBezTo>
                <a:lnTo>
                  <a:pt x="5138185" y="128868"/>
                </a:lnTo>
                <a:cubicBezTo>
                  <a:pt x="5138185" y="87904"/>
                  <a:pt x="5104978" y="54697"/>
                  <a:pt x="5064014" y="54697"/>
                </a:cubicBezTo>
                <a:close/>
                <a:moveTo>
                  <a:pt x="81720" y="0"/>
                </a:moveTo>
                <a:lnTo>
                  <a:pt x="5115943" y="0"/>
                </a:lnTo>
                <a:cubicBezTo>
                  <a:pt x="5161076" y="0"/>
                  <a:pt x="5197663" y="36587"/>
                  <a:pt x="5197663" y="81720"/>
                </a:cubicBezTo>
                <a:lnTo>
                  <a:pt x="5197663" y="1447754"/>
                </a:lnTo>
                <a:cubicBezTo>
                  <a:pt x="5197663" y="1492887"/>
                  <a:pt x="5161076" y="1529474"/>
                  <a:pt x="5115943" y="1529474"/>
                </a:cubicBezTo>
                <a:lnTo>
                  <a:pt x="81720" y="1529474"/>
                </a:lnTo>
                <a:cubicBezTo>
                  <a:pt x="36587" y="1529474"/>
                  <a:pt x="0" y="1492887"/>
                  <a:pt x="0" y="1447754"/>
                </a:cubicBezTo>
                <a:lnTo>
                  <a:pt x="0" y="81720"/>
                </a:lnTo>
                <a:cubicBezTo>
                  <a:pt x="0" y="36587"/>
                  <a:pt x="36587" y="0"/>
                  <a:pt x="81720"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square" lIns="322371" tIns="177358" rIns="1253264" bIns="177357" rtlCol="0" anchor="ctr">
            <a:normAutofit/>
          </a:bodyPr>
          <a:p>
            <a:pPr>
              <a:lnSpc>
                <a:spcPct val="150000"/>
              </a:lnSpc>
            </a:pPr>
            <a:r>
              <a:rPr lang="en-US" altLang="en-US" sz="2445" dirty="0">
                <a:solidFill>
                  <a:schemeClr val="tx1"/>
                </a:solidFill>
                <a:latin typeface="Times New Roman" panose="02020603050405020304" charset="0"/>
                <a:cs typeface="Times New Roman" panose="02020603050405020304" charset="0"/>
              </a:rPr>
              <a:t>Time-based trends</a:t>
            </a:r>
            <a:endParaRPr lang="en-US" altLang="en-US" sz="2445" dirty="0">
              <a:solidFill>
                <a:schemeClr val="tx1"/>
              </a:solidFill>
              <a:latin typeface="Times New Roman" panose="02020603050405020304" charset="0"/>
              <a:cs typeface="Times New Roman" panose="02020603050405020304" charset="0"/>
            </a:endParaRPr>
          </a:p>
        </p:txBody>
      </p:sp>
      <p:sp>
        <p:nvSpPr>
          <p:cNvPr id="13" name="任意多边形: 形状 53"/>
          <p:cNvSpPr/>
          <p:nvPr>
            <p:custDataLst>
              <p:tags r:id="rId8"/>
            </p:custDataLst>
          </p:nvPr>
        </p:nvSpPr>
        <p:spPr>
          <a:xfrm>
            <a:off x="4852794" y="3940282"/>
            <a:ext cx="735641" cy="570711"/>
          </a:xfrm>
          <a:custGeom>
            <a:avLst/>
            <a:gdLst>
              <a:gd name="connsiteX0" fmla="*/ 0 w 1047166"/>
              <a:gd name="connsiteY0" fmla="*/ 1045294 h 1132236"/>
              <a:gd name="connsiteX1" fmla="*/ 0 w 1047166"/>
              <a:gd name="connsiteY1" fmla="*/ 1045295 h 1132236"/>
              <a:gd name="connsiteX2" fmla="*/ 0 w 1047166"/>
              <a:gd name="connsiteY2" fmla="*/ 1045295 h 1132236"/>
              <a:gd name="connsiteX3" fmla="*/ 1045295 w 1047166"/>
              <a:gd name="connsiteY3" fmla="*/ 0 h 1132236"/>
              <a:gd name="connsiteX4" fmla="*/ 1047166 w 1047166"/>
              <a:gd name="connsiteY4" fmla="*/ 0 h 1132236"/>
              <a:gd name="connsiteX5" fmla="*/ 1047166 w 1047166"/>
              <a:gd name="connsiteY5" fmla="*/ 1132236 h 1132236"/>
              <a:gd name="connsiteX6" fmla="*/ 4390 w 1047166"/>
              <a:gd name="connsiteY6" fmla="*/ 1132236 h 1132236"/>
              <a:gd name="connsiteX7" fmla="*/ 0 w 1047166"/>
              <a:gd name="connsiteY7" fmla="*/ 1045295 h 1132236"/>
              <a:gd name="connsiteX8" fmla="*/ 5397 w 1047166"/>
              <a:gd name="connsiteY8" fmla="*/ 938420 h 1132236"/>
              <a:gd name="connsiteX9" fmla="*/ 1045295 w 1047166"/>
              <a:gd name="connsiteY9" fmla="*/ 0 h 113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166" h="1132236">
                <a:moveTo>
                  <a:pt x="0" y="1045294"/>
                </a:moveTo>
                <a:lnTo>
                  <a:pt x="0" y="1045295"/>
                </a:lnTo>
                <a:lnTo>
                  <a:pt x="0" y="1045295"/>
                </a:lnTo>
                <a:close/>
                <a:moveTo>
                  <a:pt x="1045295" y="0"/>
                </a:moveTo>
                <a:lnTo>
                  <a:pt x="1047166" y="0"/>
                </a:lnTo>
                <a:lnTo>
                  <a:pt x="1047166" y="1132236"/>
                </a:lnTo>
                <a:lnTo>
                  <a:pt x="4390" y="1132236"/>
                </a:lnTo>
                <a:lnTo>
                  <a:pt x="0" y="1045295"/>
                </a:lnTo>
                <a:lnTo>
                  <a:pt x="5397" y="938420"/>
                </a:lnTo>
                <a:cubicBezTo>
                  <a:pt x="58927" y="411324"/>
                  <a:pt x="504076" y="0"/>
                  <a:pt x="1045295"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none" lIns="144000" tIns="324000" rIns="0" bIns="47486" rtlCol="0" anchor="ctr">
            <a:noAutofit/>
          </a:bodyPr>
          <a:p>
            <a:pPr algn="ctr"/>
            <a:r>
              <a:rPr lang="en-US" b="1" dirty="0">
                <a:solidFill>
                  <a:schemeClr val="bg1"/>
                </a:solidFill>
                <a:latin typeface="Times New Roman" panose="02020603050405020304" charset="0"/>
                <a:cs typeface="Times New Roman" panose="02020603050405020304" charset="0"/>
              </a:rPr>
              <a:t>02</a:t>
            </a:r>
            <a:endParaRPr lang="en-US" b="1" dirty="0">
              <a:solidFill>
                <a:schemeClr val="bg1"/>
              </a:solidFill>
              <a:latin typeface="Times New Roman" panose="02020603050405020304" charset="0"/>
              <a:cs typeface="Times New Roman" panose="02020603050405020304" charset="0"/>
            </a:endParaRPr>
          </a:p>
        </p:txBody>
      </p:sp>
      <p:sp>
        <p:nvSpPr>
          <p:cNvPr id="14" name="任意多边形: 形状 53"/>
          <p:cNvSpPr/>
          <p:nvPr>
            <p:custDataLst>
              <p:tags r:id="rId9"/>
            </p:custDataLst>
          </p:nvPr>
        </p:nvSpPr>
        <p:spPr>
          <a:xfrm>
            <a:off x="4852794" y="5088633"/>
            <a:ext cx="735641" cy="570711"/>
          </a:xfrm>
          <a:custGeom>
            <a:avLst/>
            <a:gdLst>
              <a:gd name="connsiteX0" fmla="*/ 0 w 1047166"/>
              <a:gd name="connsiteY0" fmla="*/ 1045294 h 1132236"/>
              <a:gd name="connsiteX1" fmla="*/ 0 w 1047166"/>
              <a:gd name="connsiteY1" fmla="*/ 1045295 h 1132236"/>
              <a:gd name="connsiteX2" fmla="*/ 0 w 1047166"/>
              <a:gd name="connsiteY2" fmla="*/ 1045295 h 1132236"/>
              <a:gd name="connsiteX3" fmla="*/ 1045295 w 1047166"/>
              <a:gd name="connsiteY3" fmla="*/ 0 h 1132236"/>
              <a:gd name="connsiteX4" fmla="*/ 1047166 w 1047166"/>
              <a:gd name="connsiteY4" fmla="*/ 0 h 1132236"/>
              <a:gd name="connsiteX5" fmla="*/ 1047166 w 1047166"/>
              <a:gd name="connsiteY5" fmla="*/ 1132236 h 1132236"/>
              <a:gd name="connsiteX6" fmla="*/ 4390 w 1047166"/>
              <a:gd name="connsiteY6" fmla="*/ 1132236 h 1132236"/>
              <a:gd name="connsiteX7" fmla="*/ 0 w 1047166"/>
              <a:gd name="connsiteY7" fmla="*/ 1045295 h 1132236"/>
              <a:gd name="connsiteX8" fmla="*/ 5397 w 1047166"/>
              <a:gd name="connsiteY8" fmla="*/ 938420 h 1132236"/>
              <a:gd name="connsiteX9" fmla="*/ 1045295 w 1047166"/>
              <a:gd name="connsiteY9" fmla="*/ 0 h 113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166" h="1132236">
                <a:moveTo>
                  <a:pt x="0" y="1045294"/>
                </a:moveTo>
                <a:lnTo>
                  <a:pt x="0" y="1045295"/>
                </a:lnTo>
                <a:lnTo>
                  <a:pt x="0" y="1045295"/>
                </a:lnTo>
                <a:close/>
                <a:moveTo>
                  <a:pt x="1045295" y="0"/>
                </a:moveTo>
                <a:lnTo>
                  <a:pt x="1047166" y="0"/>
                </a:lnTo>
                <a:lnTo>
                  <a:pt x="1047166" y="1132236"/>
                </a:lnTo>
                <a:lnTo>
                  <a:pt x="4390" y="1132236"/>
                </a:lnTo>
                <a:lnTo>
                  <a:pt x="0" y="1045295"/>
                </a:lnTo>
                <a:lnTo>
                  <a:pt x="5397" y="938420"/>
                </a:lnTo>
                <a:cubicBezTo>
                  <a:pt x="58927" y="411324"/>
                  <a:pt x="504076" y="0"/>
                  <a:pt x="1045295"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none" lIns="144000" tIns="324000" rIns="0" bIns="47486" rtlCol="0" anchor="ctr">
            <a:noAutofit/>
          </a:bodyPr>
          <a:p>
            <a:pPr algn="ctr"/>
            <a:r>
              <a:rPr lang="en-US" b="1" dirty="0">
                <a:solidFill>
                  <a:schemeClr val="bg1"/>
                </a:solidFill>
                <a:latin typeface="Times New Roman" panose="02020603050405020304" charset="0"/>
                <a:cs typeface="Times New Roman" panose="02020603050405020304" charset="0"/>
              </a:rPr>
              <a:t>03</a:t>
            </a:r>
            <a:endParaRPr lang="en-US" b="1" dirty="0">
              <a:solidFill>
                <a:schemeClr val="bg1"/>
              </a:solidFill>
              <a:latin typeface="Times New Roman" panose="02020603050405020304" charset="0"/>
              <a:cs typeface="Times New Roman" panose="02020603050405020304" charset="0"/>
            </a:endParaRPr>
          </a:p>
        </p:txBody>
      </p:sp>
      <p:sp>
        <p:nvSpPr>
          <p:cNvPr id="15" name="任意多边形: 形状 53"/>
          <p:cNvSpPr/>
          <p:nvPr>
            <p:custDataLst>
              <p:tags r:id="rId10"/>
            </p:custDataLst>
          </p:nvPr>
        </p:nvSpPr>
        <p:spPr>
          <a:xfrm>
            <a:off x="9608160" y="2786215"/>
            <a:ext cx="735641" cy="570711"/>
          </a:xfrm>
          <a:custGeom>
            <a:avLst/>
            <a:gdLst>
              <a:gd name="connsiteX0" fmla="*/ 0 w 1047166"/>
              <a:gd name="connsiteY0" fmla="*/ 1045294 h 1132236"/>
              <a:gd name="connsiteX1" fmla="*/ 0 w 1047166"/>
              <a:gd name="connsiteY1" fmla="*/ 1045295 h 1132236"/>
              <a:gd name="connsiteX2" fmla="*/ 0 w 1047166"/>
              <a:gd name="connsiteY2" fmla="*/ 1045295 h 1132236"/>
              <a:gd name="connsiteX3" fmla="*/ 1045295 w 1047166"/>
              <a:gd name="connsiteY3" fmla="*/ 0 h 1132236"/>
              <a:gd name="connsiteX4" fmla="*/ 1047166 w 1047166"/>
              <a:gd name="connsiteY4" fmla="*/ 0 h 1132236"/>
              <a:gd name="connsiteX5" fmla="*/ 1047166 w 1047166"/>
              <a:gd name="connsiteY5" fmla="*/ 1132236 h 1132236"/>
              <a:gd name="connsiteX6" fmla="*/ 4390 w 1047166"/>
              <a:gd name="connsiteY6" fmla="*/ 1132236 h 1132236"/>
              <a:gd name="connsiteX7" fmla="*/ 0 w 1047166"/>
              <a:gd name="connsiteY7" fmla="*/ 1045295 h 1132236"/>
              <a:gd name="connsiteX8" fmla="*/ 5397 w 1047166"/>
              <a:gd name="connsiteY8" fmla="*/ 938420 h 1132236"/>
              <a:gd name="connsiteX9" fmla="*/ 1045295 w 1047166"/>
              <a:gd name="connsiteY9" fmla="*/ 0 h 113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166" h="1132236">
                <a:moveTo>
                  <a:pt x="0" y="1045294"/>
                </a:moveTo>
                <a:lnTo>
                  <a:pt x="0" y="1045295"/>
                </a:lnTo>
                <a:lnTo>
                  <a:pt x="0" y="1045295"/>
                </a:lnTo>
                <a:close/>
                <a:moveTo>
                  <a:pt x="1045295" y="0"/>
                </a:moveTo>
                <a:lnTo>
                  <a:pt x="1047166" y="0"/>
                </a:lnTo>
                <a:lnTo>
                  <a:pt x="1047166" y="1132236"/>
                </a:lnTo>
                <a:lnTo>
                  <a:pt x="4390" y="1132236"/>
                </a:lnTo>
                <a:lnTo>
                  <a:pt x="0" y="1045295"/>
                </a:lnTo>
                <a:lnTo>
                  <a:pt x="5397" y="938420"/>
                </a:lnTo>
                <a:cubicBezTo>
                  <a:pt x="58927" y="411324"/>
                  <a:pt x="504076" y="0"/>
                  <a:pt x="1045295"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none" lIns="144000" tIns="324000" rIns="0" bIns="47486" rtlCol="0" anchor="ctr">
            <a:noAutofit/>
          </a:bodyPr>
          <a:p>
            <a:pPr algn="ctr"/>
            <a:r>
              <a:rPr lang="en-US" b="1" dirty="0">
                <a:solidFill>
                  <a:schemeClr val="bg1"/>
                </a:solidFill>
                <a:latin typeface="Times New Roman" panose="02020603050405020304" charset="0"/>
                <a:cs typeface="Times New Roman" panose="02020603050405020304" charset="0"/>
              </a:rPr>
              <a:t>04</a:t>
            </a:r>
            <a:endParaRPr lang="en-US" b="1" dirty="0">
              <a:solidFill>
                <a:schemeClr val="bg1"/>
              </a:solidFill>
              <a:latin typeface="Times New Roman" panose="02020603050405020304" charset="0"/>
              <a:cs typeface="Times New Roman" panose="02020603050405020304" charset="0"/>
            </a:endParaRPr>
          </a:p>
        </p:txBody>
      </p:sp>
      <p:sp>
        <p:nvSpPr>
          <p:cNvPr id="17" name="任意多边形: 形状 53"/>
          <p:cNvSpPr/>
          <p:nvPr>
            <p:custDataLst>
              <p:tags r:id="rId11"/>
            </p:custDataLst>
          </p:nvPr>
        </p:nvSpPr>
        <p:spPr>
          <a:xfrm>
            <a:off x="9608160" y="3939647"/>
            <a:ext cx="735641" cy="570711"/>
          </a:xfrm>
          <a:custGeom>
            <a:avLst/>
            <a:gdLst>
              <a:gd name="connsiteX0" fmla="*/ 0 w 1047166"/>
              <a:gd name="connsiteY0" fmla="*/ 1045294 h 1132236"/>
              <a:gd name="connsiteX1" fmla="*/ 0 w 1047166"/>
              <a:gd name="connsiteY1" fmla="*/ 1045295 h 1132236"/>
              <a:gd name="connsiteX2" fmla="*/ 0 w 1047166"/>
              <a:gd name="connsiteY2" fmla="*/ 1045295 h 1132236"/>
              <a:gd name="connsiteX3" fmla="*/ 1045295 w 1047166"/>
              <a:gd name="connsiteY3" fmla="*/ 0 h 1132236"/>
              <a:gd name="connsiteX4" fmla="*/ 1047166 w 1047166"/>
              <a:gd name="connsiteY4" fmla="*/ 0 h 1132236"/>
              <a:gd name="connsiteX5" fmla="*/ 1047166 w 1047166"/>
              <a:gd name="connsiteY5" fmla="*/ 1132236 h 1132236"/>
              <a:gd name="connsiteX6" fmla="*/ 4390 w 1047166"/>
              <a:gd name="connsiteY6" fmla="*/ 1132236 h 1132236"/>
              <a:gd name="connsiteX7" fmla="*/ 0 w 1047166"/>
              <a:gd name="connsiteY7" fmla="*/ 1045295 h 1132236"/>
              <a:gd name="connsiteX8" fmla="*/ 5397 w 1047166"/>
              <a:gd name="connsiteY8" fmla="*/ 938420 h 1132236"/>
              <a:gd name="connsiteX9" fmla="*/ 1045295 w 1047166"/>
              <a:gd name="connsiteY9" fmla="*/ 0 h 113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166" h="1132236">
                <a:moveTo>
                  <a:pt x="0" y="1045294"/>
                </a:moveTo>
                <a:lnTo>
                  <a:pt x="0" y="1045295"/>
                </a:lnTo>
                <a:lnTo>
                  <a:pt x="0" y="1045295"/>
                </a:lnTo>
                <a:close/>
                <a:moveTo>
                  <a:pt x="1045295" y="0"/>
                </a:moveTo>
                <a:lnTo>
                  <a:pt x="1047166" y="0"/>
                </a:lnTo>
                <a:lnTo>
                  <a:pt x="1047166" y="1132236"/>
                </a:lnTo>
                <a:lnTo>
                  <a:pt x="4390" y="1132236"/>
                </a:lnTo>
                <a:lnTo>
                  <a:pt x="0" y="1045295"/>
                </a:lnTo>
                <a:lnTo>
                  <a:pt x="5397" y="938420"/>
                </a:lnTo>
                <a:cubicBezTo>
                  <a:pt x="58927" y="411324"/>
                  <a:pt x="504076" y="0"/>
                  <a:pt x="1045295"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none" lIns="144000" tIns="324000" rIns="0" bIns="47486" rtlCol="0" anchor="ctr">
            <a:noAutofit/>
          </a:bodyPr>
          <a:p>
            <a:pPr algn="ctr"/>
            <a:r>
              <a:rPr lang="en-US" b="1" dirty="0">
                <a:solidFill>
                  <a:schemeClr val="bg1"/>
                </a:solidFill>
                <a:latin typeface="Times New Roman" panose="02020603050405020304" charset="0"/>
                <a:cs typeface="Times New Roman" panose="02020603050405020304" charset="0"/>
              </a:rPr>
              <a:t>05</a:t>
            </a:r>
            <a:endParaRPr lang="en-US" b="1" dirty="0">
              <a:solidFill>
                <a:schemeClr val="bg1"/>
              </a:solidFill>
              <a:latin typeface="Times New Roman" panose="02020603050405020304" charset="0"/>
              <a:cs typeface="Times New Roman" panose="02020603050405020304" charset="0"/>
            </a:endParaRPr>
          </a:p>
        </p:txBody>
      </p:sp>
      <p:sp>
        <p:nvSpPr>
          <p:cNvPr id="18" name="任意多边形: 形状 53"/>
          <p:cNvSpPr/>
          <p:nvPr>
            <p:custDataLst>
              <p:tags r:id="rId12"/>
            </p:custDataLst>
          </p:nvPr>
        </p:nvSpPr>
        <p:spPr>
          <a:xfrm>
            <a:off x="9608160" y="5093079"/>
            <a:ext cx="735641" cy="570711"/>
          </a:xfrm>
          <a:custGeom>
            <a:avLst/>
            <a:gdLst>
              <a:gd name="connsiteX0" fmla="*/ 0 w 1047166"/>
              <a:gd name="connsiteY0" fmla="*/ 1045294 h 1132236"/>
              <a:gd name="connsiteX1" fmla="*/ 0 w 1047166"/>
              <a:gd name="connsiteY1" fmla="*/ 1045295 h 1132236"/>
              <a:gd name="connsiteX2" fmla="*/ 0 w 1047166"/>
              <a:gd name="connsiteY2" fmla="*/ 1045295 h 1132236"/>
              <a:gd name="connsiteX3" fmla="*/ 1045295 w 1047166"/>
              <a:gd name="connsiteY3" fmla="*/ 0 h 1132236"/>
              <a:gd name="connsiteX4" fmla="*/ 1047166 w 1047166"/>
              <a:gd name="connsiteY4" fmla="*/ 0 h 1132236"/>
              <a:gd name="connsiteX5" fmla="*/ 1047166 w 1047166"/>
              <a:gd name="connsiteY5" fmla="*/ 1132236 h 1132236"/>
              <a:gd name="connsiteX6" fmla="*/ 4390 w 1047166"/>
              <a:gd name="connsiteY6" fmla="*/ 1132236 h 1132236"/>
              <a:gd name="connsiteX7" fmla="*/ 0 w 1047166"/>
              <a:gd name="connsiteY7" fmla="*/ 1045295 h 1132236"/>
              <a:gd name="connsiteX8" fmla="*/ 5397 w 1047166"/>
              <a:gd name="connsiteY8" fmla="*/ 938420 h 1132236"/>
              <a:gd name="connsiteX9" fmla="*/ 1045295 w 1047166"/>
              <a:gd name="connsiteY9" fmla="*/ 0 h 1132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7166" h="1132236">
                <a:moveTo>
                  <a:pt x="0" y="1045294"/>
                </a:moveTo>
                <a:lnTo>
                  <a:pt x="0" y="1045295"/>
                </a:lnTo>
                <a:lnTo>
                  <a:pt x="0" y="1045295"/>
                </a:lnTo>
                <a:close/>
                <a:moveTo>
                  <a:pt x="1045295" y="0"/>
                </a:moveTo>
                <a:lnTo>
                  <a:pt x="1047166" y="0"/>
                </a:lnTo>
                <a:lnTo>
                  <a:pt x="1047166" y="1132236"/>
                </a:lnTo>
                <a:lnTo>
                  <a:pt x="4390" y="1132236"/>
                </a:lnTo>
                <a:lnTo>
                  <a:pt x="0" y="1045295"/>
                </a:lnTo>
                <a:lnTo>
                  <a:pt x="5397" y="938420"/>
                </a:lnTo>
                <a:cubicBezTo>
                  <a:pt x="58927" y="411324"/>
                  <a:pt x="504076" y="0"/>
                  <a:pt x="1045295" y="0"/>
                </a:cubicBezTo>
                <a:close/>
              </a:path>
            </a:pathLst>
          </a:custGeom>
          <a:solidFill>
            <a:schemeClr val="accent1"/>
          </a:solidFill>
          <a:ln>
            <a:noFill/>
          </a:ln>
        </p:spPr>
        <p:style>
          <a:lnRef idx="2">
            <a:srgbClr val="376FFF">
              <a:shade val="50000"/>
            </a:srgbClr>
          </a:lnRef>
          <a:fillRef idx="1">
            <a:srgbClr val="376FFF"/>
          </a:fillRef>
          <a:effectRef idx="0">
            <a:srgbClr val="376FFF"/>
          </a:effectRef>
          <a:fontRef idx="minor">
            <a:srgbClr val="FFFFFF"/>
          </a:fontRef>
        </p:style>
        <p:txBody>
          <a:bodyPr wrap="none" lIns="144000" tIns="324000" rIns="0" bIns="47486" rtlCol="0" anchor="ctr">
            <a:noAutofit/>
          </a:bodyPr>
          <a:p>
            <a:pPr algn="ctr"/>
            <a:r>
              <a:rPr lang="en-US" b="1" dirty="0">
                <a:solidFill>
                  <a:schemeClr val="bg1"/>
                </a:solidFill>
                <a:latin typeface="Times New Roman" panose="02020603050405020304" charset="0"/>
                <a:cs typeface="Times New Roman" panose="02020603050405020304" charset="0"/>
              </a:rPr>
              <a:t>06</a:t>
            </a:r>
            <a:endParaRPr lang="en-US" b="1" dirty="0">
              <a:solidFill>
                <a:schemeClr val="bg1"/>
              </a:solidFill>
              <a:latin typeface="Times New Roman" panose="02020603050405020304" charset="0"/>
              <a:cs typeface="Times New Roman" panose="02020603050405020304" charset="0"/>
            </a:endParaRPr>
          </a:p>
        </p:txBody>
      </p:sp>
      <p:sp>
        <p:nvSpPr>
          <p:cNvPr id="19" name="Text Box 18"/>
          <p:cNvSpPr txBox="1"/>
          <p:nvPr/>
        </p:nvSpPr>
        <p:spPr>
          <a:xfrm>
            <a:off x="1017270" y="6007735"/>
            <a:ext cx="9948545" cy="368300"/>
          </a:xfrm>
          <a:prstGeom prst="rect">
            <a:avLst/>
          </a:prstGeom>
          <a:noFill/>
        </p:spPr>
        <p:txBody>
          <a:bodyPr wrap="square" rtlCol="0">
            <a:spAutoFit/>
          </a:bodyPr>
          <a:p>
            <a:r>
              <a:rPr lang="en-US" altLang="en-US">
                <a:solidFill>
                  <a:schemeClr val="tx1"/>
                </a:solidFill>
                <a:latin typeface="Times New Roman" panose="02020603050405020304" charset="0"/>
                <a:cs typeface="Times New Roman" panose="02020603050405020304" charset="0"/>
              </a:rPr>
              <a:t>The resulting insights formed the foundation of the interactive Power BI dashboard.</a:t>
            </a:r>
            <a:endParaRPr lang="en-US" altLang="en-US">
              <a:solidFill>
                <a:schemeClr val="tx1"/>
              </a:solidFill>
              <a:latin typeface="Times New Roman" panose="02020603050405020304" charset="0"/>
              <a:cs typeface="Times New Roman" panose="02020603050405020304" charset="0"/>
            </a:endParaRPr>
          </a:p>
        </p:txBody>
      </p:sp>
    </p:spTree>
    <p:custDataLst>
      <p:tags r:id="rId1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sz="half" idx="2"/>
            <p:custDataLst>
              <p:tags r:id="rId1"/>
            </p:custDataLst>
          </p:nvPr>
        </p:nvSpPr>
        <p:spPr>
          <a:xfrm>
            <a:off x="996315" y="1079500"/>
            <a:ext cx="9946005" cy="438150"/>
          </a:xfrm>
        </p:spPr>
        <p:txBody>
          <a:bodyPr>
            <a:noAutofit/>
          </a:bodyPr>
          <a:p>
            <a:pPr marL="0" indent="0"/>
            <a:r>
              <a:rPr lang="en-US" altLang="en-US" sz="1900"/>
              <a:t>Business Question 1: How is the business performing overall?</a:t>
            </a:r>
            <a:endParaRPr lang="en-US" altLang="en-US" sz="1900"/>
          </a:p>
        </p:txBody>
      </p:sp>
      <p:sp>
        <p:nvSpPr>
          <p:cNvPr id="8" name="Text Box 7"/>
          <p:cNvSpPr txBox="1"/>
          <p:nvPr/>
        </p:nvSpPr>
        <p:spPr>
          <a:xfrm>
            <a:off x="3989705" y="530860"/>
            <a:ext cx="4772025" cy="548640"/>
          </a:xfrm>
          <a:prstGeom prst="rect">
            <a:avLst/>
          </a:prstGeom>
          <a:noFill/>
        </p:spPr>
        <p:txBody>
          <a:bodyPr wrap="square" rtlCol="0">
            <a:noAutofit/>
          </a:bodyPr>
          <a:p>
            <a:pPr algn="ctr"/>
            <a:r>
              <a:rPr lang="en-US" sz="2800" b="1">
                <a:solidFill>
                  <a:schemeClr val="accent1"/>
                </a:solidFill>
                <a:latin typeface="Times New Roman" panose="02020603050405020304" charset="0"/>
                <a:cs typeface="Times New Roman" panose="02020603050405020304" charset="0"/>
              </a:rPr>
              <a:t>Executive </a:t>
            </a:r>
            <a:r>
              <a:rPr lang="en-US" sz="2800" b="1">
                <a:solidFill>
                  <a:schemeClr val="accent1"/>
                </a:solidFill>
                <a:latin typeface="Times New Roman" panose="02020603050405020304" charset="0"/>
                <a:cs typeface="Times New Roman" panose="02020603050405020304" charset="0"/>
                <a:sym typeface="+mn-ea"/>
              </a:rPr>
              <a:t>Insight</a:t>
            </a:r>
            <a:endParaRPr lang="en-US" sz="2800" b="1">
              <a:solidFill>
                <a:schemeClr val="accent1"/>
              </a:solidFill>
              <a:latin typeface="Times New Roman" panose="02020603050405020304" charset="0"/>
              <a:cs typeface="Times New Roman" panose="02020603050405020304" charset="0"/>
              <a:sym typeface="+mn-ea"/>
            </a:endParaRPr>
          </a:p>
        </p:txBody>
      </p:sp>
      <p:sp>
        <p:nvSpPr>
          <p:cNvPr id="6" name="Text Placeholder 2"/>
          <p:cNvSpPr>
            <a:spLocks noGrp="1"/>
          </p:cNvSpPr>
          <p:nvPr>
            <p:custDataLst>
              <p:tags r:id="rId2"/>
            </p:custDataLst>
          </p:nvPr>
        </p:nvSpPr>
        <p:spPr>
          <a:xfrm>
            <a:off x="1123315" y="1754505"/>
            <a:ext cx="9946005" cy="4391025"/>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altLang="en-US" sz="1800">
                <a:solidFill>
                  <a:srgbClr val="F3990B"/>
                </a:solidFill>
                <a:latin typeface="Arial" panose="020B0604020202020204" pitchFamily="34" charset="0"/>
                <a:cs typeface="Arial" panose="020B0604020202020204" pitchFamily="34" charset="0"/>
              </a:rPr>
              <a:t>Finding</a:t>
            </a:r>
            <a:endParaRPr lang="en-US" altLang="en-US" sz="1800">
              <a:solidFill>
                <a:srgbClr val="F3990B"/>
              </a:solidFill>
              <a:latin typeface="Arial" panose="020B0604020202020204" pitchFamily="34" charset="0"/>
              <a:cs typeface="Arial" panose="020B0604020202020204" pitchFamily="34" charset="0"/>
            </a:endParaRPr>
          </a:p>
          <a:p>
            <a:pPr marL="0" indent="0"/>
            <a:r>
              <a:rPr lang="en-US" altLang="en-US" sz="1800">
                <a:solidFill>
                  <a:schemeClr val="tx1"/>
                </a:solidFill>
                <a:latin typeface="Arial" panose="020B0604020202020204" pitchFamily="34" charset="0"/>
                <a:cs typeface="Arial" panose="020B0604020202020204" pitchFamily="34" charset="0"/>
              </a:rPr>
              <a:t>Sales increased steadily between 2011 and 2014, with 2014 recording the strongest overall performance. The business also exhibits a clear seasonal trend, as Q4, particularly November and December, consistently generated the highest sales, with November 2014 reaching a peak of 555,312.</a:t>
            </a:r>
            <a:endParaRPr lang="en-US" altLang="en-US" sz="1800">
              <a:solidFill>
                <a:schemeClr val="tx1"/>
              </a:solidFill>
              <a:latin typeface="Arial" panose="020B0604020202020204" pitchFamily="34" charset="0"/>
              <a:cs typeface="Arial" panose="020B0604020202020204" pitchFamily="34" charset="0"/>
            </a:endParaRPr>
          </a:p>
          <a:p>
            <a:pPr marL="0" indent="0"/>
            <a:endParaRPr lang="en-US" altLang="en-US" sz="1800">
              <a:solidFill>
                <a:schemeClr val="tx1"/>
              </a:solidFill>
              <a:latin typeface="Arial" panose="020B0604020202020204" pitchFamily="34" charset="0"/>
              <a:cs typeface="Arial" panose="020B0604020202020204" pitchFamily="34" charset="0"/>
            </a:endParaRPr>
          </a:p>
          <a:p>
            <a:pPr marL="0" indent="0"/>
            <a:r>
              <a:rPr lang="en-US" altLang="en-US" sz="1800">
                <a:solidFill>
                  <a:srgbClr val="F3990B"/>
                </a:solidFill>
                <a:latin typeface="Arial" panose="020B0604020202020204" pitchFamily="34" charset="0"/>
                <a:cs typeface="Arial" panose="020B0604020202020204" pitchFamily="34" charset="0"/>
              </a:rPr>
              <a:t>Business Impact</a:t>
            </a:r>
            <a:endParaRPr lang="en-US" altLang="en-US" sz="1800">
              <a:solidFill>
                <a:srgbClr val="F3990B"/>
              </a:solidFill>
              <a:latin typeface="Arial" panose="020B0604020202020204" pitchFamily="34" charset="0"/>
              <a:cs typeface="Arial" panose="020B0604020202020204" pitchFamily="34" charset="0"/>
            </a:endParaRPr>
          </a:p>
          <a:p>
            <a:pPr marL="0" indent="0"/>
            <a:r>
              <a:rPr lang="en-US" altLang="en-US" sz="1800">
                <a:solidFill>
                  <a:schemeClr val="tx1"/>
                </a:solidFill>
                <a:latin typeface="Arial" panose="020B0604020202020204" pitchFamily="34" charset="0"/>
                <a:cs typeface="Arial" panose="020B0604020202020204" pitchFamily="34" charset="0"/>
              </a:rPr>
              <a:t>The recurring Q4 sales surge presents an opportunity to maximize revenue through proactive inventory planning, marketing campaigns, and staffing.</a:t>
            </a:r>
            <a:endParaRPr lang="en-US"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sz="half" idx="2"/>
            <p:custDataLst>
              <p:tags r:id="rId1"/>
            </p:custDataLst>
          </p:nvPr>
        </p:nvSpPr>
        <p:spPr>
          <a:xfrm>
            <a:off x="996315" y="876935"/>
            <a:ext cx="9946005" cy="694690"/>
          </a:xfrm>
        </p:spPr>
        <p:txBody>
          <a:bodyPr>
            <a:noAutofit/>
          </a:bodyPr>
          <a:p>
            <a:pPr marL="0" indent="0"/>
            <a:r>
              <a:rPr lang="en-US" altLang="en-US" sz="1900">
                <a:solidFill>
                  <a:schemeClr val="tx1"/>
                </a:solidFill>
                <a:latin typeface="Arial" panose="020B0604020202020204" pitchFamily="34" charset="0"/>
                <a:cs typeface="Arial" panose="020B0604020202020204" pitchFamily="34" charset="0"/>
              </a:rPr>
              <a:t>Business Question 2: Which regions, categories, and customer segments generate the highest revenue?</a:t>
            </a:r>
            <a:endParaRPr lang="en-US" altLang="en-US" sz="1900">
              <a:solidFill>
                <a:schemeClr val="tx1"/>
              </a:solidFill>
              <a:latin typeface="Arial" panose="020B0604020202020204" pitchFamily="34" charset="0"/>
              <a:cs typeface="Arial" panose="020B0604020202020204" pitchFamily="34" charset="0"/>
            </a:endParaRPr>
          </a:p>
        </p:txBody>
      </p:sp>
      <p:sp>
        <p:nvSpPr>
          <p:cNvPr id="6" name="Text Placeholder 2"/>
          <p:cNvSpPr>
            <a:spLocks noGrp="1"/>
          </p:cNvSpPr>
          <p:nvPr>
            <p:custDataLst>
              <p:tags r:id="rId2"/>
            </p:custDataLst>
          </p:nvPr>
        </p:nvSpPr>
        <p:spPr>
          <a:xfrm>
            <a:off x="1123315" y="2075180"/>
            <a:ext cx="9946005" cy="389128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altLang="en-US" sz="1800">
                <a:solidFill>
                  <a:schemeClr val="accent2"/>
                </a:solidFill>
                <a:latin typeface="Arial" panose="020B0604020202020204" pitchFamily="34" charset="0"/>
                <a:cs typeface="Arial" panose="020B0604020202020204" pitchFamily="34" charset="0"/>
              </a:rPr>
              <a:t>Finding</a:t>
            </a:r>
            <a:endParaRPr lang="en-US" altLang="en-US" sz="1800">
              <a:solidFill>
                <a:schemeClr val="accent2"/>
              </a:solidFill>
              <a:latin typeface="Arial" panose="020B0604020202020204" pitchFamily="34" charset="0"/>
              <a:cs typeface="Arial" panose="020B0604020202020204" pitchFamily="34" charset="0"/>
            </a:endParaRPr>
          </a:p>
          <a:p>
            <a:pPr marL="0" indent="0"/>
            <a:r>
              <a:rPr lang="en-US" altLang="en-US" sz="1800">
                <a:solidFill>
                  <a:schemeClr val="tx1"/>
                </a:solidFill>
                <a:latin typeface="Arial" panose="020B0604020202020204" pitchFamily="34" charset="0"/>
                <a:cs typeface="Arial" panose="020B0604020202020204" pitchFamily="34" charset="0"/>
              </a:rPr>
              <a:t>The Central region generated the highest revenue (2.82M), while the United States emerged as the company's strongest market (2.30M). Across customer segments, the Consumer segment contributed the largest share of revenue.</a:t>
            </a:r>
            <a:endParaRPr lang="en-US" altLang="en-US" sz="1800">
              <a:solidFill>
                <a:schemeClr val="tx1"/>
              </a:solidFill>
              <a:latin typeface="Arial" panose="020B0604020202020204" pitchFamily="34" charset="0"/>
              <a:cs typeface="Arial" panose="020B0604020202020204" pitchFamily="34" charset="0"/>
            </a:endParaRPr>
          </a:p>
          <a:p>
            <a:pPr marL="0" indent="0"/>
            <a:endParaRPr lang="en-US" altLang="en-US" sz="1800">
              <a:solidFill>
                <a:schemeClr val="tx1"/>
              </a:solidFill>
              <a:latin typeface="Arial" panose="020B0604020202020204" pitchFamily="34" charset="0"/>
              <a:cs typeface="Arial" panose="020B0604020202020204" pitchFamily="34" charset="0"/>
            </a:endParaRPr>
          </a:p>
          <a:p>
            <a:pPr marL="0" indent="0"/>
            <a:r>
              <a:rPr lang="en-US" altLang="en-US" sz="1800">
                <a:solidFill>
                  <a:schemeClr val="accent2"/>
                </a:solidFill>
                <a:latin typeface="Arial" panose="020B0604020202020204" pitchFamily="34" charset="0"/>
                <a:cs typeface="Arial" panose="020B0604020202020204" pitchFamily="34" charset="0"/>
              </a:rPr>
              <a:t>Business Impact</a:t>
            </a:r>
            <a:endParaRPr lang="en-US" altLang="en-US" sz="1800">
              <a:solidFill>
                <a:schemeClr val="accent2"/>
              </a:solidFill>
              <a:latin typeface="Arial" panose="020B0604020202020204" pitchFamily="34" charset="0"/>
              <a:cs typeface="Arial" panose="020B0604020202020204" pitchFamily="34" charset="0"/>
            </a:endParaRPr>
          </a:p>
          <a:p>
            <a:pPr marL="0" indent="0"/>
            <a:r>
              <a:rPr lang="en-US" altLang="en-US" sz="1800">
                <a:solidFill>
                  <a:schemeClr val="tx1"/>
                </a:solidFill>
                <a:latin typeface="Arial" panose="020B0604020202020204" pitchFamily="34" charset="0"/>
                <a:cs typeface="Arial" panose="020B0604020202020204" pitchFamily="34" charset="0"/>
              </a:rPr>
              <a:t>The Central region, United States, and Consumer segment represent the company's primary revenue drivers and should remain strategic priorities for investment and customer retention.</a:t>
            </a:r>
            <a:endParaRPr lang="en-US" altLang="en-US" sz="1800">
              <a:solidFill>
                <a:schemeClr val="tx1"/>
              </a:solidFill>
              <a:latin typeface="Arial" panose="020B0604020202020204" pitchFamily="34" charset="0"/>
              <a:cs typeface="Arial" panose="020B0604020202020204" pitchFamily="34" charset="0"/>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sz="half" idx="2"/>
            <p:custDataLst>
              <p:tags r:id="rId1"/>
            </p:custDataLst>
          </p:nvPr>
        </p:nvSpPr>
        <p:spPr>
          <a:xfrm>
            <a:off x="996315" y="1079500"/>
            <a:ext cx="9946005" cy="438150"/>
          </a:xfrm>
        </p:spPr>
        <p:txBody>
          <a:bodyPr>
            <a:noAutofit/>
          </a:bodyPr>
          <a:p>
            <a:pPr marL="0" indent="0"/>
            <a:r>
              <a:rPr lang="en-US" altLang="en-US" sz="1900">
                <a:solidFill>
                  <a:schemeClr val="tx1"/>
                </a:solidFill>
                <a:latin typeface="Arial" panose="020B0604020202020204" pitchFamily="34" charset="0"/>
                <a:cs typeface="Arial" panose="020B0604020202020204" pitchFamily="34" charset="0"/>
              </a:rPr>
              <a:t>Business Question 3: Which product categories contribute the most to profit?</a:t>
            </a:r>
            <a:endParaRPr lang="en-US" altLang="en-US" sz="1900">
              <a:solidFill>
                <a:schemeClr val="tx1"/>
              </a:solidFill>
              <a:latin typeface="Arial" panose="020B0604020202020204" pitchFamily="34" charset="0"/>
              <a:cs typeface="Arial" panose="020B0604020202020204" pitchFamily="34" charset="0"/>
            </a:endParaRPr>
          </a:p>
        </p:txBody>
      </p:sp>
      <p:sp>
        <p:nvSpPr>
          <p:cNvPr id="6" name="Text Placeholder 2"/>
          <p:cNvSpPr>
            <a:spLocks noGrp="1"/>
          </p:cNvSpPr>
          <p:nvPr>
            <p:custDataLst>
              <p:tags r:id="rId2"/>
            </p:custDataLst>
          </p:nvPr>
        </p:nvSpPr>
        <p:spPr>
          <a:xfrm>
            <a:off x="1123315" y="1983105"/>
            <a:ext cx="9946005" cy="298450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altLang="en-US" sz="1800">
                <a:solidFill>
                  <a:schemeClr val="accent2"/>
                </a:solidFill>
                <a:latin typeface="Arial" panose="020B0604020202020204" pitchFamily="34" charset="0"/>
                <a:cs typeface="Arial" panose="020B0604020202020204" pitchFamily="34" charset="0"/>
              </a:rPr>
              <a:t>Finding</a:t>
            </a:r>
            <a:endParaRPr lang="en-US" altLang="en-US" sz="1800">
              <a:solidFill>
                <a:schemeClr val="accent2"/>
              </a:solidFill>
              <a:latin typeface="Arial" panose="020B0604020202020204" pitchFamily="34" charset="0"/>
              <a:cs typeface="Arial" panose="020B0604020202020204" pitchFamily="34" charset="0"/>
            </a:endParaRPr>
          </a:p>
          <a:p>
            <a:pPr marL="0" indent="0"/>
            <a:r>
              <a:rPr lang="en-US" altLang="en-US" sz="1800">
                <a:solidFill>
                  <a:schemeClr val="tx1"/>
                </a:solidFill>
                <a:latin typeface="Arial" panose="020B0604020202020204" pitchFamily="34" charset="0"/>
                <a:cs typeface="Arial" panose="020B0604020202020204" pitchFamily="34" charset="0"/>
              </a:rPr>
              <a:t>The Technology category generated the highest profit, making it the company's strongest contributor to overall profitability.</a:t>
            </a:r>
            <a:endParaRPr lang="en-US" altLang="en-US" sz="1800">
              <a:solidFill>
                <a:schemeClr val="tx1"/>
              </a:solidFill>
              <a:latin typeface="Arial" panose="020B0604020202020204" pitchFamily="34" charset="0"/>
              <a:cs typeface="Arial" panose="020B0604020202020204" pitchFamily="34" charset="0"/>
            </a:endParaRPr>
          </a:p>
          <a:p>
            <a:pPr marL="0" indent="0"/>
            <a:endParaRPr lang="en-US" altLang="en-US" sz="1800">
              <a:solidFill>
                <a:schemeClr val="tx1"/>
              </a:solidFill>
              <a:latin typeface="Arial" panose="020B0604020202020204" pitchFamily="34" charset="0"/>
              <a:cs typeface="Arial" panose="020B0604020202020204" pitchFamily="34" charset="0"/>
            </a:endParaRPr>
          </a:p>
          <a:p>
            <a:pPr marL="0" indent="0"/>
            <a:r>
              <a:rPr lang="en-US" altLang="en-US" sz="1800">
                <a:solidFill>
                  <a:schemeClr val="accent2"/>
                </a:solidFill>
                <a:latin typeface="Arial" panose="020B0604020202020204" pitchFamily="34" charset="0"/>
                <a:cs typeface="Arial" panose="020B0604020202020204" pitchFamily="34" charset="0"/>
              </a:rPr>
              <a:t>Business Impact</a:t>
            </a:r>
            <a:endParaRPr lang="en-US" altLang="en-US" sz="1800">
              <a:solidFill>
                <a:schemeClr val="accent2"/>
              </a:solidFill>
              <a:latin typeface="Arial" panose="020B0604020202020204" pitchFamily="34" charset="0"/>
              <a:cs typeface="Arial" panose="020B0604020202020204" pitchFamily="34" charset="0"/>
            </a:endParaRPr>
          </a:p>
          <a:p>
            <a:pPr marL="0" indent="0"/>
            <a:r>
              <a:rPr lang="en-US" altLang="en-US" sz="1800">
                <a:solidFill>
                  <a:schemeClr val="tx1"/>
                </a:solidFill>
                <a:latin typeface="Arial" panose="020B0604020202020204" pitchFamily="34" charset="0"/>
                <a:cs typeface="Arial" panose="020B0604020202020204" pitchFamily="34" charset="0"/>
              </a:rPr>
              <a:t>Technology products should remain a strategic focus while management reviews lower-performing categories to identify opportunities for margin improvement.</a:t>
            </a:r>
            <a:endParaRPr lang="en-US" altLang="en-US" sz="1800">
              <a:solidFill>
                <a:schemeClr val="tx1"/>
              </a:solidFill>
              <a:latin typeface="Arial" panose="020B0604020202020204" pitchFamily="34" charset="0"/>
              <a:cs typeface="Arial" panose="020B0604020202020204" pitchFamily="34" charset="0"/>
            </a:endParaRPr>
          </a:p>
        </p:txBody>
      </p:sp>
      <p:sp>
        <p:nvSpPr>
          <p:cNvPr id="8" name="Text Box 7"/>
          <p:cNvSpPr txBox="1"/>
          <p:nvPr/>
        </p:nvSpPr>
        <p:spPr>
          <a:xfrm>
            <a:off x="3989705" y="530860"/>
            <a:ext cx="4772025" cy="548640"/>
          </a:xfrm>
          <a:prstGeom prst="rect">
            <a:avLst/>
          </a:prstGeom>
          <a:noFill/>
        </p:spPr>
        <p:txBody>
          <a:bodyPr wrap="square" rtlCol="0">
            <a:noAutofit/>
          </a:bodyPr>
          <a:p>
            <a:pPr algn="ctr"/>
            <a:r>
              <a:rPr lang="en-US" sz="2800" b="1">
                <a:solidFill>
                  <a:schemeClr val="accent1"/>
                </a:solidFill>
                <a:latin typeface="Times New Roman" panose="02020603050405020304" charset="0"/>
                <a:cs typeface="Times New Roman" panose="02020603050405020304" charset="0"/>
              </a:rPr>
              <a:t>Profitability Insight</a:t>
            </a:r>
            <a:endParaRPr lang="en-US" sz="2800" b="1">
              <a:solidFill>
                <a:schemeClr val="accent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sz="half" idx="2"/>
            <p:custDataLst>
              <p:tags r:id="rId1"/>
            </p:custDataLst>
          </p:nvPr>
        </p:nvSpPr>
        <p:spPr>
          <a:xfrm>
            <a:off x="996315" y="1079500"/>
            <a:ext cx="9946005" cy="438150"/>
          </a:xfrm>
        </p:spPr>
        <p:txBody>
          <a:bodyPr>
            <a:noAutofit/>
          </a:bodyPr>
          <a:p>
            <a:pPr marL="0" indent="0"/>
            <a:r>
              <a:rPr lang="en-US" altLang="en-US" sz="1900">
                <a:solidFill>
                  <a:schemeClr val="tx1"/>
                </a:solidFill>
                <a:latin typeface="Arial" panose="020B0604020202020204" pitchFamily="34" charset="0"/>
                <a:cs typeface="Arial" panose="020B0604020202020204" pitchFamily="34" charset="0"/>
              </a:rPr>
              <a:t>Business Question 4: How do discounts affect profitability?</a:t>
            </a:r>
            <a:endParaRPr lang="en-US" altLang="en-US" sz="1900">
              <a:solidFill>
                <a:schemeClr val="tx1"/>
              </a:solidFill>
              <a:latin typeface="Arial" panose="020B0604020202020204" pitchFamily="34" charset="0"/>
              <a:cs typeface="Arial" panose="020B0604020202020204" pitchFamily="34" charset="0"/>
            </a:endParaRPr>
          </a:p>
        </p:txBody>
      </p:sp>
      <p:sp>
        <p:nvSpPr>
          <p:cNvPr id="6" name="Text Placeholder 2"/>
          <p:cNvSpPr>
            <a:spLocks noGrp="1"/>
          </p:cNvSpPr>
          <p:nvPr>
            <p:custDataLst>
              <p:tags r:id="rId2"/>
            </p:custDataLst>
          </p:nvPr>
        </p:nvSpPr>
        <p:spPr>
          <a:xfrm>
            <a:off x="1123315" y="1983105"/>
            <a:ext cx="9946005" cy="3603625"/>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altLang="en-US" sz="1800">
                <a:solidFill>
                  <a:schemeClr val="accent2"/>
                </a:solidFill>
                <a:latin typeface="Arial" panose="020B0604020202020204" pitchFamily="34" charset="0"/>
                <a:cs typeface="Arial" panose="020B0604020202020204" pitchFamily="34" charset="0"/>
              </a:rPr>
              <a:t>Finding</a:t>
            </a:r>
            <a:endParaRPr lang="en-US" altLang="en-US" sz="1800">
              <a:solidFill>
                <a:schemeClr val="accent2"/>
              </a:solidFill>
              <a:latin typeface="Arial" panose="020B0604020202020204" pitchFamily="34" charset="0"/>
              <a:cs typeface="Arial" panose="020B0604020202020204" pitchFamily="34" charset="0"/>
            </a:endParaRPr>
          </a:p>
          <a:p>
            <a:pPr marL="0" indent="0"/>
            <a:r>
              <a:rPr lang="en-US" altLang="en-US" sz="1800">
                <a:solidFill>
                  <a:schemeClr val="tx1"/>
                </a:solidFill>
                <a:latin typeface="Arial" panose="020B0604020202020204" pitchFamily="34" charset="0"/>
                <a:cs typeface="Arial" panose="020B0604020202020204" pitchFamily="34" charset="0"/>
              </a:rPr>
              <a:t>The analysis shows a negative relationship between discounts and profit. As discount levels increase, profitability generally declines, with heavily discounted transactions more likely to generate low or negative profits.</a:t>
            </a:r>
            <a:endParaRPr lang="en-US" altLang="en-US" sz="1800">
              <a:solidFill>
                <a:schemeClr val="tx1"/>
              </a:solidFill>
              <a:latin typeface="Arial" panose="020B0604020202020204" pitchFamily="34" charset="0"/>
              <a:cs typeface="Arial" panose="020B0604020202020204" pitchFamily="34" charset="0"/>
            </a:endParaRPr>
          </a:p>
          <a:p>
            <a:pPr marL="0" indent="0"/>
            <a:endParaRPr lang="en-US" altLang="en-US" sz="1800">
              <a:solidFill>
                <a:schemeClr val="tx1"/>
              </a:solidFill>
              <a:latin typeface="Arial" panose="020B0604020202020204" pitchFamily="34" charset="0"/>
              <a:cs typeface="Arial" panose="020B0604020202020204" pitchFamily="34" charset="0"/>
            </a:endParaRPr>
          </a:p>
          <a:p>
            <a:pPr marL="0" indent="0"/>
            <a:r>
              <a:rPr lang="en-US" altLang="en-US" sz="1800">
                <a:solidFill>
                  <a:schemeClr val="accent2"/>
                </a:solidFill>
                <a:latin typeface="Arial" panose="020B0604020202020204" pitchFamily="34" charset="0"/>
                <a:cs typeface="Arial" panose="020B0604020202020204" pitchFamily="34" charset="0"/>
              </a:rPr>
              <a:t>Business Impact</a:t>
            </a:r>
            <a:endParaRPr lang="en-US" altLang="en-US" sz="1800">
              <a:solidFill>
                <a:schemeClr val="accent2"/>
              </a:solidFill>
              <a:latin typeface="Arial" panose="020B0604020202020204" pitchFamily="34" charset="0"/>
              <a:cs typeface="Arial" panose="020B0604020202020204" pitchFamily="34" charset="0"/>
            </a:endParaRPr>
          </a:p>
          <a:p>
            <a:pPr marL="0" indent="0"/>
            <a:r>
              <a:rPr lang="en-US" altLang="en-US" sz="1800">
                <a:solidFill>
                  <a:schemeClr val="tx1"/>
                </a:solidFill>
                <a:latin typeface="Arial" panose="020B0604020202020204" pitchFamily="34" charset="0"/>
                <a:cs typeface="Arial" panose="020B0604020202020204" pitchFamily="34" charset="0"/>
              </a:rPr>
              <a:t>Discounting should be carefully controlled. Establishing discount thresholds and regularly monitoring their impact can help improve overall profit margins.</a:t>
            </a:r>
            <a:endParaRPr lang="en-US" altLang="en-US" sz="1800">
              <a:solidFill>
                <a:schemeClr val="tx1"/>
              </a:solidFill>
              <a:latin typeface="Arial" panose="020B0604020202020204" pitchFamily="34" charset="0"/>
              <a:cs typeface="Arial" panose="020B0604020202020204" pitchFamily="34" charset="0"/>
            </a:endParaRPr>
          </a:p>
        </p:txBody>
      </p:sp>
      <p:sp>
        <p:nvSpPr>
          <p:cNvPr id="8" name="Text Box 7"/>
          <p:cNvSpPr txBox="1"/>
          <p:nvPr/>
        </p:nvSpPr>
        <p:spPr>
          <a:xfrm>
            <a:off x="3989705" y="530860"/>
            <a:ext cx="4772025" cy="548640"/>
          </a:xfrm>
          <a:prstGeom prst="rect">
            <a:avLst/>
          </a:prstGeom>
          <a:noFill/>
        </p:spPr>
        <p:txBody>
          <a:bodyPr wrap="square" rtlCol="0">
            <a:noAutofit/>
          </a:bodyPr>
          <a:p>
            <a:pPr algn="ctr"/>
            <a:r>
              <a:rPr lang="en-US" sz="2800" b="1">
                <a:solidFill>
                  <a:schemeClr val="accent1"/>
                </a:solidFill>
                <a:latin typeface="Times New Roman" panose="02020603050405020304" charset="0"/>
                <a:cs typeface="Times New Roman" panose="02020603050405020304" charset="0"/>
              </a:rPr>
              <a:t>Discount </a:t>
            </a:r>
            <a:r>
              <a:rPr lang="en-US" sz="2800" b="1">
                <a:solidFill>
                  <a:schemeClr val="accent1"/>
                </a:solidFill>
                <a:latin typeface="Times New Roman" panose="02020603050405020304" charset="0"/>
                <a:cs typeface="Times New Roman" panose="02020603050405020304" charset="0"/>
                <a:sym typeface="+mn-ea"/>
              </a:rPr>
              <a:t>Insight</a:t>
            </a:r>
            <a:endParaRPr lang="en-US" sz="2800" b="1">
              <a:solidFill>
                <a:schemeClr val="accent1"/>
              </a:solidFill>
              <a:latin typeface="Times New Roman" panose="02020603050405020304" charset="0"/>
              <a:cs typeface="Times New Roman" panose="02020603050405020304" charset="0"/>
              <a:sym typeface="+mn-ea"/>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sz="half" idx="2"/>
            <p:custDataLst>
              <p:tags r:id="rId1"/>
            </p:custDataLst>
          </p:nvPr>
        </p:nvSpPr>
        <p:spPr>
          <a:xfrm>
            <a:off x="996315" y="1079500"/>
            <a:ext cx="9946005" cy="438150"/>
          </a:xfrm>
        </p:spPr>
        <p:txBody>
          <a:bodyPr>
            <a:noAutofit/>
          </a:bodyPr>
          <a:p>
            <a:pPr marL="0" indent="0"/>
            <a:r>
              <a:rPr lang="en-US" altLang="en-US" sz="1900">
                <a:solidFill>
                  <a:schemeClr val="tx1"/>
                </a:solidFill>
                <a:latin typeface="Arial" panose="020B0604020202020204" pitchFamily="34" charset="0"/>
                <a:cs typeface="Arial" panose="020B0604020202020204" pitchFamily="34" charset="0"/>
              </a:rPr>
              <a:t>Business Question 5: Who are the Company’s most valuable custumers</a:t>
            </a:r>
            <a:endParaRPr lang="en-US" altLang="en-US" sz="1900">
              <a:solidFill>
                <a:schemeClr val="tx1"/>
              </a:solidFill>
              <a:latin typeface="Arial" panose="020B0604020202020204" pitchFamily="34" charset="0"/>
              <a:cs typeface="Arial" panose="020B0604020202020204" pitchFamily="34" charset="0"/>
            </a:endParaRPr>
          </a:p>
        </p:txBody>
      </p:sp>
      <p:sp>
        <p:nvSpPr>
          <p:cNvPr id="6" name="Text Placeholder 2"/>
          <p:cNvSpPr>
            <a:spLocks noGrp="1"/>
          </p:cNvSpPr>
          <p:nvPr>
            <p:custDataLst>
              <p:tags r:id="rId2"/>
            </p:custDataLst>
          </p:nvPr>
        </p:nvSpPr>
        <p:spPr>
          <a:xfrm>
            <a:off x="1105535" y="1840865"/>
            <a:ext cx="9946005" cy="4150360"/>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altLang="en-US" sz="1800">
                <a:solidFill>
                  <a:schemeClr val="tx1"/>
                </a:solidFill>
                <a:latin typeface="Arial" panose="020B0604020202020204" pitchFamily="34" charset="0"/>
                <a:cs typeface="Arial" panose="020B0604020202020204" pitchFamily="34" charset="0"/>
              </a:rPr>
              <a:t>The company serves 795 customers, with revenue concentrated among a relatively small group of high-value accounts. Tom Ashbrook generated the highest sales (40.5K), followed by Tamara Chand, Greg Tran, Christopher Conant, and Sean Miller. While these customers represent only a small fraction of the customer base, they contribute significantly to overall revenue.</a:t>
            </a:r>
            <a:endParaRPr lang="en-US" altLang="en-US" sz="1800">
              <a:solidFill>
                <a:schemeClr val="tx1"/>
              </a:solidFill>
              <a:latin typeface="Arial" panose="020B0604020202020204" pitchFamily="34" charset="0"/>
              <a:cs typeface="Arial" panose="020B0604020202020204" pitchFamily="34" charset="0"/>
            </a:endParaRPr>
          </a:p>
          <a:p>
            <a:pPr marL="0" indent="0"/>
            <a:endParaRPr lang="en-US" altLang="en-US" sz="1800">
              <a:solidFill>
                <a:schemeClr val="tx1"/>
              </a:solidFill>
              <a:latin typeface="Arial" panose="020B0604020202020204" pitchFamily="34" charset="0"/>
              <a:cs typeface="Arial" panose="020B0604020202020204" pitchFamily="34" charset="0"/>
            </a:endParaRPr>
          </a:p>
          <a:p>
            <a:pPr marL="0" indent="0"/>
            <a:r>
              <a:rPr lang="en-US" altLang="en-US" sz="1800">
                <a:solidFill>
                  <a:schemeClr val="accent2"/>
                </a:solidFill>
                <a:latin typeface="Arial" panose="020B0604020202020204" pitchFamily="34" charset="0"/>
                <a:cs typeface="Arial" panose="020B0604020202020204" pitchFamily="34" charset="0"/>
              </a:rPr>
              <a:t>Business Impact</a:t>
            </a:r>
            <a:endParaRPr lang="en-US" altLang="en-US" sz="1800">
              <a:solidFill>
                <a:schemeClr val="accent2"/>
              </a:solidFill>
              <a:latin typeface="Arial" panose="020B0604020202020204" pitchFamily="34" charset="0"/>
              <a:cs typeface="Arial" panose="020B0604020202020204" pitchFamily="34" charset="0"/>
            </a:endParaRPr>
          </a:p>
          <a:p>
            <a:pPr marL="0" indent="0"/>
            <a:r>
              <a:rPr lang="en-US" altLang="en-US" sz="1800">
                <a:solidFill>
                  <a:schemeClr val="tx1"/>
                </a:solidFill>
                <a:latin typeface="Arial" panose="020B0604020202020204" pitchFamily="34" charset="0"/>
                <a:cs typeface="Arial" panose="020B0604020202020204" pitchFamily="34" charset="0"/>
              </a:rPr>
              <a:t>Retaining high-value customers should be a strategic priority. Strengthening relationships through loyalty programs, personalized engagement, and dedicated account management can help protect revenue while reducing customer churn.</a:t>
            </a:r>
            <a:endParaRPr lang="en-US" altLang="en-US" sz="1800">
              <a:solidFill>
                <a:schemeClr val="tx1"/>
              </a:solidFill>
              <a:latin typeface="Arial" panose="020B0604020202020204" pitchFamily="34" charset="0"/>
              <a:cs typeface="Arial" panose="020B0604020202020204" pitchFamily="34" charset="0"/>
            </a:endParaRPr>
          </a:p>
        </p:txBody>
      </p:sp>
      <p:sp>
        <p:nvSpPr>
          <p:cNvPr id="8" name="Text Box 7"/>
          <p:cNvSpPr txBox="1"/>
          <p:nvPr/>
        </p:nvSpPr>
        <p:spPr>
          <a:xfrm>
            <a:off x="3709670" y="530860"/>
            <a:ext cx="4772025" cy="548640"/>
          </a:xfrm>
          <a:prstGeom prst="rect">
            <a:avLst/>
          </a:prstGeom>
          <a:noFill/>
        </p:spPr>
        <p:txBody>
          <a:bodyPr wrap="square" rtlCol="0">
            <a:noAutofit/>
          </a:bodyPr>
          <a:p>
            <a:pPr algn="ctr"/>
            <a:r>
              <a:rPr lang="en-US" sz="2800" b="1">
                <a:solidFill>
                  <a:schemeClr val="accent1"/>
                </a:solidFill>
                <a:latin typeface="Times New Roman" panose="02020603050405020304" charset="0"/>
                <a:cs typeface="Times New Roman" panose="02020603050405020304" charset="0"/>
              </a:rPr>
              <a:t>Customer </a:t>
            </a:r>
            <a:r>
              <a:rPr lang="en-US" sz="2800" b="1">
                <a:solidFill>
                  <a:schemeClr val="accent1"/>
                </a:solidFill>
                <a:latin typeface="Times New Roman" panose="02020603050405020304" charset="0"/>
                <a:cs typeface="Times New Roman" panose="02020603050405020304" charset="0"/>
                <a:sym typeface="+mn-ea"/>
              </a:rPr>
              <a:t>Insight</a:t>
            </a:r>
            <a:endParaRPr lang="en-US" sz="2800" b="1">
              <a:solidFill>
                <a:schemeClr val="accent1"/>
              </a:solidFill>
              <a:latin typeface="Times New Roman" panose="02020603050405020304" charset="0"/>
              <a:cs typeface="Times New Roman" panose="02020603050405020304" charset="0"/>
              <a:sym typeface="+mn-ea"/>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sz="half" idx="2"/>
            <p:custDataLst>
              <p:tags r:id="rId1"/>
            </p:custDataLst>
          </p:nvPr>
        </p:nvSpPr>
        <p:spPr>
          <a:xfrm>
            <a:off x="1123315" y="1174750"/>
            <a:ext cx="9946005" cy="438150"/>
          </a:xfrm>
        </p:spPr>
        <p:txBody>
          <a:bodyPr>
            <a:noAutofit/>
          </a:bodyPr>
          <a:p>
            <a:pPr marL="0" indent="0"/>
            <a:r>
              <a:rPr lang="en-US" altLang="en-US" sz="1900">
                <a:solidFill>
                  <a:schemeClr val="tx1"/>
                </a:solidFill>
                <a:latin typeface="Arial" panose="020B0604020202020204" pitchFamily="34" charset="0"/>
                <a:cs typeface="Arial" panose="020B0604020202020204" pitchFamily="34" charset="0"/>
              </a:rPr>
              <a:t>Business Question 6: Which products require management attention?</a:t>
            </a:r>
            <a:endParaRPr lang="en-US" altLang="en-US" sz="1900">
              <a:solidFill>
                <a:schemeClr val="tx1"/>
              </a:solidFill>
              <a:latin typeface="Arial" panose="020B0604020202020204" pitchFamily="34" charset="0"/>
              <a:cs typeface="Arial" panose="020B0604020202020204" pitchFamily="34" charset="0"/>
            </a:endParaRPr>
          </a:p>
        </p:txBody>
      </p:sp>
      <p:sp>
        <p:nvSpPr>
          <p:cNvPr id="6" name="Text Placeholder 2"/>
          <p:cNvSpPr>
            <a:spLocks noGrp="1"/>
          </p:cNvSpPr>
          <p:nvPr>
            <p:custDataLst>
              <p:tags r:id="rId2"/>
            </p:custDataLst>
          </p:nvPr>
        </p:nvSpPr>
        <p:spPr>
          <a:xfrm>
            <a:off x="1123315" y="1983105"/>
            <a:ext cx="9946005" cy="4022725"/>
          </a:xfrm>
          <a:prstGeom prst="rect">
            <a:avLst/>
          </a:prstGeom>
        </p:spPr>
        <p:txBody>
          <a:bodyPr vert="horz" lIns="90000" tIns="46800" rIns="90000" bIns="46800" rtlCol="0">
            <a:no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r>
              <a:rPr lang="en-US" altLang="en-US" sz="1700">
                <a:solidFill>
                  <a:schemeClr val="tx1"/>
                </a:solidFill>
                <a:latin typeface="Arial" panose="020B0604020202020204" pitchFamily="34" charset="0"/>
                <a:cs typeface="Arial" panose="020B0604020202020204" pitchFamily="34" charset="0"/>
              </a:rPr>
              <a:t>Several premium products, including the Cubify CubeX 3D Printer Double Head, Lexmark MX611dhe Laser Printer, and Motorola Smart Phone, consistently generated losses despite their high market value. These losses may stem from excessive discounting, high procurement costs, warranty expenses, or poor pricing strategies.</a:t>
            </a:r>
            <a:endParaRPr lang="en-US" altLang="en-US" sz="1700">
              <a:solidFill>
                <a:schemeClr val="tx1"/>
              </a:solidFill>
              <a:latin typeface="Arial" panose="020B0604020202020204" pitchFamily="34" charset="0"/>
              <a:cs typeface="Arial" panose="020B0604020202020204" pitchFamily="34" charset="0"/>
            </a:endParaRPr>
          </a:p>
          <a:p>
            <a:pPr marL="0" indent="0"/>
            <a:endParaRPr lang="en-US" altLang="en-US" sz="1700">
              <a:solidFill>
                <a:schemeClr val="tx1"/>
              </a:solidFill>
              <a:latin typeface="Arial" panose="020B0604020202020204" pitchFamily="34" charset="0"/>
              <a:cs typeface="Arial" panose="020B0604020202020204" pitchFamily="34" charset="0"/>
            </a:endParaRPr>
          </a:p>
          <a:p>
            <a:pPr marL="0" indent="0"/>
            <a:r>
              <a:rPr lang="en-US" altLang="en-US" sz="1700">
                <a:solidFill>
                  <a:schemeClr val="accent2"/>
                </a:solidFill>
                <a:latin typeface="Arial" panose="020B0604020202020204" pitchFamily="34" charset="0"/>
                <a:cs typeface="Arial" panose="020B0604020202020204" pitchFamily="34" charset="0"/>
              </a:rPr>
              <a:t>Business Impact</a:t>
            </a:r>
            <a:endParaRPr lang="en-US" altLang="en-US" sz="1700">
              <a:solidFill>
                <a:schemeClr val="accent2"/>
              </a:solidFill>
              <a:latin typeface="Arial" panose="020B0604020202020204" pitchFamily="34" charset="0"/>
              <a:cs typeface="Arial" panose="020B0604020202020204" pitchFamily="34" charset="0"/>
            </a:endParaRPr>
          </a:p>
          <a:p>
            <a:pPr marL="0" indent="0"/>
            <a:r>
              <a:rPr lang="en-US" altLang="en-US" sz="1700">
                <a:solidFill>
                  <a:schemeClr val="tx1"/>
                </a:solidFill>
                <a:latin typeface="Arial" panose="020B0604020202020204" pitchFamily="34" charset="0"/>
                <a:cs typeface="Arial" panose="020B0604020202020204" pitchFamily="34" charset="0"/>
              </a:rPr>
              <a:t>Management should review these products to determine whether losses are driven by excessive discounting, high procurement costs, warranty expenses, or pricing strategies. If profitability cannot be improved, discontinuing or repositioning these products should be considered.</a:t>
            </a:r>
            <a:endParaRPr lang="en-US" altLang="en-US" sz="1700">
              <a:solidFill>
                <a:schemeClr val="tx1"/>
              </a:solidFill>
              <a:latin typeface="Arial" panose="020B0604020202020204" pitchFamily="34" charset="0"/>
              <a:cs typeface="Arial" panose="020B0604020202020204" pitchFamily="34" charset="0"/>
            </a:endParaRPr>
          </a:p>
        </p:txBody>
      </p:sp>
      <p:sp>
        <p:nvSpPr>
          <p:cNvPr id="8" name="Text Box 7"/>
          <p:cNvSpPr txBox="1"/>
          <p:nvPr/>
        </p:nvSpPr>
        <p:spPr>
          <a:xfrm>
            <a:off x="2654300" y="530860"/>
            <a:ext cx="6883400" cy="548640"/>
          </a:xfrm>
          <a:prstGeom prst="rect">
            <a:avLst/>
          </a:prstGeom>
          <a:noFill/>
        </p:spPr>
        <p:txBody>
          <a:bodyPr wrap="square" rtlCol="0">
            <a:noAutofit/>
          </a:bodyPr>
          <a:p>
            <a:pPr algn="ctr"/>
            <a:r>
              <a:rPr lang="en-US" altLang="en-US" sz="2800" b="1">
                <a:solidFill>
                  <a:schemeClr val="accent1"/>
                </a:solidFill>
                <a:latin typeface="Times New Roman" panose="02020603050405020304" charset="0"/>
                <a:cs typeface="Times New Roman" panose="02020603050405020304" charset="0"/>
              </a:rPr>
              <a:t>Products Requiring Immediate Review</a:t>
            </a:r>
            <a:endParaRPr lang="en-US" altLang="en-US" sz="2800" b="1">
              <a:solidFill>
                <a:schemeClr val="accent1"/>
              </a:solidFill>
              <a:latin typeface="Times New Roman" panose="02020603050405020304" charset="0"/>
              <a:cs typeface="Times New Roman" panose="02020603050405020304" charset="0"/>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372360" y="2555240"/>
            <a:ext cx="7654290" cy="873760"/>
          </a:xfrm>
          <a:prstGeom prst="rect">
            <a:avLst/>
          </a:prstGeom>
          <a:noFill/>
        </p:spPr>
        <p:txBody>
          <a:bodyPr wrap="square" rtlCol="0">
            <a:noAutofit/>
          </a:bodyPr>
          <a:p>
            <a:pPr algn="ctr"/>
            <a:r>
              <a:rPr lang="en-US" sz="5400" b="1">
                <a:solidFill>
                  <a:schemeClr val="accent1"/>
                </a:solidFill>
                <a:latin typeface="Times New Roman" panose="02020603050405020304" charset="0"/>
                <a:cs typeface="Times New Roman" panose="02020603050405020304" charset="0"/>
              </a:rPr>
              <a:t>RECOMMENDATIONS</a:t>
            </a:r>
            <a:endParaRPr lang="en-US" sz="5400" b="1">
              <a:solidFill>
                <a:schemeClr val="accent1"/>
              </a:solidFill>
              <a:latin typeface="Times New Roman" panose="02020603050405020304" charset="0"/>
              <a:cs typeface="Times New Roman" panose="02020603050405020304" charset="0"/>
            </a:endParaRPr>
          </a:p>
        </p:txBody>
      </p:sp>
      <p:sp>
        <p:nvSpPr>
          <p:cNvPr id="5" name="Text Box 4"/>
          <p:cNvSpPr txBox="1"/>
          <p:nvPr/>
        </p:nvSpPr>
        <p:spPr>
          <a:xfrm>
            <a:off x="1618615" y="3689985"/>
            <a:ext cx="8954135" cy="645160"/>
          </a:xfrm>
          <a:prstGeom prst="rect">
            <a:avLst/>
          </a:prstGeom>
          <a:noFill/>
        </p:spPr>
        <p:txBody>
          <a:bodyPr wrap="square" rtlCol="0">
            <a:spAutoFit/>
          </a:bodyPr>
          <a:p>
            <a:pPr algn="ctr"/>
            <a:r>
              <a:rPr lang="en-US" altLang="en-US">
                <a:solidFill>
                  <a:schemeClr val="tx1">
                    <a:lumMod val="85000"/>
                    <a:lumOff val="15000"/>
                  </a:schemeClr>
                </a:solidFill>
              </a:rPr>
              <a:t>Based on the findings from this analysis, the following actions are recommended to improve sales performance and profitability.</a:t>
            </a:r>
            <a:endParaRPr lang="en-US" altLang="en-US">
              <a:solidFill>
                <a:schemeClr val="tx1">
                  <a:lumMod val="85000"/>
                  <a:lumOff val="15000"/>
                </a:schemeClr>
              </a:solidFill>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1"/>
          <p:cNvSpPr/>
          <p:nvPr>
            <p:custDataLst>
              <p:tags r:id="rId1"/>
            </p:custDataLst>
          </p:nvPr>
        </p:nvSpPr>
        <p:spPr>
          <a:xfrm>
            <a:off x="8286115" y="1427480"/>
            <a:ext cx="2887200" cy="385200"/>
          </a:xfrm>
          <a:prstGeom prst="rect">
            <a:avLst/>
          </a:prstGeom>
          <a:noFill/>
        </p:spPr>
        <p:txBody>
          <a:bodyPr wrap="square" lIns="0" tIns="0" rIns="0" bIns="0" rtlCol="0" anchor="b" anchorCtr="0">
            <a:normAutofit fontScale="60000"/>
          </a:bodyPr>
          <a:p>
            <a:pPr>
              <a:spcBef>
                <a:spcPct val="0"/>
              </a:spcBef>
              <a:spcAft>
                <a:spcPct val="0"/>
              </a:spcAft>
            </a:pPr>
            <a:r>
              <a:rPr lang="en-US" altLang="en-US" sz="2000" b="1">
                <a:solidFill>
                  <a:schemeClr val="accent1"/>
                </a:solidFill>
                <a:latin typeface="Arial" panose="020B0604020202020204" pitchFamily="34" charset="0"/>
              </a:rPr>
              <a:t>Improve Performance in Low-Margin Markets</a:t>
            </a:r>
            <a:endParaRPr lang="en-US" altLang="en-US" sz="2000" b="1">
              <a:solidFill>
                <a:schemeClr val="accent1"/>
              </a:solidFill>
              <a:latin typeface="Arial" panose="020B0604020202020204" pitchFamily="34" charset="0"/>
            </a:endParaRPr>
          </a:p>
        </p:txBody>
      </p:sp>
      <p:sp>
        <p:nvSpPr>
          <p:cNvPr id="16" name="任意多边形 15"/>
          <p:cNvSpPr/>
          <p:nvPr>
            <p:custDataLst>
              <p:tags r:id="rId2"/>
            </p:custDataLst>
          </p:nvPr>
        </p:nvSpPr>
        <p:spPr>
          <a:xfrm>
            <a:off x="692150" y="3383281"/>
            <a:ext cx="3366777" cy="346092"/>
          </a:xfrm>
          <a:custGeom>
            <a:avLst/>
            <a:gdLst>
              <a:gd name="connisteX0" fmla="*/ 0 w 2971165"/>
              <a:gd name="connsiteY0" fmla="*/ 0 h 285750"/>
              <a:gd name="connisteX1" fmla="*/ 2684780 w 2971165"/>
              <a:gd name="connsiteY1" fmla="*/ 0 h 285750"/>
              <a:gd name="connisteX2" fmla="*/ 2971165 w 2971165"/>
              <a:gd name="connsiteY2" fmla="*/ 285750 h 285750"/>
            </a:gdLst>
            <a:ahLst/>
            <a:cxnLst>
              <a:cxn ang="0">
                <a:pos x="connisteX0" y="connsiteY0"/>
              </a:cxn>
              <a:cxn ang="0">
                <a:pos x="connisteX1" y="connsiteY1"/>
              </a:cxn>
              <a:cxn ang="0">
                <a:pos x="connisteX2" y="connsiteY2"/>
              </a:cxn>
            </a:cxnLst>
            <a:rect l="l" t="t" r="r" b="b"/>
            <a:pathLst>
              <a:path w="2971165" h="285750">
                <a:moveTo>
                  <a:pt x="0" y="0"/>
                </a:moveTo>
                <a:lnTo>
                  <a:pt x="2684780" y="0"/>
                </a:lnTo>
                <a:lnTo>
                  <a:pt x="2971165" y="285750"/>
                </a:lnTo>
              </a:path>
            </a:pathLst>
          </a:custGeom>
          <a:noFill/>
          <a:ln>
            <a:gradFill>
              <a:gsLst>
                <a:gs pos="100000">
                  <a:srgbClr val="AFC6FF">
                    <a:alpha val="0"/>
                  </a:srgbClr>
                </a:gs>
                <a:gs pos="47000">
                  <a:srgbClr val="E54C5E">
                    <a:alpha val="70000"/>
                  </a:srgbClr>
                </a:gs>
              </a:gsLst>
              <a:lin ang="10800000" scaled="0"/>
            </a:grad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rmAutofit fontScale="92500" lnSpcReduction="10000"/>
          </a:bodyPr>
          <a:p>
            <a:pPr lvl="0" algn="ctr">
              <a:buClrTx/>
              <a:buSzTx/>
              <a:buFontTx/>
            </a:pPr>
            <a:endParaRPr lang="en-US">
              <a:solidFill>
                <a:srgbClr val="FFFFFF"/>
              </a:solidFill>
              <a:latin typeface="Arial" panose="020B0604020202020204" pitchFamily="34" charset="0"/>
              <a:sym typeface="Arial" panose="020B0604020202020204" pitchFamily="34" charset="0"/>
            </a:endParaRPr>
          </a:p>
        </p:txBody>
      </p:sp>
      <p:sp>
        <p:nvSpPr>
          <p:cNvPr id="6" name="矩形 3"/>
          <p:cNvSpPr/>
          <p:nvPr>
            <p:custDataLst>
              <p:tags r:id="rId3"/>
            </p:custDataLst>
          </p:nvPr>
        </p:nvSpPr>
        <p:spPr>
          <a:xfrm>
            <a:off x="885190" y="2919096"/>
            <a:ext cx="2887200" cy="385200"/>
          </a:xfrm>
          <a:prstGeom prst="rect">
            <a:avLst/>
          </a:prstGeom>
          <a:noFill/>
        </p:spPr>
        <p:txBody>
          <a:bodyPr wrap="square" lIns="0" tIns="0" rIns="0" bIns="0" rtlCol="0" anchor="b" anchorCtr="0">
            <a:normAutofit fontScale="70000"/>
          </a:bodyPr>
          <a:p>
            <a:pPr algn="r">
              <a:spcBef>
                <a:spcPct val="0"/>
              </a:spcBef>
              <a:spcAft>
                <a:spcPct val="0"/>
              </a:spcAft>
            </a:pPr>
            <a:r>
              <a:rPr lang="en-US" altLang="en-US" sz="2000" b="1">
                <a:solidFill>
                  <a:schemeClr val="accent1"/>
                </a:solidFill>
                <a:latin typeface="Arial" panose="020B0604020202020204" pitchFamily="34" charset="0"/>
              </a:rPr>
              <a:t>Capitalize on Peak Sales Periods</a:t>
            </a:r>
            <a:endParaRPr lang="en-US" altLang="en-US" sz="2000" b="1">
              <a:solidFill>
                <a:schemeClr val="accent1"/>
              </a:solidFill>
              <a:latin typeface="Arial" panose="020B0604020202020204" pitchFamily="34" charset="0"/>
            </a:endParaRPr>
          </a:p>
        </p:txBody>
      </p:sp>
      <p:sp>
        <p:nvSpPr>
          <p:cNvPr id="8" name="矩形 4"/>
          <p:cNvSpPr/>
          <p:nvPr>
            <p:custDataLst>
              <p:tags r:id="rId4"/>
            </p:custDataLst>
          </p:nvPr>
        </p:nvSpPr>
        <p:spPr>
          <a:xfrm>
            <a:off x="744855" y="1545591"/>
            <a:ext cx="3478599" cy="1328400"/>
          </a:xfrm>
          <a:prstGeom prst="rect">
            <a:avLst/>
          </a:prstGeom>
          <a:noFill/>
        </p:spPr>
        <p:txBody>
          <a:bodyPr wrap="square" lIns="0" tIns="0" rIns="0" bIns="0" rtlCol="0" anchor="t" anchorCtr="0">
            <a:normAutofit/>
          </a:bodyPr>
          <a:p>
            <a:pPr algn="r">
              <a:lnSpc>
                <a:spcPct val="130000"/>
              </a:lnSpc>
              <a:spcBef>
                <a:spcPct val="0"/>
              </a:spcBef>
              <a:spcAft>
                <a:spcPct val="0"/>
              </a:spcAft>
            </a:pPr>
            <a:r>
              <a:rPr lang="en-US" altLang="en-US" sz="1600" dirty="0">
                <a:ln>
                  <a:noFill/>
                  <a:prstDash val="sysDot"/>
                </a:ln>
                <a:solidFill>
                  <a:srgbClr val="000000">
                    <a:lumMod val="65000"/>
                    <a:lumOff val="35000"/>
                  </a:srgbClr>
                </a:solidFill>
              </a:rPr>
              <a:t>Review and standardize discount policies to prevent excessive discounting that erodes profit margins.</a:t>
            </a:r>
            <a:endParaRPr lang="en-US" altLang="en-US" sz="1600" dirty="0">
              <a:ln>
                <a:noFill/>
                <a:prstDash val="sysDot"/>
              </a:ln>
              <a:solidFill>
                <a:srgbClr val="000000">
                  <a:lumMod val="65000"/>
                  <a:lumOff val="35000"/>
                </a:srgbClr>
              </a:solidFill>
            </a:endParaRPr>
          </a:p>
        </p:txBody>
      </p:sp>
      <p:sp>
        <p:nvSpPr>
          <p:cNvPr id="11" name="矩形 7"/>
          <p:cNvSpPr/>
          <p:nvPr>
            <p:custDataLst>
              <p:tags r:id="rId5"/>
            </p:custDataLst>
          </p:nvPr>
        </p:nvSpPr>
        <p:spPr>
          <a:xfrm>
            <a:off x="648335" y="3430270"/>
            <a:ext cx="3124835" cy="1328400"/>
          </a:xfrm>
          <a:prstGeom prst="rect">
            <a:avLst/>
          </a:prstGeom>
          <a:noFill/>
        </p:spPr>
        <p:txBody>
          <a:bodyPr wrap="square" lIns="0" tIns="0" rIns="0" bIns="0" rtlCol="0" anchor="t" anchorCtr="0">
            <a:normAutofit fontScale="90000"/>
          </a:bodyPr>
          <a:p>
            <a:pPr algn="r">
              <a:lnSpc>
                <a:spcPct val="130000"/>
              </a:lnSpc>
              <a:spcBef>
                <a:spcPct val="0"/>
              </a:spcBef>
              <a:spcAft>
                <a:spcPct val="0"/>
              </a:spcAft>
            </a:pPr>
            <a:r>
              <a:rPr lang="en-US" altLang="en-US" sz="1600" dirty="0">
                <a:ln>
                  <a:noFill/>
                  <a:prstDash val="sysDot"/>
                </a:ln>
                <a:solidFill>
                  <a:srgbClr val="000000">
                    <a:lumMod val="65000"/>
                    <a:lumOff val="35000"/>
                  </a:srgbClr>
                </a:solidFill>
              </a:rPr>
              <a:t>Increase inventory, marketing campaigns, and operational capacity ahead of Q4 to maximize revenue during the strongest sales season.</a:t>
            </a:r>
            <a:endParaRPr lang="en-US" altLang="en-US" sz="1600" dirty="0">
              <a:ln>
                <a:noFill/>
                <a:prstDash val="sysDot"/>
              </a:ln>
              <a:solidFill>
                <a:srgbClr val="000000">
                  <a:lumMod val="65000"/>
                  <a:lumOff val="35000"/>
                </a:srgbClr>
              </a:solidFill>
            </a:endParaRPr>
          </a:p>
        </p:txBody>
      </p:sp>
      <p:sp>
        <p:nvSpPr>
          <p:cNvPr id="14" name="矩形 13"/>
          <p:cNvSpPr/>
          <p:nvPr>
            <p:custDataLst>
              <p:tags r:id="rId6"/>
            </p:custDataLst>
          </p:nvPr>
        </p:nvSpPr>
        <p:spPr>
          <a:xfrm>
            <a:off x="8286115" y="2005331"/>
            <a:ext cx="3162300" cy="1328400"/>
          </a:xfrm>
          <a:prstGeom prst="rect">
            <a:avLst/>
          </a:prstGeom>
          <a:noFill/>
        </p:spPr>
        <p:txBody>
          <a:bodyPr wrap="square" lIns="0" tIns="0" rIns="0" bIns="0" rtlCol="0" anchor="t" anchorCtr="0">
            <a:normAutofit/>
          </a:bodyPr>
          <a:p>
            <a:pPr>
              <a:lnSpc>
                <a:spcPct val="130000"/>
              </a:lnSpc>
              <a:spcBef>
                <a:spcPct val="0"/>
              </a:spcBef>
              <a:spcAft>
                <a:spcPct val="0"/>
              </a:spcAft>
            </a:pPr>
            <a:r>
              <a:rPr lang="en-US" altLang="en-US" sz="1600" dirty="0">
                <a:ln>
                  <a:noFill/>
                  <a:prstDash val="sysDot"/>
                </a:ln>
                <a:solidFill>
                  <a:srgbClr val="000000">
                    <a:lumMod val="65000"/>
                    <a:lumOff val="35000"/>
                  </a:srgbClr>
                </a:solidFill>
              </a:rPr>
              <a:t>Investigate regions and countries with strong sales but weak profitability to identify pricing, cost, or operational inefficiencies.</a:t>
            </a:r>
            <a:endParaRPr lang="en-US" altLang="en-US" sz="1600" dirty="0">
              <a:ln>
                <a:noFill/>
                <a:prstDash val="sysDot"/>
              </a:ln>
              <a:solidFill>
                <a:srgbClr val="000000">
                  <a:lumMod val="65000"/>
                  <a:lumOff val="35000"/>
                </a:srgbClr>
              </a:solidFill>
            </a:endParaRPr>
          </a:p>
        </p:txBody>
      </p:sp>
      <p:sp>
        <p:nvSpPr>
          <p:cNvPr id="15" name="矩形 14"/>
          <p:cNvSpPr/>
          <p:nvPr>
            <p:custDataLst>
              <p:tags r:id="rId7"/>
            </p:custDataLst>
          </p:nvPr>
        </p:nvSpPr>
        <p:spPr>
          <a:xfrm>
            <a:off x="1334770" y="1063625"/>
            <a:ext cx="2887200" cy="385200"/>
          </a:xfrm>
          <a:prstGeom prst="rect">
            <a:avLst/>
          </a:prstGeom>
          <a:noFill/>
        </p:spPr>
        <p:txBody>
          <a:bodyPr wrap="square" lIns="0" tIns="0" rIns="0" bIns="0" rtlCol="0" anchor="b" anchorCtr="0">
            <a:normAutofit fontScale="80000"/>
          </a:bodyPr>
          <a:p>
            <a:pPr algn="r">
              <a:spcBef>
                <a:spcPct val="0"/>
              </a:spcBef>
              <a:spcAft>
                <a:spcPct val="0"/>
              </a:spcAft>
            </a:pPr>
            <a:r>
              <a:rPr lang="en-US" altLang="en-US" sz="2000" b="1" dirty="0">
                <a:solidFill>
                  <a:schemeClr val="accent1"/>
                </a:solidFill>
                <a:latin typeface="Arial" panose="020B0604020202020204" pitchFamily="34" charset="0"/>
              </a:rPr>
              <a:t>Optimize Discount Strategy</a:t>
            </a:r>
            <a:endParaRPr lang="en-US" altLang="en-US" sz="2000" b="1" dirty="0">
              <a:solidFill>
                <a:schemeClr val="accent1"/>
              </a:solidFill>
              <a:latin typeface="Arial" panose="020B0604020202020204" pitchFamily="34" charset="0"/>
            </a:endParaRPr>
          </a:p>
        </p:txBody>
      </p:sp>
      <p:sp>
        <p:nvSpPr>
          <p:cNvPr id="12" name="Text Box 11"/>
          <p:cNvSpPr txBox="1"/>
          <p:nvPr/>
        </p:nvSpPr>
        <p:spPr>
          <a:xfrm>
            <a:off x="436880" y="59055"/>
            <a:ext cx="1769745" cy="229235"/>
          </a:xfrm>
          <a:prstGeom prst="rect">
            <a:avLst/>
          </a:prstGeom>
          <a:noFill/>
        </p:spPr>
        <p:txBody>
          <a:bodyPr wrap="square" rtlCol="0">
            <a:noAutofit/>
          </a:bodyPr>
          <a:p>
            <a:r>
              <a:rPr lang="en-US" sz="1200" b="1">
                <a:solidFill>
                  <a:schemeClr val="accent2"/>
                </a:solidFill>
                <a:latin typeface="Times New Roman" panose="02020603050405020304" charset="0"/>
                <a:cs typeface="Times New Roman" panose="02020603050405020304" charset="0"/>
              </a:rPr>
              <a:t>RECOMENDATION</a:t>
            </a:r>
            <a:endParaRPr lang="en-US" sz="1200" b="1">
              <a:solidFill>
                <a:schemeClr val="accent2"/>
              </a:solidFill>
              <a:latin typeface="Times New Roman" panose="02020603050405020304" charset="0"/>
              <a:cs typeface="Times New Roman" panose="02020603050405020304" charset="0"/>
            </a:endParaRPr>
          </a:p>
        </p:txBody>
      </p:sp>
      <p:sp>
        <p:nvSpPr>
          <p:cNvPr id="13" name="任意多边形 29"/>
          <p:cNvSpPr/>
          <p:nvPr>
            <p:custDataLst>
              <p:tags r:id="rId8"/>
            </p:custDataLst>
          </p:nvPr>
        </p:nvSpPr>
        <p:spPr>
          <a:xfrm>
            <a:off x="4297045" y="2183766"/>
            <a:ext cx="620833" cy="2182348"/>
          </a:xfrm>
          <a:custGeom>
            <a:avLst/>
            <a:gdLst>
              <a:gd name="connsiteX0" fmla="*/ 0 w 757"/>
              <a:gd name="connsiteY0" fmla="*/ 0 h 2661"/>
              <a:gd name="connsiteX1" fmla="*/ 757 w 757"/>
              <a:gd name="connsiteY1" fmla="*/ 149 h 2661"/>
              <a:gd name="connsiteX2" fmla="*/ 749 w 757"/>
              <a:gd name="connsiteY2" fmla="*/ 2453 h 2661"/>
              <a:gd name="connsiteX3" fmla="*/ 17 w 757"/>
              <a:gd name="connsiteY3" fmla="*/ 2661 h 2661"/>
              <a:gd name="connsiteX4" fmla="*/ 0 w 757"/>
              <a:gd name="connsiteY4" fmla="*/ 0 h 2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 h="2661">
                <a:moveTo>
                  <a:pt x="0" y="0"/>
                </a:moveTo>
                <a:lnTo>
                  <a:pt x="757" y="149"/>
                </a:lnTo>
                <a:lnTo>
                  <a:pt x="749" y="2453"/>
                </a:lnTo>
                <a:lnTo>
                  <a:pt x="17" y="2661"/>
                </a:lnTo>
                <a:lnTo>
                  <a:pt x="0" y="0"/>
                </a:lnTo>
                <a:close/>
              </a:path>
            </a:pathLst>
          </a:custGeom>
          <a:gradFill>
            <a:gsLst>
              <a:gs pos="54000">
                <a:srgbClr val="376FFF"/>
              </a:gs>
              <a:gs pos="0">
                <a:srgbClr val="376FFF">
                  <a:lumMod val="60000"/>
                  <a:lumOff val="40000"/>
                </a:srgbClr>
              </a:gs>
              <a:gs pos="81000">
                <a:srgbClr val="376FFF"/>
              </a:gs>
              <a:gs pos="100000">
                <a:srgbClr val="376FFF"/>
              </a:gs>
            </a:gsLst>
            <a:lin ang="5400000" scaled="0"/>
          </a:gradFill>
          <a:ln>
            <a:gradFill>
              <a:gsLst>
                <a:gs pos="37000">
                  <a:srgbClr val="376FFF">
                    <a:lumMod val="5000"/>
                    <a:lumOff val="95000"/>
                  </a:srgbClr>
                </a:gs>
                <a:gs pos="0">
                  <a:srgbClr val="376FFF">
                    <a:lumMod val="45000"/>
                    <a:lumOff val="55000"/>
                  </a:srgbClr>
                </a:gs>
                <a:gs pos="100000">
                  <a:srgbClr val="FFFFFF"/>
                </a:gs>
                <a:gs pos="71000">
                  <a:srgbClr val="376FFF">
                    <a:lumMod val="30000"/>
                    <a:lumOff val="70000"/>
                  </a:srgbClr>
                </a:gs>
              </a:gsLst>
              <a:lin ang="16200000" scaled="0"/>
            </a:gradFill>
          </a:ln>
          <a:effectLst>
            <a:outerShdw blurRad="254000" dist="152400" dir="5400000" algn="t" rotWithShape="0">
              <a:srgbClr val="376FFF">
                <a:alpha val="40000"/>
              </a:srgbClr>
            </a:outerShdw>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b="1">
                <a:solidFill>
                  <a:srgbClr val="FFFFFF"/>
                </a:solidFill>
                <a:latin typeface="Arial" panose="020B0604020202020204" pitchFamily="34" charset="0"/>
                <a:sym typeface="Arial" panose="020B0604020202020204" pitchFamily="34" charset="0"/>
              </a:rPr>
              <a:t>01</a:t>
            </a:r>
            <a:endParaRPr lang="en-US" b="1">
              <a:solidFill>
                <a:srgbClr val="FFFFFF"/>
              </a:solidFill>
              <a:latin typeface="Microsoft YaHei" panose="020B0503020204020204" charset="-122"/>
              <a:sym typeface="Microsoft YaHei" panose="020B0503020204020204" charset="-122"/>
            </a:endParaRPr>
          </a:p>
        </p:txBody>
      </p:sp>
      <p:sp>
        <p:nvSpPr>
          <p:cNvPr id="17" name="任意多边形 30"/>
          <p:cNvSpPr/>
          <p:nvPr>
            <p:custDataLst>
              <p:tags r:id="rId9"/>
            </p:custDataLst>
          </p:nvPr>
        </p:nvSpPr>
        <p:spPr>
          <a:xfrm>
            <a:off x="5276850" y="1610996"/>
            <a:ext cx="901316" cy="3327241"/>
          </a:xfrm>
          <a:custGeom>
            <a:avLst/>
            <a:gdLst>
              <a:gd name="connsiteX0" fmla="*/ 0 w 1099"/>
              <a:gd name="connsiteY0" fmla="*/ 0 h 4057"/>
              <a:gd name="connsiteX1" fmla="*/ 1099 w 1099"/>
              <a:gd name="connsiteY1" fmla="*/ 418 h 4057"/>
              <a:gd name="connsiteX2" fmla="*/ 1099 w 1099"/>
              <a:gd name="connsiteY2" fmla="*/ 3626 h 4057"/>
              <a:gd name="connsiteX3" fmla="*/ 0 w 1099"/>
              <a:gd name="connsiteY3" fmla="*/ 4057 h 4057"/>
              <a:gd name="connsiteX4" fmla="*/ 0 w 1099"/>
              <a:gd name="connsiteY4" fmla="*/ 0 h 4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 h="4057">
                <a:moveTo>
                  <a:pt x="0" y="0"/>
                </a:moveTo>
                <a:lnTo>
                  <a:pt x="1099" y="418"/>
                </a:lnTo>
                <a:lnTo>
                  <a:pt x="1099" y="3626"/>
                </a:lnTo>
                <a:lnTo>
                  <a:pt x="0" y="4057"/>
                </a:lnTo>
                <a:lnTo>
                  <a:pt x="0" y="0"/>
                </a:lnTo>
                <a:close/>
              </a:path>
            </a:pathLst>
          </a:custGeom>
          <a:gradFill>
            <a:gsLst>
              <a:gs pos="54000">
                <a:srgbClr val="17D594"/>
              </a:gs>
              <a:gs pos="0">
                <a:srgbClr val="17D594">
                  <a:lumMod val="60000"/>
                  <a:lumOff val="40000"/>
                </a:srgbClr>
              </a:gs>
              <a:gs pos="100000">
                <a:srgbClr val="17D594">
                  <a:lumMod val="60000"/>
                  <a:lumOff val="40000"/>
                </a:srgbClr>
              </a:gs>
            </a:gsLst>
            <a:lin ang="5400000" scaled="0"/>
          </a:gradFill>
          <a:ln>
            <a:gradFill>
              <a:gsLst>
                <a:gs pos="32000">
                  <a:srgbClr val="376FFF">
                    <a:lumMod val="5000"/>
                    <a:lumOff val="95000"/>
                  </a:srgbClr>
                </a:gs>
                <a:gs pos="0">
                  <a:srgbClr val="17D594">
                    <a:lumMod val="20000"/>
                    <a:lumOff val="80000"/>
                  </a:srgbClr>
                </a:gs>
                <a:gs pos="100000">
                  <a:srgbClr val="FFFFFF"/>
                </a:gs>
                <a:gs pos="71000">
                  <a:srgbClr val="17D594">
                    <a:lumMod val="20000"/>
                    <a:lumOff val="80000"/>
                  </a:srgbClr>
                </a:gs>
              </a:gsLst>
              <a:lin ang="16200000" scaled="1"/>
            </a:gradFill>
          </a:ln>
          <a:effectLst>
            <a:outerShdw blurRad="254000" dist="152400" dir="5400000" algn="t" rotWithShape="0">
              <a:srgbClr val="17D594">
                <a:alpha val="40000"/>
              </a:srgbClr>
            </a:outerShdw>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b="1">
                <a:solidFill>
                  <a:srgbClr val="FFFFFF"/>
                </a:solidFill>
                <a:latin typeface="Arial" panose="020B0604020202020204" pitchFamily="34" charset="0"/>
                <a:sym typeface="Arial" panose="020B0604020202020204" pitchFamily="34" charset="0"/>
              </a:rPr>
              <a:t>02</a:t>
            </a:r>
            <a:endParaRPr lang="en-US" b="1">
              <a:solidFill>
                <a:srgbClr val="FFFFFF"/>
              </a:solidFill>
              <a:latin typeface="Microsoft YaHei" panose="020B0503020204020204" charset="-122"/>
              <a:sym typeface="Microsoft YaHei" panose="020B0503020204020204" charset="-122"/>
            </a:endParaRPr>
          </a:p>
        </p:txBody>
      </p:sp>
      <p:sp>
        <p:nvSpPr>
          <p:cNvPr id="18" name="任意多边形 32"/>
          <p:cNvSpPr/>
          <p:nvPr>
            <p:custDataLst>
              <p:tags r:id="rId10"/>
            </p:custDataLst>
          </p:nvPr>
        </p:nvSpPr>
        <p:spPr>
          <a:xfrm>
            <a:off x="6515100" y="1191896"/>
            <a:ext cx="1019413" cy="4004663"/>
          </a:xfrm>
          <a:custGeom>
            <a:avLst/>
            <a:gdLst>
              <a:gd name="connsiteX0" fmla="*/ 15 w 1243"/>
              <a:gd name="connsiteY0" fmla="*/ 0 h 4883"/>
              <a:gd name="connsiteX1" fmla="*/ 1232 w 1243"/>
              <a:gd name="connsiteY1" fmla="*/ 712 h 4883"/>
              <a:gd name="connsiteX2" fmla="*/ 1243 w 1243"/>
              <a:gd name="connsiteY2" fmla="*/ 4288 h 4883"/>
              <a:gd name="connsiteX3" fmla="*/ 0 w 1243"/>
              <a:gd name="connsiteY3" fmla="*/ 4883 h 4883"/>
              <a:gd name="connsiteX4" fmla="*/ 15 w 1243"/>
              <a:gd name="connsiteY4" fmla="*/ 0 h 4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 h="4883">
                <a:moveTo>
                  <a:pt x="15" y="0"/>
                </a:moveTo>
                <a:lnTo>
                  <a:pt x="1232" y="712"/>
                </a:lnTo>
                <a:lnTo>
                  <a:pt x="1243" y="4288"/>
                </a:lnTo>
                <a:lnTo>
                  <a:pt x="0" y="4883"/>
                </a:lnTo>
                <a:lnTo>
                  <a:pt x="15" y="0"/>
                </a:lnTo>
                <a:close/>
              </a:path>
            </a:pathLst>
          </a:custGeom>
          <a:gradFill>
            <a:gsLst>
              <a:gs pos="54000">
                <a:srgbClr val="376FFF"/>
              </a:gs>
              <a:gs pos="0">
                <a:srgbClr val="376FFF">
                  <a:lumMod val="60000"/>
                  <a:lumOff val="40000"/>
                </a:srgbClr>
              </a:gs>
              <a:gs pos="81000">
                <a:srgbClr val="376FFF"/>
              </a:gs>
              <a:gs pos="100000">
                <a:srgbClr val="376FFF"/>
              </a:gs>
            </a:gsLst>
            <a:lin ang="5400000" scaled="0"/>
          </a:gradFill>
          <a:ln>
            <a:gradFill>
              <a:gsLst>
                <a:gs pos="37000">
                  <a:srgbClr val="376FFF">
                    <a:lumMod val="5000"/>
                    <a:lumOff val="95000"/>
                  </a:srgbClr>
                </a:gs>
                <a:gs pos="0">
                  <a:srgbClr val="376FFF">
                    <a:lumMod val="45000"/>
                    <a:lumOff val="55000"/>
                  </a:srgbClr>
                </a:gs>
                <a:gs pos="100000">
                  <a:srgbClr val="FFFFFF"/>
                </a:gs>
                <a:gs pos="71000">
                  <a:srgbClr val="376FFF">
                    <a:lumMod val="30000"/>
                    <a:lumOff val="70000"/>
                  </a:srgbClr>
                </a:gs>
              </a:gsLst>
              <a:lin ang="16200000" scaled="0"/>
            </a:gradFill>
          </a:ln>
          <a:effectLst>
            <a:outerShdw blurRad="254000" dist="152400" dir="5400000" algn="t" rotWithShape="0">
              <a:srgbClr val="376FFF">
                <a:alpha val="40000"/>
              </a:srgbClr>
            </a:outerShdw>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b="1">
                <a:solidFill>
                  <a:srgbClr val="FFFFFF"/>
                </a:solidFill>
                <a:latin typeface="Arial" panose="020B0604020202020204" pitchFamily="34" charset="0"/>
                <a:sym typeface="Arial" panose="020B0604020202020204" pitchFamily="34" charset="0"/>
              </a:rPr>
              <a:t>03</a:t>
            </a:r>
            <a:endParaRPr lang="en-US" b="1">
              <a:solidFill>
                <a:srgbClr val="FFFFFF"/>
              </a:solidFill>
              <a:latin typeface="Microsoft YaHei" panose="020B0503020204020204" charset="-122"/>
              <a:sym typeface="Microsoft YaHei" panose="020B0503020204020204" charset="-122"/>
            </a:endParaRPr>
          </a:p>
        </p:txBody>
      </p:sp>
      <p:sp>
        <p:nvSpPr>
          <p:cNvPr id="19" name="任意多边形 15"/>
          <p:cNvSpPr/>
          <p:nvPr>
            <p:custDataLst>
              <p:tags r:id="rId11"/>
            </p:custDataLst>
          </p:nvPr>
        </p:nvSpPr>
        <p:spPr>
          <a:xfrm>
            <a:off x="685800" y="3388361"/>
            <a:ext cx="3366777" cy="346092"/>
          </a:xfrm>
          <a:custGeom>
            <a:avLst/>
            <a:gdLst>
              <a:gd name="connisteX0" fmla="*/ 0 w 2971165"/>
              <a:gd name="connsiteY0" fmla="*/ 0 h 285750"/>
              <a:gd name="connisteX1" fmla="*/ 2684780 w 2971165"/>
              <a:gd name="connsiteY1" fmla="*/ 0 h 285750"/>
              <a:gd name="connisteX2" fmla="*/ 2971165 w 2971165"/>
              <a:gd name="connsiteY2" fmla="*/ 285750 h 285750"/>
            </a:gdLst>
            <a:ahLst/>
            <a:cxnLst>
              <a:cxn ang="0">
                <a:pos x="connisteX0" y="connsiteY0"/>
              </a:cxn>
              <a:cxn ang="0">
                <a:pos x="connisteX1" y="connsiteY1"/>
              </a:cxn>
              <a:cxn ang="0">
                <a:pos x="connisteX2" y="connsiteY2"/>
              </a:cxn>
            </a:cxnLst>
            <a:rect l="l" t="t" r="r" b="b"/>
            <a:pathLst>
              <a:path w="2971165" h="285750">
                <a:moveTo>
                  <a:pt x="0" y="0"/>
                </a:moveTo>
                <a:lnTo>
                  <a:pt x="2684780" y="0"/>
                </a:lnTo>
                <a:lnTo>
                  <a:pt x="2971165" y="285750"/>
                </a:lnTo>
              </a:path>
            </a:pathLst>
          </a:custGeom>
          <a:noFill/>
          <a:ln>
            <a:gradFill>
              <a:gsLst>
                <a:gs pos="100000">
                  <a:srgbClr val="AFC6FF">
                    <a:alpha val="0"/>
                  </a:srgbClr>
                </a:gs>
                <a:gs pos="47000">
                  <a:srgbClr val="376FFF">
                    <a:alpha val="70000"/>
                  </a:srgbClr>
                </a:gs>
              </a:gsLst>
              <a:lin ang="10800000" scaled="0"/>
            </a:grad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rmAutofit fontScale="92500" lnSpcReduction="10000"/>
          </a:bodyPr>
          <a:p>
            <a:pPr lvl="0" algn="ctr">
              <a:buClrTx/>
              <a:buSzTx/>
              <a:buFontTx/>
            </a:pPr>
            <a:endParaRPr lang="en-US">
              <a:solidFill>
                <a:srgbClr val="FFFFFF"/>
              </a:solidFill>
              <a:latin typeface="Arial" panose="020B0604020202020204" pitchFamily="34" charset="0"/>
              <a:sym typeface="Arial" panose="020B0604020202020204" pitchFamily="34" charset="0"/>
            </a:endParaRPr>
          </a:p>
        </p:txBody>
      </p:sp>
      <p:sp>
        <p:nvSpPr>
          <p:cNvPr id="20" name="任意多边形 23"/>
          <p:cNvSpPr/>
          <p:nvPr>
            <p:custDataLst>
              <p:tags r:id="rId12"/>
            </p:custDataLst>
          </p:nvPr>
        </p:nvSpPr>
        <p:spPr>
          <a:xfrm>
            <a:off x="7582535" y="1934846"/>
            <a:ext cx="3696296" cy="655279"/>
          </a:xfrm>
          <a:custGeom>
            <a:avLst/>
            <a:gdLst>
              <a:gd name="connsiteX0" fmla="*/ 0 w 4507"/>
              <a:gd name="connsiteY0" fmla="*/ 799 h 799"/>
              <a:gd name="connsiteX1" fmla="*/ 820 w 4507"/>
              <a:gd name="connsiteY1" fmla="*/ 0 h 799"/>
              <a:gd name="connsiteX2" fmla="*/ 4507 w 4507"/>
              <a:gd name="connsiteY2" fmla="*/ 0 h 799"/>
            </a:gdLst>
            <a:ahLst/>
            <a:cxnLst>
              <a:cxn ang="0">
                <a:pos x="connsiteX0" y="connsiteY0"/>
              </a:cxn>
              <a:cxn ang="0">
                <a:pos x="connsiteX1" y="connsiteY1"/>
              </a:cxn>
              <a:cxn ang="0">
                <a:pos x="connsiteX2" y="connsiteY2"/>
              </a:cxn>
            </a:cxnLst>
            <a:rect l="l" t="t" r="r" b="b"/>
            <a:pathLst>
              <a:path w="4507" h="799">
                <a:moveTo>
                  <a:pt x="0" y="799"/>
                </a:moveTo>
                <a:lnTo>
                  <a:pt x="820" y="0"/>
                </a:lnTo>
                <a:lnTo>
                  <a:pt x="4507" y="0"/>
                </a:lnTo>
              </a:path>
            </a:pathLst>
          </a:custGeom>
          <a:noFill/>
          <a:ln>
            <a:gradFill>
              <a:gsLst>
                <a:gs pos="100000">
                  <a:srgbClr val="AFC6FF">
                    <a:alpha val="0"/>
                  </a:srgbClr>
                </a:gs>
                <a:gs pos="47000">
                  <a:srgbClr val="376FFF">
                    <a:alpha val="70000"/>
                  </a:srgbClr>
                </a:gs>
              </a:gsLst>
              <a:lin ang="0" scaled="0"/>
            </a:grad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rmAutofit/>
          </a:bodyPr>
          <a:p>
            <a:pPr lvl="0" algn="ctr">
              <a:buClrTx/>
              <a:buSzTx/>
              <a:buFontTx/>
            </a:pPr>
            <a:endParaRPr lang="en-US">
              <a:solidFill>
                <a:srgbClr val="FFFFFF"/>
              </a:solidFill>
              <a:latin typeface="Arial" panose="020B0604020202020204" pitchFamily="34" charset="0"/>
              <a:sym typeface="Arial" panose="020B0604020202020204" pitchFamily="34" charset="0"/>
            </a:endParaRPr>
          </a:p>
        </p:txBody>
      </p:sp>
      <p:sp>
        <p:nvSpPr>
          <p:cNvPr id="22" name="任意多边形 2"/>
          <p:cNvSpPr/>
          <p:nvPr>
            <p:custDataLst>
              <p:tags r:id="rId13"/>
            </p:custDataLst>
          </p:nvPr>
        </p:nvSpPr>
        <p:spPr>
          <a:xfrm>
            <a:off x="1447165" y="1499871"/>
            <a:ext cx="3606629" cy="619365"/>
          </a:xfrm>
          <a:custGeom>
            <a:avLst/>
            <a:gdLst>
              <a:gd name="connsiteX0" fmla="*/ 0 w 4050"/>
              <a:gd name="connsiteY0" fmla="*/ 0 h 798"/>
              <a:gd name="connsiteX1" fmla="*/ 3411 w 4050"/>
              <a:gd name="connsiteY1" fmla="*/ 0 h 798"/>
              <a:gd name="connsiteX2" fmla="*/ 4050 w 4050"/>
              <a:gd name="connsiteY2" fmla="*/ 798 h 798"/>
            </a:gdLst>
            <a:ahLst/>
            <a:cxnLst>
              <a:cxn ang="0">
                <a:pos x="connsiteX0" y="connsiteY0"/>
              </a:cxn>
              <a:cxn ang="0">
                <a:pos x="connsiteX1" y="connsiteY1"/>
              </a:cxn>
              <a:cxn ang="0">
                <a:pos x="connsiteX2" y="connsiteY2"/>
              </a:cxn>
            </a:cxnLst>
            <a:rect l="l" t="t" r="r" b="b"/>
            <a:pathLst>
              <a:path w="4050" h="798">
                <a:moveTo>
                  <a:pt x="0" y="0"/>
                </a:moveTo>
                <a:lnTo>
                  <a:pt x="3411" y="0"/>
                </a:lnTo>
                <a:lnTo>
                  <a:pt x="4050" y="798"/>
                </a:lnTo>
              </a:path>
            </a:pathLst>
          </a:custGeom>
          <a:noFill/>
          <a:ln>
            <a:gradFill>
              <a:gsLst>
                <a:gs pos="0">
                  <a:srgbClr val="17D594"/>
                </a:gs>
                <a:gs pos="100000">
                  <a:srgbClr val="17D594">
                    <a:alpha val="0"/>
                  </a:srgbClr>
                </a:gs>
              </a:gsLst>
              <a:lin ang="10800000" scaled="0"/>
            </a:grad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rmAutofit/>
          </a:bodyPr>
          <a:p>
            <a:pPr lvl="0" algn="ctr">
              <a:buClrTx/>
              <a:buSzTx/>
              <a:buFontTx/>
            </a:pPr>
            <a:endParaRPr lang="en-US">
              <a:solidFill>
                <a:srgbClr val="FFFFFF"/>
              </a:solidFill>
              <a:latin typeface="Arial" panose="020B0604020202020204" pitchFamily="34" charset="0"/>
              <a:sym typeface="Arial" panose="020B0604020202020204" pitchFamily="34" charset="0"/>
            </a:endParaRPr>
          </a:p>
        </p:txBody>
      </p:sp>
      <p:sp>
        <p:nvSpPr>
          <p:cNvPr id="25" name="椭圆 8"/>
          <p:cNvSpPr/>
          <p:nvPr>
            <p:custDataLst>
              <p:tags r:id="rId14"/>
            </p:custDataLst>
          </p:nvPr>
        </p:nvSpPr>
        <p:spPr>
          <a:xfrm>
            <a:off x="1568450" y="4060191"/>
            <a:ext cx="8939346" cy="1896945"/>
          </a:xfrm>
          <a:prstGeom prst="ellipse">
            <a:avLst/>
          </a:prstGeom>
          <a:noFill/>
          <a:ln w="19050">
            <a:gradFill>
              <a:gsLst>
                <a:gs pos="31000">
                  <a:srgbClr val="AFC6FF">
                    <a:alpha val="0"/>
                  </a:srgbClr>
                </a:gs>
                <a:gs pos="77000">
                  <a:srgbClr val="376FFF">
                    <a:lumMod val="60000"/>
                    <a:lumOff val="40000"/>
                    <a:alpha val="70000"/>
                  </a:srgbClr>
                </a:gs>
              </a:gsLst>
              <a:lin ang="5400000" scaled="0"/>
            </a:gradFill>
          </a:ln>
        </p:spPr>
        <p:style>
          <a:lnRef idx="2">
            <a:srgbClr val="376FFF">
              <a:shade val="50000"/>
            </a:srgbClr>
          </a:lnRef>
          <a:fillRef idx="1">
            <a:srgbClr val="376FFF"/>
          </a:fillRef>
          <a:effectRef idx="0">
            <a:srgbClr val="376FFF"/>
          </a:effectRef>
          <a:fontRef idx="minor">
            <a:srgbClr val="FFFFFF"/>
          </a:fontRef>
        </p:style>
        <p:txBody>
          <a:bodyPr rtlCol="0" anchor="ctr">
            <a:normAutofit/>
          </a:bodyPr>
          <a:p>
            <a:pPr algn="ctr"/>
            <a:endParaRPr lang="en-US">
              <a:solidFill>
                <a:srgbClr val="FFFFFF"/>
              </a:solidFill>
              <a:latin typeface="Arial" panose="020B0604020202020204" pitchFamily="34" charset="0"/>
            </a:endParaRPr>
          </a:p>
        </p:txBody>
      </p:sp>
      <p:sp>
        <p:nvSpPr>
          <p:cNvPr id="26" name="椭圆 9"/>
          <p:cNvSpPr/>
          <p:nvPr>
            <p:custDataLst>
              <p:tags r:id="rId15"/>
            </p:custDataLst>
          </p:nvPr>
        </p:nvSpPr>
        <p:spPr>
          <a:xfrm>
            <a:off x="2565400" y="4060191"/>
            <a:ext cx="6945626" cy="1386009"/>
          </a:xfrm>
          <a:prstGeom prst="ellipse">
            <a:avLst/>
          </a:prstGeom>
          <a:noFill/>
          <a:ln w="53975">
            <a:gradFill>
              <a:gsLst>
                <a:gs pos="38000">
                  <a:srgbClr val="AFC6FF">
                    <a:alpha val="0"/>
                  </a:srgbClr>
                </a:gs>
                <a:gs pos="85000">
                  <a:srgbClr val="376FFF">
                    <a:alpha val="65000"/>
                  </a:srgbClr>
                </a:gs>
              </a:gsLst>
              <a:lin ang="5460000" scaled="0"/>
            </a:gradFill>
          </a:ln>
        </p:spPr>
        <p:style>
          <a:lnRef idx="2">
            <a:srgbClr val="376FFF">
              <a:shade val="50000"/>
            </a:srgbClr>
          </a:lnRef>
          <a:fillRef idx="1">
            <a:srgbClr val="376FFF"/>
          </a:fillRef>
          <a:effectRef idx="0">
            <a:srgbClr val="376FFF"/>
          </a:effectRef>
          <a:fontRef idx="minor">
            <a:srgbClr val="FFFFFF"/>
          </a:fontRef>
        </p:style>
        <p:txBody>
          <a:bodyPr rtlCol="0" anchor="ctr">
            <a:normAutofit/>
          </a:bodyPr>
          <a:p>
            <a:pPr algn="ctr"/>
            <a:endParaRPr lang="en-US">
              <a:solidFill>
                <a:srgbClr val="FFFFFF"/>
              </a:solidFill>
              <a:latin typeface="Arial" panose="020B0604020202020204" pitchFamily="34" charset="0"/>
            </a:endParaRPr>
          </a:p>
        </p:txBody>
      </p:sp>
    </p:spTree>
    <p:custDataLst>
      <p:tags r:id="rId16"/>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1"/>
          <p:cNvSpPr/>
          <p:nvPr>
            <p:custDataLst>
              <p:tags r:id="rId1"/>
            </p:custDataLst>
          </p:nvPr>
        </p:nvSpPr>
        <p:spPr>
          <a:xfrm>
            <a:off x="8286115" y="1427480"/>
            <a:ext cx="2887200" cy="385200"/>
          </a:xfrm>
          <a:prstGeom prst="rect">
            <a:avLst/>
          </a:prstGeom>
          <a:noFill/>
        </p:spPr>
        <p:txBody>
          <a:bodyPr wrap="square" lIns="0" tIns="0" rIns="0" bIns="0" rtlCol="0" anchor="b" anchorCtr="0">
            <a:normAutofit fontScale="70000"/>
          </a:bodyPr>
          <a:p>
            <a:pPr>
              <a:spcBef>
                <a:spcPct val="0"/>
              </a:spcBef>
              <a:spcAft>
                <a:spcPct val="0"/>
              </a:spcAft>
            </a:pPr>
            <a:r>
              <a:rPr lang="en-US" altLang="en-US" sz="2000" b="1">
                <a:solidFill>
                  <a:schemeClr val="accent1"/>
                </a:solidFill>
                <a:latin typeface="Arial" panose="020B0604020202020204" pitchFamily="34" charset="0"/>
              </a:rPr>
              <a:t>Build on High-Performing Markets</a:t>
            </a:r>
            <a:endParaRPr lang="en-US" altLang="en-US" sz="2000" b="1">
              <a:solidFill>
                <a:schemeClr val="accent1"/>
              </a:solidFill>
              <a:latin typeface="Arial" panose="020B0604020202020204" pitchFamily="34" charset="0"/>
            </a:endParaRPr>
          </a:p>
        </p:txBody>
      </p:sp>
      <p:sp>
        <p:nvSpPr>
          <p:cNvPr id="6" name="矩形 3"/>
          <p:cNvSpPr/>
          <p:nvPr>
            <p:custDataLst>
              <p:tags r:id="rId2"/>
            </p:custDataLst>
          </p:nvPr>
        </p:nvSpPr>
        <p:spPr>
          <a:xfrm>
            <a:off x="885190" y="3086736"/>
            <a:ext cx="2887200" cy="385200"/>
          </a:xfrm>
          <a:prstGeom prst="rect">
            <a:avLst/>
          </a:prstGeom>
          <a:noFill/>
        </p:spPr>
        <p:txBody>
          <a:bodyPr wrap="square" lIns="0" tIns="0" rIns="0" bIns="0" rtlCol="0" anchor="b" anchorCtr="0">
            <a:normAutofit fontScale="80000"/>
          </a:bodyPr>
          <a:p>
            <a:pPr algn="r">
              <a:spcBef>
                <a:spcPct val="0"/>
              </a:spcBef>
              <a:spcAft>
                <a:spcPct val="0"/>
              </a:spcAft>
            </a:pPr>
            <a:r>
              <a:rPr lang="en-US" altLang="en-US" sz="2000" b="1">
                <a:solidFill>
                  <a:schemeClr val="accent1"/>
                </a:solidFill>
                <a:latin typeface="Arial" panose="020B0604020202020204" pitchFamily="34" charset="0"/>
              </a:rPr>
              <a:t>Retain High-Value Customers</a:t>
            </a:r>
            <a:endParaRPr lang="en-US" altLang="en-US" sz="2000" b="1">
              <a:solidFill>
                <a:schemeClr val="accent1"/>
              </a:solidFill>
              <a:latin typeface="Arial" panose="020B0604020202020204" pitchFamily="34" charset="0"/>
            </a:endParaRPr>
          </a:p>
        </p:txBody>
      </p:sp>
      <p:sp>
        <p:nvSpPr>
          <p:cNvPr id="8" name="矩形 4"/>
          <p:cNvSpPr/>
          <p:nvPr>
            <p:custDataLst>
              <p:tags r:id="rId3"/>
            </p:custDataLst>
          </p:nvPr>
        </p:nvSpPr>
        <p:spPr>
          <a:xfrm>
            <a:off x="744855" y="1545591"/>
            <a:ext cx="3478599" cy="1328400"/>
          </a:xfrm>
          <a:prstGeom prst="rect">
            <a:avLst/>
          </a:prstGeom>
          <a:noFill/>
        </p:spPr>
        <p:txBody>
          <a:bodyPr wrap="square" lIns="0" tIns="0" rIns="0" bIns="0" rtlCol="0" anchor="t" anchorCtr="0">
            <a:normAutofit fontScale="90000" lnSpcReduction="10000"/>
          </a:bodyPr>
          <a:p>
            <a:pPr algn="r">
              <a:lnSpc>
                <a:spcPct val="130000"/>
              </a:lnSpc>
              <a:spcBef>
                <a:spcPct val="0"/>
              </a:spcBef>
              <a:spcAft>
                <a:spcPct val="0"/>
              </a:spcAft>
            </a:pPr>
            <a:r>
              <a:rPr lang="en-US" altLang="en-US" sz="1600" dirty="0">
                <a:ln>
                  <a:noFill/>
                  <a:prstDash val="sysDot"/>
                </a:ln>
                <a:solidFill>
                  <a:srgbClr val="000000">
                    <a:lumMod val="65000"/>
                    <a:lumOff val="35000"/>
                  </a:srgbClr>
                </a:solidFill>
              </a:rPr>
              <a:t>Assess the pricing, procurement costs, and profitability of consistently loss-making products. Consider repricing, renegotiating supplier costs, or discontinuing products that remain unprofitable.</a:t>
            </a:r>
            <a:endParaRPr lang="en-US" altLang="en-US" sz="1600" dirty="0">
              <a:ln>
                <a:noFill/>
                <a:prstDash val="sysDot"/>
              </a:ln>
              <a:solidFill>
                <a:srgbClr val="000000">
                  <a:lumMod val="65000"/>
                  <a:lumOff val="35000"/>
                </a:srgbClr>
              </a:solidFill>
            </a:endParaRPr>
          </a:p>
        </p:txBody>
      </p:sp>
      <p:sp>
        <p:nvSpPr>
          <p:cNvPr id="11" name="矩形 7"/>
          <p:cNvSpPr/>
          <p:nvPr>
            <p:custDataLst>
              <p:tags r:id="rId4"/>
            </p:custDataLst>
          </p:nvPr>
        </p:nvSpPr>
        <p:spPr>
          <a:xfrm>
            <a:off x="648335" y="3628390"/>
            <a:ext cx="3124835" cy="1328400"/>
          </a:xfrm>
          <a:prstGeom prst="rect">
            <a:avLst/>
          </a:prstGeom>
          <a:noFill/>
        </p:spPr>
        <p:txBody>
          <a:bodyPr wrap="square" lIns="0" tIns="0" rIns="0" bIns="0" rtlCol="0" anchor="t" anchorCtr="0">
            <a:normAutofit fontScale="90000"/>
          </a:bodyPr>
          <a:p>
            <a:pPr algn="r">
              <a:lnSpc>
                <a:spcPct val="130000"/>
              </a:lnSpc>
              <a:spcBef>
                <a:spcPct val="0"/>
              </a:spcBef>
              <a:spcAft>
                <a:spcPct val="0"/>
              </a:spcAft>
            </a:pPr>
            <a:r>
              <a:rPr lang="en-US" altLang="en-US" sz="1600" dirty="0">
                <a:ln>
                  <a:noFill/>
                  <a:prstDash val="sysDot"/>
                </a:ln>
                <a:solidFill>
                  <a:srgbClr val="000000">
                    <a:lumMod val="65000"/>
                    <a:lumOff val="35000"/>
                  </a:srgbClr>
                </a:solidFill>
              </a:rPr>
              <a:t>Develop loyalty initiatives and personalized engagement strategies for top customers to strengthen long-term customer retention.</a:t>
            </a:r>
            <a:endParaRPr lang="en-US" altLang="en-US" sz="1600" dirty="0">
              <a:ln>
                <a:noFill/>
                <a:prstDash val="sysDot"/>
              </a:ln>
              <a:solidFill>
                <a:srgbClr val="000000">
                  <a:lumMod val="65000"/>
                  <a:lumOff val="35000"/>
                </a:srgbClr>
              </a:solidFill>
            </a:endParaRPr>
          </a:p>
        </p:txBody>
      </p:sp>
      <p:sp>
        <p:nvSpPr>
          <p:cNvPr id="14" name="矩形 13"/>
          <p:cNvSpPr/>
          <p:nvPr>
            <p:custDataLst>
              <p:tags r:id="rId5"/>
            </p:custDataLst>
          </p:nvPr>
        </p:nvSpPr>
        <p:spPr>
          <a:xfrm>
            <a:off x="8286115" y="2005331"/>
            <a:ext cx="3162300" cy="1328400"/>
          </a:xfrm>
          <a:prstGeom prst="rect">
            <a:avLst/>
          </a:prstGeom>
          <a:noFill/>
        </p:spPr>
        <p:txBody>
          <a:bodyPr wrap="square" lIns="0" tIns="0" rIns="0" bIns="0" rtlCol="0" anchor="t" anchorCtr="0">
            <a:normAutofit fontScale="90000"/>
          </a:bodyPr>
          <a:p>
            <a:pPr>
              <a:lnSpc>
                <a:spcPct val="130000"/>
              </a:lnSpc>
              <a:spcBef>
                <a:spcPct val="0"/>
              </a:spcBef>
              <a:spcAft>
                <a:spcPct val="0"/>
              </a:spcAft>
            </a:pPr>
            <a:r>
              <a:rPr lang="en-US" altLang="en-US" sz="1600" dirty="0">
                <a:ln>
                  <a:noFill/>
                  <a:prstDash val="sysDot"/>
                </a:ln>
                <a:solidFill>
                  <a:srgbClr val="000000">
                    <a:lumMod val="65000"/>
                    <a:lumOff val="35000"/>
                  </a:srgbClr>
                </a:solidFill>
              </a:rPr>
              <a:t>Leverage the strategies driving success in the Central region and the United States to improve performance in underperforming markets.</a:t>
            </a:r>
            <a:endParaRPr lang="en-US" altLang="en-US" sz="1600" dirty="0">
              <a:ln>
                <a:noFill/>
                <a:prstDash val="sysDot"/>
              </a:ln>
              <a:solidFill>
                <a:srgbClr val="000000">
                  <a:lumMod val="65000"/>
                  <a:lumOff val="35000"/>
                </a:srgbClr>
              </a:solidFill>
            </a:endParaRPr>
          </a:p>
        </p:txBody>
      </p:sp>
      <p:sp>
        <p:nvSpPr>
          <p:cNvPr id="15" name="矩形 14"/>
          <p:cNvSpPr/>
          <p:nvPr>
            <p:custDataLst>
              <p:tags r:id="rId6"/>
            </p:custDataLst>
          </p:nvPr>
        </p:nvSpPr>
        <p:spPr>
          <a:xfrm>
            <a:off x="1334770" y="1063625"/>
            <a:ext cx="2887200" cy="385200"/>
          </a:xfrm>
          <a:prstGeom prst="rect">
            <a:avLst/>
          </a:prstGeom>
          <a:noFill/>
        </p:spPr>
        <p:txBody>
          <a:bodyPr wrap="square" lIns="0" tIns="0" rIns="0" bIns="0" rtlCol="0" anchor="b" anchorCtr="0">
            <a:normAutofit fontScale="70000"/>
          </a:bodyPr>
          <a:p>
            <a:pPr algn="r">
              <a:spcBef>
                <a:spcPct val="0"/>
              </a:spcBef>
              <a:spcAft>
                <a:spcPct val="0"/>
              </a:spcAft>
            </a:pPr>
            <a:r>
              <a:rPr lang="en-US" altLang="en-US" sz="2000" b="1" dirty="0">
                <a:solidFill>
                  <a:schemeClr val="accent1"/>
                </a:solidFill>
                <a:latin typeface="Arial" panose="020B0604020202020204" pitchFamily="34" charset="0"/>
              </a:rPr>
              <a:t>Review Loss-Making Products</a:t>
            </a:r>
            <a:endParaRPr lang="en-US" altLang="en-US" sz="2000" b="1" dirty="0">
              <a:solidFill>
                <a:schemeClr val="accent1"/>
              </a:solidFill>
              <a:latin typeface="Arial" panose="020B0604020202020204" pitchFamily="34" charset="0"/>
            </a:endParaRPr>
          </a:p>
        </p:txBody>
      </p:sp>
      <p:sp>
        <p:nvSpPr>
          <p:cNvPr id="12" name="Text Box 11"/>
          <p:cNvSpPr txBox="1"/>
          <p:nvPr/>
        </p:nvSpPr>
        <p:spPr>
          <a:xfrm>
            <a:off x="436880" y="59055"/>
            <a:ext cx="1769745" cy="229235"/>
          </a:xfrm>
          <a:prstGeom prst="rect">
            <a:avLst/>
          </a:prstGeom>
          <a:noFill/>
        </p:spPr>
        <p:txBody>
          <a:bodyPr wrap="square" rtlCol="0">
            <a:noAutofit/>
          </a:bodyPr>
          <a:p>
            <a:r>
              <a:rPr lang="en-US" sz="1200" b="1">
                <a:solidFill>
                  <a:schemeClr val="accent2"/>
                </a:solidFill>
                <a:latin typeface="Times New Roman" panose="02020603050405020304" charset="0"/>
                <a:cs typeface="Times New Roman" panose="02020603050405020304" charset="0"/>
              </a:rPr>
              <a:t>RECOMENDATION</a:t>
            </a:r>
            <a:endParaRPr lang="en-US" sz="1200" b="1">
              <a:solidFill>
                <a:schemeClr val="accent2"/>
              </a:solidFill>
              <a:latin typeface="Times New Roman" panose="02020603050405020304" charset="0"/>
              <a:cs typeface="Times New Roman" panose="02020603050405020304" charset="0"/>
            </a:endParaRPr>
          </a:p>
        </p:txBody>
      </p:sp>
      <p:sp>
        <p:nvSpPr>
          <p:cNvPr id="2" name="任意多边形 29"/>
          <p:cNvSpPr/>
          <p:nvPr>
            <p:custDataLst>
              <p:tags r:id="rId7"/>
            </p:custDataLst>
          </p:nvPr>
        </p:nvSpPr>
        <p:spPr>
          <a:xfrm>
            <a:off x="4314825" y="2207896"/>
            <a:ext cx="620833" cy="2182348"/>
          </a:xfrm>
          <a:custGeom>
            <a:avLst/>
            <a:gdLst>
              <a:gd name="connsiteX0" fmla="*/ 0 w 757"/>
              <a:gd name="connsiteY0" fmla="*/ 0 h 2661"/>
              <a:gd name="connsiteX1" fmla="*/ 757 w 757"/>
              <a:gd name="connsiteY1" fmla="*/ 149 h 2661"/>
              <a:gd name="connsiteX2" fmla="*/ 749 w 757"/>
              <a:gd name="connsiteY2" fmla="*/ 2453 h 2661"/>
              <a:gd name="connsiteX3" fmla="*/ 17 w 757"/>
              <a:gd name="connsiteY3" fmla="*/ 2661 h 2661"/>
              <a:gd name="connsiteX4" fmla="*/ 0 w 757"/>
              <a:gd name="connsiteY4" fmla="*/ 0 h 26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7" h="2661">
                <a:moveTo>
                  <a:pt x="0" y="0"/>
                </a:moveTo>
                <a:lnTo>
                  <a:pt x="757" y="149"/>
                </a:lnTo>
                <a:lnTo>
                  <a:pt x="749" y="2453"/>
                </a:lnTo>
                <a:lnTo>
                  <a:pt x="17" y="2661"/>
                </a:lnTo>
                <a:lnTo>
                  <a:pt x="0" y="0"/>
                </a:lnTo>
                <a:close/>
              </a:path>
            </a:pathLst>
          </a:custGeom>
          <a:gradFill>
            <a:gsLst>
              <a:gs pos="54000">
                <a:srgbClr val="376FFF"/>
              </a:gs>
              <a:gs pos="0">
                <a:srgbClr val="376FFF">
                  <a:lumMod val="60000"/>
                  <a:lumOff val="40000"/>
                </a:srgbClr>
              </a:gs>
              <a:gs pos="81000">
                <a:srgbClr val="376FFF"/>
              </a:gs>
              <a:gs pos="100000">
                <a:srgbClr val="376FFF"/>
              </a:gs>
            </a:gsLst>
            <a:lin ang="5400000" scaled="0"/>
          </a:gradFill>
          <a:ln>
            <a:gradFill>
              <a:gsLst>
                <a:gs pos="37000">
                  <a:srgbClr val="376FFF">
                    <a:lumMod val="5000"/>
                    <a:lumOff val="95000"/>
                  </a:srgbClr>
                </a:gs>
                <a:gs pos="0">
                  <a:srgbClr val="376FFF">
                    <a:lumMod val="45000"/>
                    <a:lumOff val="55000"/>
                  </a:srgbClr>
                </a:gs>
                <a:gs pos="100000">
                  <a:srgbClr val="FFFFFF"/>
                </a:gs>
                <a:gs pos="71000">
                  <a:srgbClr val="376FFF">
                    <a:lumMod val="30000"/>
                    <a:lumOff val="70000"/>
                  </a:srgbClr>
                </a:gs>
              </a:gsLst>
              <a:lin ang="16200000" scaled="0"/>
            </a:gradFill>
          </a:ln>
          <a:effectLst>
            <a:outerShdw blurRad="254000" dist="152400" dir="5400000" algn="t" rotWithShape="0">
              <a:srgbClr val="376FFF">
                <a:alpha val="40000"/>
              </a:srgbClr>
            </a:outerShdw>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b="1">
                <a:solidFill>
                  <a:srgbClr val="FFFFFF"/>
                </a:solidFill>
                <a:latin typeface="Arial" panose="020B0604020202020204" pitchFamily="34" charset="0"/>
                <a:sym typeface="Arial" panose="020B0604020202020204" pitchFamily="34" charset="0"/>
              </a:rPr>
              <a:t>04</a:t>
            </a:r>
            <a:endParaRPr lang="en-US" b="1">
              <a:solidFill>
                <a:srgbClr val="FFFFFF"/>
              </a:solidFill>
              <a:latin typeface="Microsoft YaHei" panose="020B0503020204020204" charset="-122"/>
              <a:sym typeface="Microsoft YaHei" panose="020B0503020204020204" charset="-122"/>
            </a:endParaRPr>
          </a:p>
        </p:txBody>
      </p:sp>
      <p:sp>
        <p:nvSpPr>
          <p:cNvPr id="3" name="任意多边形 30"/>
          <p:cNvSpPr/>
          <p:nvPr>
            <p:custDataLst>
              <p:tags r:id="rId8"/>
            </p:custDataLst>
          </p:nvPr>
        </p:nvSpPr>
        <p:spPr>
          <a:xfrm>
            <a:off x="5294630" y="1635126"/>
            <a:ext cx="901316" cy="3327241"/>
          </a:xfrm>
          <a:custGeom>
            <a:avLst/>
            <a:gdLst>
              <a:gd name="connsiteX0" fmla="*/ 0 w 1099"/>
              <a:gd name="connsiteY0" fmla="*/ 0 h 4057"/>
              <a:gd name="connsiteX1" fmla="*/ 1099 w 1099"/>
              <a:gd name="connsiteY1" fmla="*/ 418 h 4057"/>
              <a:gd name="connsiteX2" fmla="*/ 1099 w 1099"/>
              <a:gd name="connsiteY2" fmla="*/ 3626 h 4057"/>
              <a:gd name="connsiteX3" fmla="*/ 0 w 1099"/>
              <a:gd name="connsiteY3" fmla="*/ 4057 h 4057"/>
              <a:gd name="connsiteX4" fmla="*/ 0 w 1099"/>
              <a:gd name="connsiteY4" fmla="*/ 0 h 4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9" h="4057">
                <a:moveTo>
                  <a:pt x="0" y="0"/>
                </a:moveTo>
                <a:lnTo>
                  <a:pt x="1099" y="418"/>
                </a:lnTo>
                <a:lnTo>
                  <a:pt x="1099" y="3626"/>
                </a:lnTo>
                <a:lnTo>
                  <a:pt x="0" y="4057"/>
                </a:lnTo>
                <a:lnTo>
                  <a:pt x="0" y="0"/>
                </a:lnTo>
                <a:close/>
              </a:path>
            </a:pathLst>
          </a:custGeom>
          <a:gradFill>
            <a:gsLst>
              <a:gs pos="54000">
                <a:srgbClr val="17D594"/>
              </a:gs>
              <a:gs pos="0">
                <a:srgbClr val="17D594">
                  <a:lumMod val="60000"/>
                  <a:lumOff val="40000"/>
                </a:srgbClr>
              </a:gs>
              <a:gs pos="100000">
                <a:srgbClr val="17D594">
                  <a:lumMod val="60000"/>
                  <a:lumOff val="40000"/>
                </a:srgbClr>
              </a:gs>
            </a:gsLst>
            <a:lin ang="5400000" scaled="0"/>
          </a:gradFill>
          <a:ln>
            <a:gradFill>
              <a:gsLst>
                <a:gs pos="32000">
                  <a:srgbClr val="376FFF">
                    <a:lumMod val="5000"/>
                    <a:lumOff val="95000"/>
                  </a:srgbClr>
                </a:gs>
                <a:gs pos="0">
                  <a:srgbClr val="17D594">
                    <a:lumMod val="20000"/>
                    <a:lumOff val="80000"/>
                  </a:srgbClr>
                </a:gs>
                <a:gs pos="100000">
                  <a:srgbClr val="FFFFFF"/>
                </a:gs>
                <a:gs pos="71000">
                  <a:srgbClr val="17D594">
                    <a:lumMod val="20000"/>
                    <a:lumOff val="80000"/>
                  </a:srgbClr>
                </a:gs>
              </a:gsLst>
              <a:lin ang="16200000" scaled="1"/>
            </a:gradFill>
          </a:ln>
          <a:effectLst>
            <a:outerShdw blurRad="254000" dist="152400" dir="5400000" algn="t" rotWithShape="0">
              <a:srgbClr val="17D594">
                <a:alpha val="40000"/>
              </a:srgbClr>
            </a:outerShdw>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b="1">
                <a:solidFill>
                  <a:srgbClr val="FFFFFF"/>
                </a:solidFill>
                <a:latin typeface="Arial" panose="020B0604020202020204" pitchFamily="34" charset="0"/>
                <a:sym typeface="Arial" panose="020B0604020202020204" pitchFamily="34" charset="0"/>
              </a:rPr>
              <a:t>05</a:t>
            </a:r>
            <a:endParaRPr lang="en-US" b="1">
              <a:solidFill>
                <a:srgbClr val="FFFFFF"/>
              </a:solidFill>
              <a:latin typeface="Microsoft YaHei" panose="020B0503020204020204" charset="-122"/>
              <a:sym typeface="Microsoft YaHei" panose="020B0503020204020204" charset="-122"/>
            </a:endParaRPr>
          </a:p>
        </p:txBody>
      </p:sp>
      <p:sp>
        <p:nvSpPr>
          <p:cNvPr id="4" name="任意多边形 32"/>
          <p:cNvSpPr/>
          <p:nvPr>
            <p:custDataLst>
              <p:tags r:id="rId9"/>
            </p:custDataLst>
          </p:nvPr>
        </p:nvSpPr>
        <p:spPr>
          <a:xfrm>
            <a:off x="6532880" y="1216026"/>
            <a:ext cx="1019413" cy="4004663"/>
          </a:xfrm>
          <a:custGeom>
            <a:avLst/>
            <a:gdLst>
              <a:gd name="connsiteX0" fmla="*/ 15 w 1243"/>
              <a:gd name="connsiteY0" fmla="*/ 0 h 4883"/>
              <a:gd name="connsiteX1" fmla="*/ 1232 w 1243"/>
              <a:gd name="connsiteY1" fmla="*/ 712 h 4883"/>
              <a:gd name="connsiteX2" fmla="*/ 1243 w 1243"/>
              <a:gd name="connsiteY2" fmla="*/ 4288 h 4883"/>
              <a:gd name="connsiteX3" fmla="*/ 0 w 1243"/>
              <a:gd name="connsiteY3" fmla="*/ 4883 h 4883"/>
              <a:gd name="connsiteX4" fmla="*/ 15 w 1243"/>
              <a:gd name="connsiteY4" fmla="*/ 0 h 48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43" h="4883">
                <a:moveTo>
                  <a:pt x="15" y="0"/>
                </a:moveTo>
                <a:lnTo>
                  <a:pt x="1232" y="712"/>
                </a:lnTo>
                <a:lnTo>
                  <a:pt x="1243" y="4288"/>
                </a:lnTo>
                <a:lnTo>
                  <a:pt x="0" y="4883"/>
                </a:lnTo>
                <a:lnTo>
                  <a:pt x="15" y="0"/>
                </a:lnTo>
                <a:close/>
              </a:path>
            </a:pathLst>
          </a:custGeom>
          <a:gradFill>
            <a:gsLst>
              <a:gs pos="54000">
                <a:srgbClr val="376FFF"/>
              </a:gs>
              <a:gs pos="0">
                <a:srgbClr val="376FFF">
                  <a:lumMod val="60000"/>
                  <a:lumOff val="40000"/>
                </a:srgbClr>
              </a:gs>
              <a:gs pos="81000">
                <a:srgbClr val="376FFF"/>
              </a:gs>
              <a:gs pos="100000">
                <a:srgbClr val="376FFF"/>
              </a:gs>
            </a:gsLst>
            <a:lin ang="5400000" scaled="0"/>
          </a:gradFill>
          <a:ln>
            <a:gradFill>
              <a:gsLst>
                <a:gs pos="37000">
                  <a:srgbClr val="376FFF">
                    <a:lumMod val="5000"/>
                    <a:lumOff val="95000"/>
                  </a:srgbClr>
                </a:gs>
                <a:gs pos="0">
                  <a:srgbClr val="376FFF">
                    <a:lumMod val="45000"/>
                    <a:lumOff val="55000"/>
                  </a:srgbClr>
                </a:gs>
                <a:gs pos="100000">
                  <a:srgbClr val="FFFFFF"/>
                </a:gs>
                <a:gs pos="71000">
                  <a:srgbClr val="376FFF">
                    <a:lumMod val="30000"/>
                    <a:lumOff val="70000"/>
                  </a:srgbClr>
                </a:gs>
              </a:gsLst>
              <a:lin ang="16200000" scaled="0"/>
            </a:gradFill>
          </a:ln>
          <a:effectLst>
            <a:outerShdw blurRad="254000" dist="152400" dir="5400000" algn="t" rotWithShape="0">
              <a:srgbClr val="376FFF">
                <a:alpha val="40000"/>
              </a:srgbClr>
            </a:outerShdw>
          </a:effectLst>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none" numCol="1" spcCol="0" rtlCol="0" fromWordArt="0" anchor="ctr" anchorCtr="0" forceAA="0" compatLnSpc="1">
            <a:normAutofit/>
          </a:bodyPr>
          <a:p>
            <a:pPr lvl="0" algn="ctr">
              <a:spcBef>
                <a:spcPct val="0"/>
              </a:spcBef>
              <a:spcAft>
                <a:spcPct val="0"/>
              </a:spcAft>
              <a:buClrTx/>
              <a:buSzTx/>
              <a:buFontTx/>
            </a:pPr>
            <a:r>
              <a:rPr lang="en-US" b="1">
                <a:solidFill>
                  <a:srgbClr val="FFFFFF"/>
                </a:solidFill>
                <a:latin typeface="Arial" panose="020B0604020202020204" pitchFamily="34" charset="0"/>
                <a:sym typeface="Arial" panose="020B0604020202020204" pitchFamily="34" charset="0"/>
              </a:rPr>
              <a:t>06</a:t>
            </a:r>
            <a:endParaRPr lang="en-US" b="1">
              <a:solidFill>
                <a:srgbClr val="FFFFFF"/>
              </a:solidFill>
              <a:latin typeface="Microsoft YaHei" panose="020B0503020204020204" charset="-122"/>
              <a:sym typeface="Microsoft YaHei" panose="020B0503020204020204" charset="-122"/>
            </a:endParaRPr>
          </a:p>
        </p:txBody>
      </p:sp>
      <p:sp>
        <p:nvSpPr>
          <p:cNvPr id="21" name="任意多边形 15"/>
          <p:cNvSpPr/>
          <p:nvPr>
            <p:custDataLst>
              <p:tags r:id="rId10"/>
            </p:custDataLst>
          </p:nvPr>
        </p:nvSpPr>
        <p:spPr>
          <a:xfrm>
            <a:off x="703580" y="3608071"/>
            <a:ext cx="3366777" cy="346092"/>
          </a:xfrm>
          <a:custGeom>
            <a:avLst/>
            <a:gdLst>
              <a:gd name="connisteX0" fmla="*/ 0 w 2971165"/>
              <a:gd name="connsiteY0" fmla="*/ 0 h 285750"/>
              <a:gd name="connisteX1" fmla="*/ 2684780 w 2971165"/>
              <a:gd name="connsiteY1" fmla="*/ 0 h 285750"/>
              <a:gd name="connisteX2" fmla="*/ 2971165 w 2971165"/>
              <a:gd name="connsiteY2" fmla="*/ 285750 h 285750"/>
            </a:gdLst>
            <a:ahLst/>
            <a:cxnLst>
              <a:cxn ang="0">
                <a:pos x="connisteX0" y="connsiteY0"/>
              </a:cxn>
              <a:cxn ang="0">
                <a:pos x="connisteX1" y="connsiteY1"/>
              </a:cxn>
              <a:cxn ang="0">
                <a:pos x="connisteX2" y="connsiteY2"/>
              </a:cxn>
            </a:cxnLst>
            <a:rect l="l" t="t" r="r" b="b"/>
            <a:pathLst>
              <a:path w="2971165" h="285750">
                <a:moveTo>
                  <a:pt x="0" y="0"/>
                </a:moveTo>
                <a:lnTo>
                  <a:pt x="2684780" y="0"/>
                </a:lnTo>
                <a:lnTo>
                  <a:pt x="2971165" y="285750"/>
                </a:lnTo>
              </a:path>
            </a:pathLst>
          </a:custGeom>
          <a:noFill/>
          <a:ln>
            <a:gradFill>
              <a:gsLst>
                <a:gs pos="100000">
                  <a:srgbClr val="AFC6FF">
                    <a:alpha val="0"/>
                  </a:srgbClr>
                </a:gs>
                <a:gs pos="47000">
                  <a:srgbClr val="376FFF">
                    <a:alpha val="70000"/>
                  </a:srgbClr>
                </a:gs>
              </a:gsLst>
              <a:lin ang="10800000" scaled="0"/>
            </a:grad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rmAutofit fontScale="92500" lnSpcReduction="10000"/>
          </a:bodyPr>
          <a:p>
            <a:pPr lvl="0" algn="ctr">
              <a:buClrTx/>
              <a:buSzTx/>
              <a:buFontTx/>
            </a:pPr>
            <a:endParaRPr lang="en-US">
              <a:solidFill>
                <a:srgbClr val="FFFFFF"/>
              </a:solidFill>
              <a:latin typeface="Arial" panose="020B0604020202020204" pitchFamily="34" charset="0"/>
              <a:sym typeface="Arial" panose="020B0604020202020204" pitchFamily="34" charset="0"/>
            </a:endParaRPr>
          </a:p>
        </p:txBody>
      </p:sp>
      <p:sp>
        <p:nvSpPr>
          <p:cNvPr id="23" name="任意多边形 23"/>
          <p:cNvSpPr/>
          <p:nvPr>
            <p:custDataLst>
              <p:tags r:id="rId11"/>
            </p:custDataLst>
          </p:nvPr>
        </p:nvSpPr>
        <p:spPr>
          <a:xfrm>
            <a:off x="7600315" y="1923416"/>
            <a:ext cx="3696296" cy="655279"/>
          </a:xfrm>
          <a:custGeom>
            <a:avLst/>
            <a:gdLst>
              <a:gd name="connsiteX0" fmla="*/ 0 w 4507"/>
              <a:gd name="connsiteY0" fmla="*/ 799 h 799"/>
              <a:gd name="connsiteX1" fmla="*/ 820 w 4507"/>
              <a:gd name="connsiteY1" fmla="*/ 0 h 799"/>
              <a:gd name="connsiteX2" fmla="*/ 4507 w 4507"/>
              <a:gd name="connsiteY2" fmla="*/ 0 h 799"/>
            </a:gdLst>
            <a:ahLst/>
            <a:cxnLst>
              <a:cxn ang="0">
                <a:pos x="connsiteX0" y="connsiteY0"/>
              </a:cxn>
              <a:cxn ang="0">
                <a:pos x="connsiteX1" y="connsiteY1"/>
              </a:cxn>
              <a:cxn ang="0">
                <a:pos x="connsiteX2" y="connsiteY2"/>
              </a:cxn>
            </a:cxnLst>
            <a:rect l="l" t="t" r="r" b="b"/>
            <a:pathLst>
              <a:path w="4507" h="799">
                <a:moveTo>
                  <a:pt x="0" y="799"/>
                </a:moveTo>
                <a:lnTo>
                  <a:pt x="820" y="0"/>
                </a:lnTo>
                <a:lnTo>
                  <a:pt x="4507" y="0"/>
                </a:lnTo>
              </a:path>
            </a:pathLst>
          </a:custGeom>
          <a:noFill/>
          <a:ln>
            <a:gradFill>
              <a:gsLst>
                <a:gs pos="100000">
                  <a:srgbClr val="AFC6FF">
                    <a:alpha val="0"/>
                  </a:srgbClr>
                </a:gs>
                <a:gs pos="47000">
                  <a:srgbClr val="376FFF">
                    <a:alpha val="70000"/>
                  </a:srgbClr>
                </a:gs>
              </a:gsLst>
              <a:lin ang="0" scaled="0"/>
            </a:grad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rmAutofit/>
          </a:bodyPr>
          <a:p>
            <a:pPr lvl="0" algn="ctr">
              <a:buClrTx/>
              <a:buSzTx/>
              <a:buFontTx/>
            </a:pPr>
            <a:endParaRPr lang="en-US">
              <a:solidFill>
                <a:srgbClr val="FFFFFF"/>
              </a:solidFill>
              <a:latin typeface="Arial" panose="020B0604020202020204" pitchFamily="34" charset="0"/>
              <a:sym typeface="Arial" panose="020B0604020202020204" pitchFamily="34" charset="0"/>
            </a:endParaRPr>
          </a:p>
        </p:txBody>
      </p:sp>
      <p:sp>
        <p:nvSpPr>
          <p:cNvPr id="27" name="任意多边形 2"/>
          <p:cNvSpPr/>
          <p:nvPr>
            <p:custDataLst>
              <p:tags r:id="rId12"/>
            </p:custDataLst>
          </p:nvPr>
        </p:nvSpPr>
        <p:spPr>
          <a:xfrm>
            <a:off x="1464945" y="1524001"/>
            <a:ext cx="3606629" cy="619365"/>
          </a:xfrm>
          <a:custGeom>
            <a:avLst/>
            <a:gdLst>
              <a:gd name="connsiteX0" fmla="*/ 0 w 4050"/>
              <a:gd name="connsiteY0" fmla="*/ 0 h 798"/>
              <a:gd name="connsiteX1" fmla="*/ 3411 w 4050"/>
              <a:gd name="connsiteY1" fmla="*/ 0 h 798"/>
              <a:gd name="connsiteX2" fmla="*/ 4050 w 4050"/>
              <a:gd name="connsiteY2" fmla="*/ 798 h 798"/>
            </a:gdLst>
            <a:ahLst/>
            <a:cxnLst>
              <a:cxn ang="0">
                <a:pos x="connsiteX0" y="connsiteY0"/>
              </a:cxn>
              <a:cxn ang="0">
                <a:pos x="connsiteX1" y="connsiteY1"/>
              </a:cxn>
              <a:cxn ang="0">
                <a:pos x="connsiteX2" y="connsiteY2"/>
              </a:cxn>
            </a:cxnLst>
            <a:rect l="l" t="t" r="r" b="b"/>
            <a:pathLst>
              <a:path w="4050" h="798">
                <a:moveTo>
                  <a:pt x="0" y="0"/>
                </a:moveTo>
                <a:lnTo>
                  <a:pt x="3411" y="0"/>
                </a:lnTo>
                <a:lnTo>
                  <a:pt x="4050" y="798"/>
                </a:lnTo>
              </a:path>
            </a:pathLst>
          </a:custGeom>
          <a:noFill/>
          <a:ln>
            <a:gradFill>
              <a:gsLst>
                <a:gs pos="0">
                  <a:srgbClr val="17D594"/>
                </a:gs>
                <a:gs pos="100000">
                  <a:srgbClr val="17D594">
                    <a:alpha val="0"/>
                  </a:srgbClr>
                </a:gs>
              </a:gsLst>
              <a:lin ang="10800000" scaled="0"/>
            </a:gradFill>
          </a:ln>
        </p:spPr>
        <p:style>
          <a:lnRef idx="2">
            <a:srgbClr val="376FFF">
              <a:shade val="50000"/>
            </a:srgbClr>
          </a:lnRef>
          <a:fillRef idx="1">
            <a:srgbClr val="376FFF"/>
          </a:fillRef>
          <a:effectRef idx="0">
            <a:srgbClr val="376FFF"/>
          </a:effectRef>
          <a:fontRef idx="minor">
            <a:srgbClr val="FFFFFF"/>
          </a:fontRef>
        </p:style>
        <p:txBody>
          <a:bodyPr vertOverflow="overflow" horzOverflow="overflow" vert="horz" wrap="square" numCol="1" spcCol="0" rtlCol="0" fromWordArt="0" anchor="ctr" anchorCtr="0" forceAA="0" compatLnSpc="1">
            <a:normAutofit/>
          </a:bodyPr>
          <a:p>
            <a:pPr lvl="0" algn="ctr">
              <a:buClrTx/>
              <a:buSzTx/>
              <a:buFontTx/>
            </a:pPr>
            <a:endParaRPr lang="en-US">
              <a:solidFill>
                <a:srgbClr val="FFFFFF"/>
              </a:solidFill>
              <a:latin typeface="Arial" panose="020B0604020202020204" pitchFamily="34" charset="0"/>
              <a:sym typeface="Arial" panose="020B0604020202020204" pitchFamily="34" charset="0"/>
            </a:endParaRPr>
          </a:p>
        </p:txBody>
      </p:sp>
      <p:sp>
        <p:nvSpPr>
          <p:cNvPr id="28" name="椭圆 8"/>
          <p:cNvSpPr/>
          <p:nvPr>
            <p:custDataLst>
              <p:tags r:id="rId13"/>
            </p:custDataLst>
          </p:nvPr>
        </p:nvSpPr>
        <p:spPr>
          <a:xfrm>
            <a:off x="1586230" y="4084321"/>
            <a:ext cx="8939346" cy="1896945"/>
          </a:xfrm>
          <a:prstGeom prst="ellipse">
            <a:avLst/>
          </a:prstGeom>
          <a:noFill/>
          <a:ln w="19050">
            <a:gradFill>
              <a:gsLst>
                <a:gs pos="31000">
                  <a:srgbClr val="AFC6FF">
                    <a:alpha val="0"/>
                  </a:srgbClr>
                </a:gs>
                <a:gs pos="77000">
                  <a:srgbClr val="376FFF">
                    <a:lumMod val="60000"/>
                    <a:lumOff val="40000"/>
                    <a:alpha val="70000"/>
                  </a:srgbClr>
                </a:gs>
              </a:gsLst>
              <a:lin ang="5400000" scaled="0"/>
            </a:gradFill>
          </a:ln>
        </p:spPr>
        <p:style>
          <a:lnRef idx="2">
            <a:srgbClr val="376FFF">
              <a:shade val="50000"/>
            </a:srgbClr>
          </a:lnRef>
          <a:fillRef idx="1">
            <a:srgbClr val="376FFF"/>
          </a:fillRef>
          <a:effectRef idx="0">
            <a:srgbClr val="376FFF"/>
          </a:effectRef>
          <a:fontRef idx="minor">
            <a:srgbClr val="FFFFFF"/>
          </a:fontRef>
        </p:style>
        <p:txBody>
          <a:bodyPr rtlCol="0" anchor="ctr">
            <a:normAutofit/>
          </a:bodyPr>
          <a:p>
            <a:pPr algn="ctr"/>
            <a:endParaRPr lang="en-US">
              <a:solidFill>
                <a:srgbClr val="FFFFFF"/>
              </a:solidFill>
              <a:latin typeface="Arial" panose="020B0604020202020204" pitchFamily="34" charset="0"/>
            </a:endParaRPr>
          </a:p>
        </p:txBody>
      </p:sp>
      <p:sp>
        <p:nvSpPr>
          <p:cNvPr id="29" name="椭圆 9"/>
          <p:cNvSpPr/>
          <p:nvPr>
            <p:custDataLst>
              <p:tags r:id="rId14"/>
            </p:custDataLst>
          </p:nvPr>
        </p:nvSpPr>
        <p:spPr>
          <a:xfrm>
            <a:off x="2583180" y="4084321"/>
            <a:ext cx="6945626" cy="1386009"/>
          </a:xfrm>
          <a:prstGeom prst="ellipse">
            <a:avLst/>
          </a:prstGeom>
          <a:noFill/>
          <a:ln w="53975">
            <a:gradFill>
              <a:gsLst>
                <a:gs pos="38000">
                  <a:srgbClr val="AFC6FF">
                    <a:alpha val="0"/>
                  </a:srgbClr>
                </a:gs>
                <a:gs pos="85000">
                  <a:srgbClr val="376FFF">
                    <a:alpha val="65000"/>
                  </a:srgbClr>
                </a:gs>
              </a:gsLst>
              <a:lin ang="5460000" scaled="0"/>
            </a:gradFill>
          </a:ln>
        </p:spPr>
        <p:style>
          <a:lnRef idx="2">
            <a:srgbClr val="376FFF">
              <a:shade val="50000"/>
            </a:srgbClr>
          </a:lnRef>
          <a:fillRef idx="1">
            <a:srgbClr val="376FFF"/>
          </a:fillRef>
          <a:effectRef idx="0">
            <a:srgbClr val="376FFF"/>
          </a:effectRef>
          <a:fontRef idx="minor">
            <a:srgbClr val="FFFFFF"/>
          </a:fontRef>
        </p:style>
        <p:txBody>
          <a:bodyPr rtlCol="0" anchor="ctr">
            <a:normAutofit/>
          </a:bodyPr>
          <a:p>
            <a:pPr algn="ctr"/>
            <a:endParaRPr lang="en-US">
              <a:solidFill>
                <a:srgbClr val="FFFFFF"/>
              </a:solidFill>
              <a:latin typeface="Arial" panose="020B0604020202020204" pitchFamily="34" charset="0"/>
            </a:endParaRPr>
          </a:p>
        </p:txBody>
      </p:sp>
    </p:spTree>
    <p:custDataLst>
      <p:tags r:id="rId15"/>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25.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126.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12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30.xml><?xml version="1.0" encoding="utf-8"?>
<p:tagLst xmlns:p="http://schemas.openxmlformats.org/presentationml/2006/main">
  <p:tag name="KSO_WM_BEAUTIFY_FLAG" val="#wm#"/>
  <p:tag name="KSO_WM_TEMPLATE_CATEGORY" val="custom"/>
  <p:tag name="KSO_WM_TEMPLATE_INDEX" val="2020508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2.xml><?xml version="1.0" encoding="utf-8"?>
<p:tagLst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diagram20238321_5*n_h_i*1_1_1"/>
  <p:tag name="KSO_WM_TEMPLATE_CATEGORY" val="diagram"/>
  <p:tag name="KSO_WM_TEMPLATE_INDEX" val="20238321"/>
  <p:tag name="KSO_WM_UNIT_LAYERLEVEL" val="1_1_1"/>
  <p:tag name="KSO_WM_TAG_VERSION" val="3.0"/>
  <p:tag name="KSO_WM_DIAGRAM_GROUP_CODE" val="n1-1"/>
  <p:tag name="KSO_WM_UNIT_TYPE" val="n_h_i"/>
  <p:tag name="KSO_WM_UNIT_INDEX" val="1_1_1"/>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solid&quot;:{&quot;brightness&quot;:0,&quot;colorType&quot;:1,&quot;foreColorIndex&quot;:5,&quot;transparency&quot;:0.949999988079071},&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321_5*n_h_h_f*1_2_1_1"/>
  <p:tag name="KSO_WM_TEMPLATE_CATEGORY" val="diagram"/>
  <p:tag name="KSO_WM_TEMPLATE_INDEX" val="20238321"/>
  <p:tag name="KSO_WM_UNIT_LAYERLEVEL" val="1_1_1_1"/>
  <p:tag name="KSO_WM_TAG_VERSION" val="3.0"/>
  <p:tag name="KSO_WM_BEAUTIFY_FLAG" val="#wm#"/>
  <p:tag name="KSO_WM_UNIT_SUBTYPE" val="a"/>
  <p:tag name="KSO_WM_UNIT_NOCLEAR" val="0"/>
  <p:tag name="KSO_WM_DIAGRAM_GROUP_CODE" val="n1-1"/>
  <p:tag name="KSO_WM_UNIT_TYPE" val="n_h_h_f"/>
  <p:tag name="KSO_WM_UNIT_INDEX" val="1_2_1_1"/>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type&quot;:0},&quot;glow&quot;:{&quot;colorType&quot;:0},&quot;line&quot;:{&quot;gradient&quot;:[{&quot;brightness&quot;:0.6000000238418579,&quot;colorType&quot;:1,&quot;foreColorIndex&quot;:6,&quot;pos&quot;:0,&quot;transparency&quot;:0.4000000059604645},{&quot;brightness&quot;:0.800000011920929,&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FILL_TYPE" val="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321_5*n_h_h_f*1_2_5_1"/>
  <p:tag name="KSO_WM_TEMPLATE_CATEGORY" val="diagram"/>
  <p:tag name="KSO_WM_TEMPLATE_INDEX" val="20238321"/>
  <p:tag name="KSO_WM_UNIT_LAYERLEVEL" val="1_1_1_1"/>
  <p:tag name="KSO_WM_TAG_VERSION" val="3.0"/>
  <p:tag name="KSO_WM_BEAUTIFY_FLAG" val="#wm#"/>
  <p:tag name="KSO_WM_UNIT_SUBTYPE" val="a"/>
  <p:tag name="KSO_WM_UNIT_NOCLEAR" val="0"/>
  <p:tag name="KSO_WM_DIAGRAM_GROUP_CODE" val="n1-1"/>
  <p:tag name="KSO_WM_UNIT_TYPE" val="n_h_h_f"/>
  <p:tag name="KSO_WM_UNIT_INDEX" val="1_2_5_1"/>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type&quot;:0},&quot;glow&quot;:{&quot;colorType&quot;:0},&quot;line&quot;:{&quot;gradient&quot;:[{&quot;brightness&quot;:0.6000000238418579,&quot;colorType&quot;:1,&quot;foreColorIndex&quot;:6,&quot;pos&quot;:0,&quot;transparency&quot;:0.4000000059604645},{&quot;brightness&quot;:0.800000011920929,&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FILL_TYPE" val="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321_5*n_h_h_f*1_2_6_1"/>
  <p:tag name="KSO_WM_TEMPLATE_CATEGORY" val="diagram"/>
  <p:tag name="KSO_WM_TEMPLATE_INDEX" val="20238321"/>
  <p:tag name="KSO_WM_UNIT_LAYERLEVEL" val="1_1_1_1"/>
  <p:tag name="KSO_WM_TAG_VERSION" val="3.0"/>
  <p:tag name="KSO_WM_BEAUTIFY_FLAG" val="#wm#"/>
  <p:tag name="KSO_WM_UNIT_SUBTYPE" val="a"/>
  <p:tag name="KSO_WM_UNIT_NOCLEAR" val="0"/>
  <p:tag name="KSO_WM_DIAGRAM_GROUP_CODE" val="n1-1"/>
  <p:tag name="KSO_WM_UNIT_TYPE" val="n_h_h_f"/>
  <p:tag name="KSO_WM_UNIT_INDEX" val="1_2_6_1"/>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type&quot;:0},&quot;glow&quot;:{&quot;colorType&quot;:0},&quot;line&quot;:{&quot;gradient&quot;:[{&quot;brightness&quot;:0.6000000238418579,&quot;colorType&quot;:1,&quot;foreColorIndex&quot;:6,&quot;pos&quot;:0,&quot;transparency&quot;:0.4000000059604645},{&quot;brightness&quot;:0.800000011920929,&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FILL_TYPE" val="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321_5*n_h_h_f*1_2_2_1"/>
  <p:tag name="KSO_WM_TEMPLATE_CATEGORY" val="diagram"/>
  <p:tag name="KSO_WM_TEMPLATE_INDEX" val="20238321"/>
  <p:tag name="KSO_WM_UNIT_LAYERLEVEL" val="1_1_1_1"/>
  <p:tag name="KSO_WM_TAG_VERSION" val="3.0"/>
  <p:tag name="KSO_WM_BEAUTIFY_FLAG" val="#wm#"/>
  <p:tag name="KSO_WM_UNIT_SUBTYPE" val="a"/>
  <p:tag name="KSO_WM_UNIT_NOCLEAR" val="0"/>
  <p:tag name="KSO_WM_UNIT_VALUE" val="80"/>
  <p:tag name="KSO_WM_DIAGRAM_GROUP_CODE" val="n1-1"/>
  <p:tag name="KSO_WM_UNIT_TYPE" val="n_h_h_f"/>
  <p:tag name="KSO_WM_UNIT_INDEX" val="1_2_2_1"/>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type&quot;:0},&quot;glow&quot;:{&quot;colorType&quot;:0},&quot;line&quot;:{&quot;gradient&quot;:[{&quot;brightness&quot;:0.6000000238418579,&quot;colorType&quot;:1,&quot;foreColorIndex&quot;:6,&quot;pos&quot;:0,&quot;transparency&quot;:0.4000000059604645},{&quot;brightness&quot;:0.800000011920929,&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321_5*n_h_h_f*1_2_4_1"/>
  <p:tag name="KSO_WM_TEMPLATE_CATEGORY" val="diagram"/>
  <p:tag name="KSO_WM_TEMPLATE_INDEX" val="20238321"/>
  <p:tag name="KSO_WM_UNIT_LAYERLEVEL" val="1_1_1_1"/>
  <p:tag name="KSO_WM_TAG_VERSION" val="3.0"/>
  <p:tag name="KSO_WM_BEAUTIFY_FLAG" val="#wm#"/>
  <p:tag name="KSO_WM_UNIT_SUBTYPE" val="a"/>
  <p:tag name="KSO_WM_UNIT_NOCLEAR" val="0"/>
  <p:tag name="KSO_WM_DIAGRAM_GROUP_CODE" val="n1-1"/>
  <p:tag name="KSO_WM_UNIT_TYPE" val="n_h_h_f"/>
  <p:tag name="KSO_WM_UNIT_INDEX" val="1_2_4_1"/>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type&quot;:0},&quot;glow&quot;:{&quot;colorType&quot;:0},&quot;line&quot;:{&quot;gradient&quot;:[{&quot;brightness&quot;:0.6000000238418579,&quot;colorType&quot;:1,&quot;foreColorIndex&quot;:6,&quot;pos&quot;:0,&quot;transparency&quot;:0.4000000059604645},{&quot;brightness&quot;:0.800000011920929,&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FILL_TYPE" val="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38321_5*n_h_h_f*1_2_3_1"/>
  <p:tag name="KSO_WM_TEMPLATE_CATEGORY" val="diagram"/>
  <p:tag name="KSO_WM_TEMPLATE_INDEX" val="20238321"/>
  <p:tag name="KSO_WM_UNIT_LAYERLEVEL" val="1_1_1_1"/>
  <p:tag name="KSO_WM_TAG_VERSION" val="3.0"/>
  <p:tag name="KSO_WM_BEAUTIFY_FLAG" val="#wm#"/>
  <p:tag name="KSO_WM_UNIT_SUBTYPE" val="a"/>
  <p:tag name="KSO_WM_UNIT_NOCLEAR" val="0"/>
  <p:tag name="KSO_WM_DIAGRAM_GROUP_CODE" val="n1-1"/>
  <p:tag name="KSO_WM_UNIT_TYPE" val="n_h_h_f"/>
  <p:tag name="KSO_WM_UNIT_INDEX" val="1_2_3_1"/>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type&quot;:0},&quot;glow&quot;:{&quot;colorType&quot;:0},&quot;line&quot;:{&quot;gradient&quot;:[{&quot;brightness&quot;:0.6000000238418579,&quot;colorType&quot;:1,&quot;foreColorIndex&quot;:6,&quot;pos&quot;:0,&quot;transparency&quot;:0.4000000059604645},{&quot;brightness&quot;:0.800000011920929,&quot;colorType&quot;:1,&quot;foreColorIndex&quot;:5,&quot;pos&quot;:1,&quot;transparency&quot;:1}],&quot;type&quot;:2},&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VALUE" val="52"/>
  <p:tag name="KSO_WM_UNIT_FILL_TYPE" val="3"/>
  <p:tag name="KSO_WM_UNIT_PRESET_TEXT" val="Presentations are communication tools that can be used as demonstrations."/>
  <p:tag name="KSO_WM_UNIT_TEXT_FILL_FORE_SCHEMECOLOR_INDEX" val="1"/>
  <p:tag name="KSO_WM_UNIT_TEXT_FILL_TYPE" val="1"/>
  <p:tag name="KSO_WM_DIAGRAM_USE_COLOR_VALUE" val="{&quot;color_scheme&quot;:1,&quot;color_type&quot;:1,&quot;theme_color_indexes&quot;:[]}"/>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1_1"/>
  <p:tag name="KSO_WM_UNIT_ID" val="diagram20238321_5*n_h_h_i*1_2_1_1"/>
  <p:tag name="KSO_WM_TEMPLATE_CATEGORY" val="diagram"/>
  <p:tag name="KSO_WM_TEMPLATE_INDEX" val="2023832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1"/>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DIAGRAM_USE_COLOR_VALUE" val="{&quot;color_scheme&quot;:1,&quot;color_type&quot;:1,&quot;theme_color_indexes&quot;:[]}"/>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2_1"/>
  <p:tag name="KSO_WM_UNIT_ID" val="diagram20238321_5*n_h_h_i*1_2_2_1"/>
  <p:tag name="KSO_WM_TEMPLATE_CATEGORY" val="diagram"/>
  <p:tag name="KSO_WM_TEMPLATE_INDEX" val="2023832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2"/>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DIAGRAM_USE_COLOR_VALUE" val="{&quot;color_scheme&quot;:1,&quot;color_type&quot;:1,&quot;theme_color_indexes&quot;:[]}"/>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5_1"/>
  <p:tag name="KSO_WM_UNIT_ID" val="diagram20238321_5*n_h_h_i*1_2_5_1"/>
  <p:tag name="KSO_WM_TEMPLATE_CATEGORY" val="diagram"/>
  <p:tag name="KSO_WM_TEMPLATE_INDEX" val="2023832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5"/>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DIAGRAM_USE_COLOR_VALUE" val="{&quot;color_scheme&quot;:1,&quot;color_type&quot;:1,&quot;theme_color_indexes&quot;:[]}"/>
</p:tagLst>
</file>

<file path=ppt/tags/tag14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4_1"/>
  <p:tag name="KSO_WM_UNIT_ID" val="diagram20238321_5*n_h_h_i*1_2_4_1"/>
  <p:tag name="KSO_WM_TEMPLATE_CATEGORY" val="diagram"/>
  <p:tag name="KSO_WM_TEMPLATE_INDEX" val="2023832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4"/>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DIAGRAM_USE_COLOR_VALUE" val="{&quot;color_scheme&quot;:1,&quot;color_type&quot;:1,&quot;theme_color_indexes&quot;:[]}"/>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6_1"/>
  <p:tag name="KSO_WM_UNIT_ID" val="diagram20238321_5*n_h_h_i*1_2_6_1"/>
  <p:tag name="KSO_WM_TEMPLATE_CATEGORY" val="diagram"/>
  <p:tag name="KSO_WM_TEMPLATE_INDEX" val="2023832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6"/>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DIAGRAM_USE_COLOR_VALUE" val="{&quot;color_scheme&quot;:1,&quot;color_type&quot;:1,&quot;theme_color_indexes&quot;:[]}"/>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SUBTYPE" val="d"/>
  <p:tag name="KSO_WM_UNIT_TYPE" val="n_h_h_i"/>
  <p:tag name="KSO_WM_UNIT_INDEX" val="1_2_3_1"/>
  <p:tag name="KSO_WM_UNIT_ID" val="diagram20238321_5*n_h_h_i*1_2_3_1"/>
  <p:tag name="KSO_WM_TEMPLATE_CATEGORY" val="diagram"/>
  <p:tag name="KSO_WM_TEMPLATE_INDEX" val="20238321"/>
  <p:tag name="KSO_WM_UNIT_LAYERLEVEL" val="1_1_1_1"/>
  <p:tag name="KSO_WM_TAG_VERSION" val="3.0"/>
  <p:tag name="KSO_WM_BEAUTIFY_FLAG" val="#wm#"/>
  <p:tag name="KSO_WM_DIAGRAM_VERSION" val="3"/>
  <p:tag name="KSO_WM_DIAGRAM_COLOR_TRICK" val="1"/>
  <p:tag name="KSO_WM_DIAGRAM_COLOR_TEXT_CAN_REMOVE" val="n"/>
  <p:tag name="KSO_WM_DIAGRAM_MAX_ITEMCNT" val="6"/>
  <p:tag name="KSO_WM_DIAGRAM_MIN_ITEMCNT" val="2"/>
  <p:tag name="KSO_WM_DIAGRAM_VIRTUALLY_FRAME" val="{&quot;height&quot;:371.06573486328125,&quot;left&quot;:54.39910888671875,&quot;top&quot;:77.31713256835937,&quot;width&quot;:851.2017822265625}"/>
  <p:tag name="KSO_WM_DIAGRAM_COLOR_MATCH_VALUE" val="{&quot;shape&quot;:{&quot;fill&quot;:{&quot;solid&quot;:{&quot;brightness&quot;:0,&quot;colorType&quot;:1,&quot;foreColorIndex&quot;:5,&quot;transparency&quot;:0},&quot;type&quot;:1},&quot;glow&quot;:{&quot;colorType&quot;:0},&quot;line&quot;:{&quot;solidLine&quot;:{&quot;brightness&quot;:0,&quot;colorType&quot;:1,&quot;foreColorIndex&quot;:5,&quot;transparency&quot;:0.6000000238418579},&quot;type&quot;:1},&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03"/>
  <p:tag name="KSO_WM_UNIT_FILL_TYPE" val="1"/>
  <p:tag name="KSO_WM_UNIT_FILL_FORE_SCHEMECOLOR_INDEX" val="5"/>
  <p:tag name="KSO_WM_UNIT_FILL_FORE_SCHEMECOLOR_INDEX_BRIGHTNESS" val="0"/>
  <p:tag name="KSO_WM_UNIT_LINE_FORE_SCHEMECOLOR_INDEX" val="5"/>
  <p:tag name="KSO_WM_UNIT_TEXT_FILL_FORE_SCHEMECOLOR_INDEX" val="1"/>
  <p:tag name="KSO_WM_UNIT_TEXT_FILL_TYPE" val="1"/>
  <p:tag name="KSO_WM_DIAGRAM_USE_COLOR_VALUE" val="{&quot;color_scheme&quot;:1,&quot;color_type&quot;:1,&quot;theme_color_indexes&quot;:[]}"/>
</p:tagLst>
</file>

<file path=ppt/tags/tag145.xml><?xml version="1.0" encoding="utf-8"?>
<p:tagLst xmlns:p="http://schemas.openxmlformats.org/presentationml/2006/main">
  <p:tag name="KSO_WM_UNIT_COMPATIBLE" val="0"/>
  <p:tag name="KSO_WM_UNIT_DIAGRAM_ISREFERUNIT" val="0"/>
  <p:tag name="KSO_WM_TEMPLATE_INDEX" val="20238321"/>
  <p:tag name="KSO_WM_TAG_VERSION" val="3.0"/>
  <p:tag name="KSO_WM_DIAGRAM_VERSION" val="3"/>
  <p:tag name="KSO_WM_DIAGRAM_COLOR_TEXT_CAN_REMOVE" val="n"/>
  <p:tag name="KSO_WM_DIAGRAM_MIN_ITEMCNT" val="2"/>
  <p:tag name="KSO_WM_BEAUTIFY_FLAG" val="#wm#"/>
  <p:tag name="KSO_WM_UNIT_HIGHLIGHT" val="0"/>
  <p:tag name="KSO_WM_UNIT_DIAGRAM_ISNUMVISUAL" val="0"/>
  <p:tag name="KSO_WM_UNIT_ID" val="diagram20238321_5*n_h_a*1_1_1"/>
  <p:tag name="KSO_WM_TEMPLATE_CATEGORY" val="diagram"/>
  <p:tag name="KSO_WM_UNIT_LAYERLEVEL" val="1_1_1"/>
  <p:tag name="KSO_WM_UNIT_ISCONTENTSTITLE" val="0"/>
  <p:tag name="KSO_WM_UNIT_ISNUMDGMTITLE" val="0"/>
  <p:tag name="KSO_WM_UNIT_NOCLEAR" val="0"/>
  <p:tag name="KSO_WM_DIAGRAM_GROUP_CODE" val="n1-1"/>
  <p:tag name="KSO_WM_UNIT_TYPE" val="n_h_a"/>
  <p:tag name="KSO_WM_UNIT_INDEX" val="1_1_1"/>
  <p:tag name="KSO_WM_DIAGRAM_COLOR_TRICK" val="1"/>
  <p:tag name="KSO_WM_DIAGRAM_MAX_ITEMCNT" val="6"/>
  <p:tag name="KSO_WM_DIAGRAM_VIRTUALLY_FRAME" val="{&quot;height&quot;:371.06573486328125,&quot;left&quot;:54.39910888671875,&quot;top&quot;:77.31713256835937,&quot;width&quot;:851.2017822265625}"/>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LINE_FILL_TYPE" val="2"/>
  <p:tag name="KSO_WM_UNIT_VALUE" val="8"/>
  <p:tag name="KSO_WM_UNIT_PRESET_TEXT" val="Your title here"/>
  <p:tag name="KSO_WM_UNIT_LINE_FORE_SCHEMECOLOR_INDEX" val="5"/>
  <p:tag name="KSO_WM_UNIT_TEXT_FILL_FORE_SCHEMECOLOR_INDEX" val="1"/>
  <p:tag name="KSO_WM_UNIT_TEXT_FILL_TYPE" val="1"/>
  <p:tag name="KSO_WM_DIAGRAM_USE_COLOR_VALUE" val="{&quot;color_scheme&quot;:1,&quot;color_type&quot;:1,&quot;theme_color_indexes&quot;:[]}"/>
</p:tagLst>
</file>

<file path=ppt/tags/tag146.xml><?xml version="1.0" encoding="utf-8"?>
<p:tagLst xmlns:p="http://schemas.openxmlformats.org/presentationml/2006/main">
  <p:tag name="KSO_WM_BEAUTIFY_FLAG" val="#wm#"/>
  <p:tag name="KSO_WM_TEMPLATE_CATEGORY" val="custom"/>
  <p:tag name="KSO_WM_TEMPLATE_INDEX" val="20205081"/>
  <p:tag name="resource_record_key" val="{&quot;65&quot;:[20205081],&quot;70&quot;:[3312345,3322019,3320039]}"/>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49.xml><?xml version="1.0" encoding="utf-8"?>
<p:tagLst xmlns:p="http://schemas.openxmlformats.org/presentationml/2006/main">
  <p:tag name="KSO_WM_BEAUTIFY_FLAG" val="#wm#"/>
  <p:tag name="KSO_WM_TEMPLATE_CATEGORY" val="custom"/>
  <p:tag name="KSO_WM_TEMPLATE_INDEX" val="20205081"/>
</p:tagLst>
</file>

<file path=ppt/tags/tag15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365_1*l_h_i*1_1_1"/>
  <p:tag name="KSO_WM_TEMPLATE_CATEGORY" val="diagram"/>
  <p:tag name="KSO_WM_TEMPLATE_INDEX" val="20238365"/>
  <p:tag name="KSO_WM_UNIT_LAYERLEVEL" val="1_1_1"/>
  <p:tag name="KSO_WM_TAG_VERSION" val="3.0"/>
  <p:tag name="KSO_WM_BEAUTIFY_FLAG" val="#wm#"/>
  <p:tag name="KSO_WM_DIAGRAM_MAX_ITEMCNT" val="6"/>
  <p:tag name="KSO_WM_DIAGRAM_MIN_ITEMCNT" val="6"/>
  <p:tag name="KSO_WM_DIAGRAM_VIRTUALLY_FRAME" val="{&quot;height&quot;:272.91471925269906,&quot;left&quot;:101.3,&quot;top&quot;:173.24551696777343,&quot;width&quot;:723.172519685039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51.xml><?xml version="1.0" encoding="utf-8"?>
<p:tagLst xmlns:p="http://schemas.openxmlformats.org/presentationml/2006/main">
  <p:tag name="KSO_WM_DIAGRAM_COLOR_TRICK" val="1"/>
  <p:tag name="KSO_WM_UNIT_HIGHLIGHT" val="0"/>
  <p:tag name="KSO_WM_UNIT_DIAGRAM_ISNUMVISUAL" val="0"/>
  <p:tag name="KSO_WM_DIAGRAM_GROUP_CODE" val="l1-1"/>
  <p:tag name="KSO_WM_TEMPLATE_CATEGORY" val="diagram"/>
  <p:tag name="KSO_WM_UNIT_LAYERLEVEL" val="1_1_1"/>
  <p:tag name="KSO_WM_BEAUTIFY_FLAG" val="#wm#"/>
  <p:tag name="KSO_WM_DIAGRAM_MAX_ITEMCNT" val="6"/>
  <p:tag name="KSO_WM_DIAGRAM_VIRTUALLY_FRAME" val="{&quot;height&quot;:272.91471925269906,&quot;left&quot;:101.3,&quot;top&quot;:173.24551696777343,&quot;width&quot;:723.1725196850393}"/>
  <p:tag name="KSO_WM_UNIT_SUBTYPE" val="a"/>
  <p:tag name="KSO_WM_UNIT_NOCLEAR" val="0"/>
  <p:tag name="KSO_WM_UNIT_VALUE" val="60"/>
  <p:tag name="KSO_WM_UNIT_COMPATIBLE" val="0"/>
  <p:tag name="KSO_WM_UNIT_DIAGRAM_ISREFERUNIT" val="0"/>
  <p:tag name="KSO_WM_UNIT_TYPE" val="l_h_f"/>
  <p:tag name="KSO_WM_UNIT_INDEX" val="1_1_1"/>
  <p:tag name="KSO_WM_UNIT_ID" val="diagram20238365_1*l_h_f*1_1_1"/>
  <p:tag name="KSO_WM_TEMPLATE_INDEX" val="20238365"/>
  <p:tag name="KSO_WM_TAG_VERSION" val="3.0"/>
  <p:tag name="KSO_WM_DIAGRAM_VERSION" val="3"/>
  <p:tag name="KSO_WM_DIAGRAM_COLOR_TEXT_CAN_REMOVE" val="n"/>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
</p:tagLst>
</file>

<file path=ppt/tags/tag152.xml><?xml version="1.0" encoding="utf-8"?>
<p:tagLst xmlns:p="http://schemas.openxmlformats.org/presentationml/2006/main">
  <p:tag name="KSO_WM_DIAGRAM_COLOR_TRICK" val="1"/>
  <p:tag name="KSO_WM_UNIT_HIGHLIGHT" val="0"/>
  <p:tag name="KSO_WM_UNIT_DIAGRAM_ISNUMVISUAL" val="0"/>
  <p:tag name="KSO_WM_DIAGRAM_GROUP_CODE" val="l1-1"/>
  <p:tag name="KSO_WM_TEMPLATE_CATEGORY" val="diagram"/>
  <p:tag name="KSO_WM_UNIT_LAYERLEVEL" val="1_1_1"/>
  <p:tag name="KSO_WM_BEAUTIFY_FLAG" val="#wm#"/>
  <p:tag name="KSO_WM_DIAGRAM_MAX_ITEMCNT" val="6"/>
  <p:tag name="KSO_WM_DIAGRAM_VIRTUALLY_FRAME" val="{&quot;height&quot;:272.91471925269906,&quot;left&quot;:101.3,&quot;top&quot;:173.24551696777343,&quot;width&quot;:723.1725196850393}"/>
  <p:tag name="KSO_WM_UNIT_SUBTYPE" val="a"/>
  <p:tag name="KSO_WM_UNIT_NOCLEAR" val="0"/>
  <p:tag name="KSO_WM_UNIT_VALUE" val="60"/>
  <p:tag name="KSO_WM_UNIT_COMPATIBLE" val="0"/>
  <p:tag name="KSO_WM_UNIT_DIAGRAM_ISREFERUNIT" val="0"/>
  <p:tag name="KSO_WM_UNIT_TYPE" val="l_h_f"/>
  <p:tag name="KSO_WM_UNIT_INDEX" val="1_1_1"/>
  <p:tag name="KSO_WM_UNIT_ID" val="diagram20238365_1*l_h_f*1_1_1"/>
  <p:tag name="KSO_WM_TEMPLATE_INDEX" val="20238365"/>
  <p:tag name="KSO_WM_TAG_VERSION" val="3.0"/>
  <p:tag name="KSO_WM_DIAGRAM_VERSION" val="3"/>
  <p:tag name="KSO_WM_DIAGRAM_COLOR_TEXT_CAN_REMOVE" val="n"/>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
</p:tagLst>
</file>

<file path=ppt/tags/tag153.xml><?xml version="1.0" encoding="utf-8"?>
<p:tagLst xmlns:p="http://schemas.openxmlformats.org/presentationml/2006/main">
  <p:tag name="KSO_WM_DIAGRAM_COLOR_TRICK" val="1"/>
  <p:tag name="KSO_WM_UNIT_HIGHLIGHT" val="0"/>
  <p:tag name="KSO_WM_UNIT_DIAGRAM_ISNUMVISUAL" val="0"/>
  <p:tag name="KSO_WM_DIAGRAM_GROUP_CODE" val="l1-1"/>
  <p:tag name="KSO_WM_TEMPLATE_CATEGORY" val="diagram"/>
  <p:tag name="KSO_WM_UNIT_LAYERLEVEL" val="1_1_1"/>
  <p:tag name="KSO_WM_BEAUTIFY_FLAG" val="#wm#"/>
  <p:tag name="KSO_WM_DIAGRAM_MAX_ITEMCNT" val="6"/>
  <p:tag name="KSO_WM_DIAGRAM_VIRTUALLY_FRAME" val="{&quot;height&quot;:272.91471925269906,&quot;left&quot;:101.3,&quot;top&quot;:173.24551696777343,&quot;width&quot;:723.1725196850393}"/>
  <p:tag name="KSO_WM_UNIT_SUBTYPE" val="a"/>
  <p:tag name="KSO_WM_UNIT_NOCLEAR" val="0"/>
  <p:tag name="KSO_WM_UNIT_VALUE" val="60"/>
  <p:tag name="KSO_WM_UNIT_COMPATIBLE" val="0"/>
  <p:tag name="KSO_WM_UNIT_DIAGRAM_ISREFERUNIT" val="0"/>
  <p:tag name="KSO_WM_UNIT_TYPE" val="l_h_f"/>
  <p:tag name="KSO_WM_UNIT_INDEX" val="1_1_1"/>
  <p:tag name="KSO_WM_UNIT_ID" val="diagram20238365_1*l_h_f*1_1_1"/>
  <p:tag name="KSO_WM_TEMPLATE_INDEX" val="20238365"/>
  <p:tag name="KSO_WM_TAG_VERSION" val="3.0"/>
  <p:tag name="KSO_WM_DIAGRAM_VERSION" val="3"/>
  <p:tag name="KSO_WM_DIAGRAM_COLOR_TEXT_CAN_REMOVE" val="n"/>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
</p:tagLst>
</file>

<file path=ppt/tags/tag154.xml><?xml version="1.0" encoding="utf-8"?>
<p:tagLst xmlns:p="http://schemas.openxmlformats.org/presentationml/2006/main">
  <p:tag name="KSO_WM_DIAGRAM_COLOR_TRICK" val="1"/>
  <p:tag name="KSO_WM_UNIT_HIGHLIGHT" val="0"/>
  <p:tag name="KSO_WM_UNIT_DIAGRAM_ISNUMVISUAL" val="0"/>
  <p:tag name="KSO_WM_DIAGRAM_GROUP_CODE" val="l1-1"/>
  <p:tag name="KSO_WM_TEMPLATE_CATEGORY" val="diagram"/>
  <p:tag name="KSO_WM_UNIT_LAYERLEVEL" val="1_1_1"/>
  <p:tag name="KSO_WM_BEAUTIFY_FLAG" val="#wm#"/>
  <p:tag name="KSO_WM_DIAGRAM_MAX_ITEMCNT" val="6"/>
  <p:tag name="KSO_WM_DIAGRAM_VIRTUALLY_FRAME" val="{&quot;height&quot;:272.91471925269906,&quot;left&quot;:101.3,&quot;top&quot;:173.24551696777343,&quot;width&quot;:723.1725196850393}"/>
  <p:tag name="KSO_WM_UNIT_SUBTYPE" val="a"/>
  <p:tag name="KSO_WM_UNIT_NOCLEAR" val="0"/>
  <p:tag name="KSO_WM_UNIT_VALUE" val="60"/>
  <p:tag name="KSO_WM_UNIT_COMPATIBLE" val="0"/>
  <p:tag name="KSO_WM_UNIT_DIAGRAM_ISREFERUNIT" val="0"/>
  <p:tag name="KSO_WM_UNIT_TYPE" val="l_h_f"/>
  <p:tag name="KSO_WM_UNIT_INDEX" val="1_1_1"/>
  <p:tag name="KSO_WM_UNIT_ID" val="diagram20238365_1*l_h_f*1_1_1"/>
  <p:tag name="KSO_WM_TEMPLATE_INDEX" val="20238365"/>
  <p:tag name="KSO_WM_TAG_VERSION" val="3.0"/>
  <p:tag name="KSO_WM_DIAGRAM_VERSION" val="3"/>
  <p:tag name="KSO_WM_DIAGRAM_COLOR_TEXT_CAN_REMOVE" val="n"/>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
</p:tagLst>
</file>

<file path=ppt/tags/tag155.xml><?xml version="1.0" encoding="utf-8"?>
<p:tagLst xmlns:p="http://schemas.openxmlformats.org/presentationml/2006/main">
  <p:tag name="KSO_WM_DIAGRAM_COLOR_TRICK" val="1"/>
  <p:tag name="KSO_WM_UNIT_HIGHLIGHT" val="0"/>
  <p:tag name="KSO_WM_UNIT_DIAGRAM_ISNUMVISUAL" val="0"/>
  <p:tag name="KSO_WM_DIAGRAM_GROUP_CODE" val="l1-1"/>
  <p:tag name="KSO_WM_TEMPLATE_CATEGORY" val="diagram"/>
  <p:tag name="KSO_WM_UNIT_LAYERLEVEL" val="1_1_1"/>
  <p:tag name="KSO_WM_BEAUTIFY_FLAG" val="#wm#"/>
  <p:tag name="KSO_WM_DIAGRAM_MAX_ITEMCNT" val="6"/>
  <p:tag name="KSO_WM_DIAGRAM_VIRTUALLY_FRAME" val="{&quot;height&quot;:272.91471925269906,&quot;left&quot;:101.3,&quot;top&quot;:173.24551696777343,&quot;width&quot;:723.1725196850393}"/>
  <p:tag name="KSO_WM_UNIT_SUBTYPE" val="a"/>
  <p:tag name="KSO_WM_UNIT_NOCLEAR" val="0"/>
  <p:tag name="KSO_WM_UNIT_VALUE" val="60"/>
  <p:tag name="KSO_WM_UNIT_COMPATIBLE" val="0"/>
  <p:tag name="KSO_WM_UNIT_DIAGRAM_ISREFERUNIT" val="0"/>
  <p:tag name="KSO_WM_UNIT_TYPE" val="l_h_f"/>
  <p:tag name="KSO_WM_UNIT_INDEX" val="1_1_1"/>
  <p:tag name="KSO_WM_UNIT_ID" val="diagram20238365_1*l_h_f*1_1_1"/>
  <p:tag name="KSO_WM_TEMPLATE_INDEX" val="20238365"/>
  <p:tag name="KSO_WM_TAG_VERSION" val="3.0"/>
  <p:tag name="KSO_WM_DIAGRAM_VERSION" val="3"/>
  <p:tag name="KSO_WM_DIAGRAM_COLOR_TEXT_CAN_REMOVE" val="n"/>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
</p:tagLst>
</file>

<file path=ppt/tags/tag156.xml><?xml version="1.0" encoding="utf-8"?>
<p:tagLst xmlns:p="http://schemas.openxmlformats.org/presentationml/2006/main">
  <p:tag name="KSO_WM_DIAGRAM_COLOR_TRICK" val="1"/>
  <p:tag name="KSO_WM_UNIT_HIGHLIGHT" val="0"/>
  <p:tag name="KSO_WM_UNIT_DIAGRAM_ISNUMVISUAL" val="0"/>
  <p:tag name="KSO_WM_DIAGRAM_GROUP_CODE" val="l1-1"/>
  <p:tag name="KSO_WM_TEMPLATE_CATEGORY" val="diagram"/>
  <p:tag name="KSO_WM_UNIT_LAYERLEVEL" val="1_1_1"/>
  <p:tag name="KSO_WM_BEAUTIFY_FLAG" val="#wm#"/>
  <p:tag name="KSO_WM_DIAGRAM_MAX_ITEMCNT" val="6"/>
  <p:tag name="KSO_WM_DIAGRAM_VIRTUALLY_FRAME" val="{&quot;height&quot;:272.91471925269906,&quot;left&quot;:101.3,&quot;top&quot;:173.24551696777343,&quot;width&quot;:723.1725196850393}"/>
  <p:tag name="KSO_WM_UNIT_SUBTYPE" val="a"/>
  <p:tag name="KSO_WM_UNIT_NOCLEAR" val="0"/>
  <p:tag name="KSO_WM_UNIT_VALUE" val="60"/>
  <p:tag name="KSO_WM_UNIT_COMPATIBLE" val="0"/>
  <p:tag name="KSO_WM_UNIT_DIAGRAM_ISREFERUNIT" val="0"/>
  <p:tag name="KSO_WM_UNIT_TYPE" val="l_h_f"/>
  <p:tag name="KSO_WM_UNIT_INDEX" val="1_1_1"/>
  <p:tag name="KSO_WM_UNIT_ID" val="diagram20238365_1*l_h_f*1_1_1"/>
  <p:tag name="KSO_WM_TEMPLATE_INDEX" val="20238365"/>
  <p:tag name="KSO_WM_TAG_VERSION" val="3.0"/>
  <p:tag name="KSO_WM_DIAGRAM_VERSION" val="3"/>
  <p:tag name="KSO_WM_DIAGRAM_COLOR_TEXT_CAN_REMOVE" val="n"/>
  <p:tag name="KSO_WM_DIAGRAM_MIN_ITEMCNT" val="6"/>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15000000596046448,&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Presentations are communication tools that can be used as demonstrations."/>
  <p:tag name="KSO_WM_UNIT_FILL_TYPE" val="1"/>
  <p:tag name="KSO_WM_UNIT_FILL_FORE_SCHEMECOLOR_INDEX" val="5"/>
  <p:tag name="KSO_WM_UNIT_FILL_FORE_SCHEMECOLOR_INDEX_BRIGHTNESS" val="0"/>
  <p:tag name="KSO_WM_UNIT_TEXT_FILL_FORE_SCHEMECOLOR_INDEX" val="1"/>
  <p:tag name="KSO_WM_UNIT_TEXT_FILL_TYPE" val="1"/>
  <p:tag name="KSO_WM_DIAGRAM_USE_COLOR_VALUE" val="{&quot;color_scheme&quot;:1,&quot;color_type&quot;:1,&quot;theme_color_indexes&quot;:[]}"/>
</p:tagLst>
</file>

<file path=ppt/tags/tag15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365_1*l_h_i*1_1_1"/>
  <p:tag name="KSO_WM_TEMPLATE_CATEGORY" val="diagram"/>
  <p:tag name="KSO_WM_TEMPLATE_INDEX" val="20238365"/>
  <p:tag name="KSO_WM_UNIT_LAYERLEVEL" val="1_1_1"/>
  <p:tag name="KSO_WM_TAG_VERSION" val="3.0"/>
  <p:tag name="KSO_WM_BEAUTIFY_FLAG" val="#wm#"/>
  <p:tag name="KSO_WM_DIAGRAM_MAX_ITEMCNT" val="6"/>
  <p:tag name="KSO_WM_DIAGRAM_MIN_ITEMCNT" val="6"/>
  <p:tag name="KSO_WM_DIAGRAM_VIRTUALLY_FRAME" val="{&quot;height&quot;:272.91471925269906,&quot;left&quot;:101.3,&quot;top&quot;:173.24551696777343,&quot;width&quot;:723.172519685039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5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365_1*l_h_i*1_1_1"/>
  <p:tag name="KSO_WM_TEMPLATE_CATEGORY" val="diagram"/>
  <p:tag name="KSO_WM_TEMPLATE_INDEX" val="20238365"/>
  <p:tag name="KSO_WM_UNIT_LAYERLEVEL" val="1_1_1"/>
  <p:tag name="KSO_WM_TAG_VERSION" val="3.0"/>
  <p:tag name="KSO_WM_BEAUTIFY_FLAG" val="#wm#"/>
  <p:tag name="KSO_WM_DIAGRAM_MAX_ITEMCNT" val="6"/>
  <p:tag name="KSO_WM_DIAGRAM_MIN_ITEMCNT" val="6"/>
  <p:tag name="KSO_WM_DIAGRAM_VIRTUALLY_FRAME" val="{&quot;height&quot;:272.91471925269906,&quot;left&quot;:101.3,&quot;top&quot;:173.24551696777343,&quot;width&quot;:723.172519685039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5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365_1*l_h_i*1_1_1"/>
  <p:tag name="KSO_WM_TEMPLATE_CATEGORY" val="diagram"/>
  <p:tag name="KSO_WM_TEMPLATE_INDEX" val="20238365"/>
  <p:tag name="KSO_WM_UNIT_LAYERLEVEL" val="1_1_1"/>
  <p:tag name="KSO_WM_TAG_VERSION" val="3.0"/>
  <p:tag name="KSO_WM_BEAUTIFY_FLAG" val="#wm#"/>
  <p:tag name="KSO_WM_DIAGRAM_MAX_ITEMCNT" val="6"/>
  <p:tag name="KSO_WM_DIAGRAM_MIN_ITEMCNT" val="6"/>
  <p:tag name="KSO_WM_DIAGRAM_VIRTUALLY_FRAME" val="{&quot;height&quot;:272.91471925269906,&quot;left&quot;:101.3,&quot;top&quot;:173.24551696777343,&quot;width&quot;:723.172519685039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6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365_1*l_h_i*1_1_1"/>
  <p:tag name="KSO_WM_TEMPLATE_CATEGORY" val="diagram"/>
  <p:tag name="KSO_WM_TEMPLATE_INDEX" val="20238365"/>
  <p:tag name="KSO_WM_UNIT_LAYERLEVEL" val="1_1_1"/>
  <p:tag name="KSO_WM_TAG_VERSION" val="3.0"/>
  <p:tag name="KSO_WM_BEAUTIFY_FLAG" val="#wm#"/>
  <p:tag name="KSO_WM_DIAGRAM_MAX_ITEMCNT" val="6"/>
  <p:tag name="KSO_WM_DIAGRAM_MIN_ITEMCNT" val="6"/>
  <p:tag name="KSO_WM_DIAGRAM_VIRTUALLY_FRAME" val="{&quot;height&quot;:272.91471925269906,&quot;left&quot;:101.3,&quot;top&quot;:173.24551696777343,&quot;width&quot;:723.172519685039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6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diagram20238365_1*l_h_i*1_1_1"/>
  <p:tag name="KSO_WM_TEMPLATE_CATEGORY" val="diagram"/>
  <p:tag name="KSO_WM_TEMPLATE_INDEX" val="20238365"/>
  <p:tag name="KSO_WM_UNIT_LAYERLEVEL" val="1_1_1"/>
  <p:tag name="KSO_WM_TAG_VERSION" val="3.0"/>
  <p:tag name="KSO_WM_BEAUTIFY_FLAG" val="#wm#"/>
  <p:tag name="KSO_WM_DIAGRAM_MAX_ITEMCNT" val="6"/>
  <p:tag name="KSO_WM_DIAGRAM_MIN_ITEMCNT" val="6"/>
  <p:tag name="KSO_WM_DIAGRAM_VIRTUALLY_FRAME" val="{&quot;height&quot;:272.91471925269906,&quot;left&quot;:101.3,&quot;top&quot;:173.24551696777343,&quot;width&quot;:723.172519685039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d"/>
  <p:tag name="KSO_WM_UNIT_PRESET_TEXT" val="01"/>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162.xml><?xml version="1.0" encoding="utf-8"?>
<p:tagLst xmlns:p="http://schemas.openxmlformats.org/presentationml/2006/main">
  <p:tag name="KSO_WM_BEAUTIFY_FLAG" val="#wm#"/>
  <p:tag name="KSO_WM_TEMPLATE_CATEGORY" val="custom"/>
  <p:tag name="KSO_WM_TEMPLATE_INDEX" val="20205081"/>
  <p:tag name="resource_record_key" val="{&quot;65&quot;:[20205081],&quot;70&quot;:[3322444]}"/>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5.xml><?xml version="1.0" encoding="utf-8"?>
<p:tagLst xmlns:p="http://schemas.openxmlformats.org/presentationml/2006/main">
  <p:tag name="KSO_WM_BEAUTIFY_FLAG" val="#wm#"/>
  <p:tag name="KSO_WM_TEMPLATE_CATEGORY" val="custom"/>
  <p:tag name="KSO_WM_TEMPLATE_INDEX" val="20205081"/>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68.xml><?xml version="1.0" encoding="utf-8"?>
<p:tagLst xmlns:p="http://schemas.openxmlformats.org/presentationml/2006/main">
  <p:tag name="KSO_WM_BEAUTIFY_FLAG" val="#wm#"/>
  <p:tag name="KSO_WM_TEMPLATE_CATEGORY" val="custom"/>
  <p:tag name="KSO_WM_TEMPLATE_INDEX" val="20205081"/>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1.xml><?xml version="1.0" encoding="utf-8"?>
<p:tagLst xmlns:p="http://schemas.openxmlformats.org/presentationml/2006/main">
  <p:tag name="KSO_WM_BEAUTIFY_FLAG" val="#wm#"/>
  <p:tag name="KSO_WM_TEMPLATE_CATEGORY" val="custom"/>
  <p:tag name="KSO_WM_TEMPLATE_INDEX" val="2020508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4.xml><?xml version="1.0" encoding="utf-8"?>
<p:tagLst xmlns:p="http://schemas.openxmlformats.org/presentationml/2006/main">
  <p:tag name="KSO_WM_BEAUTIFY_FLAG" val="#wm#"/>
  <p:tag name="KSO_WM_TEMPLATE_CATEGORY" val="custom"/>
  <p:tag name="KSO_WM_TEMPLATE_INDEX" val="20205081"/>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7.xml><?xml version="1.0" encoding="utf-8"?>
<p:tagLst xmlns:p="http://schemas.openxmlformats.org/presentationml/2006/main">
  <p:tag name="KSO_WM_BEAUTIFY_FLAG" val="#wm#"/>
  <p:tag name="KSO_WM_TEMPLATE_CATEGORY" val="custom"/>
  <p:tag name="KSO_WM_TEMPLATE_INDEX" val="20205081"/>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80.xml><?xml version="1.0" encoding="utf-8"?>
<p:tagLst xmlns:p="http://schemas.openxmlformats.org/presentationml/2006/main">
  <p:tag name="KSO_WM_BEAUTIFY_FLAG" val="#wm#"/>
  <p:tag name="KSO_WM_TEMPLATE_CATEGORY" val="custom"/>
  <p:tag name="KSO_WM_TEMPLATE_INDEX" val="20205081"/>
</p:tagLst>
</file>

<file path=ppt/tags/tag181.xml><?xml version="1.0" encoding="utf-8"?>
<p:tagLst xmlns:p="http://schemas.openxmlformats.org/presentationml/2006/main">
  <p:tag name="KSO_WM_BEAUTIFY_FLAG" val="#wm#"/>
  <p:tag name="KSO_WM_TEMPLATE_CATEGORY" val="custom"/>
  <p:tag name="KSO_WM_TEMPLATE_INDEX" val="20205081"/>
</p:tagLst>
</file>

<file path=ppt/tags/tag182.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8177_2*l_h_a*1_3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Title"/>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diagram20238177_2*l_h_i*1_1_2"/>
  <p:tag name="KSO_WM_TEMPLATE_CATEGORY" val="diagram"/>
  <p:tag name="KSO_WM_TEMPLATE_INDEX" val="20238177"/>
  <p:tag name="KSO_WM_UNIT_LAYERLEVEL" val="1_1_1"/>
  <p:tag name="KSO_WM_TAG_VERSION" val="3.0"/>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gradient&quot;:[{&quot;brightness&quot;:0,&quot;colorType&quot;:2,&quot;pos&quot;:1,&quot;rgb&quot;:&quot;#afc6ff&quot;,&quot;transparency&quot;:1},{&quot;brightness&quot;:0,&quot;colorType&quot;:1,&quot;foreColorIndex&quot;:5,&quot;pos&quot;:0.469999998807907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18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8177_2*l_h_a*1_1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Title"/>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185.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8177_2*l_h_f*1_2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Presentations are communication tools"/>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18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8177_2*l_h_f*1_1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Presentations are communication tools"/>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187.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8177_2*l_h_f*1_3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Presentations are communication tools"/>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18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8177_2*l_h_a*1_2_1"/>
  <p:tag name="KSO_WM_TEMPLATE_CATEGORY" val="diagram"/>
  <p:tag name="KSO_WM_TEMPLATE_INDEX" val="20238177"/>
  <p:tag name="KSO_WM_UNIT_LAYERLEVEL" val="1_1_1"/>
  <p:tag name="KSO_WM_TAG_VERSION" val="3.0"/>
  <p:tag name="KSO_WM_BEAUTIFY_FLAG" val="#wm#"/>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PRESET_TEXT" val="Title"/>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1_1"/>
  <p:tag name="KSO_WM_UNIT_ID" val="diagram20238177_2*l_h_i*2_1_1"/>
  <p:tag name="KSO_WM_TEMPLATE_CATEGORY" val="diagram"/>
  <p:tag name="KSO_WM_TEMPLATE_INDEX" val="20238177"/>
  <p:tag name="KSO_WM_UNIT_LAYERLEVEL" val="1_1_1"/>
  <p:tag name="KSO_WM_TAG_VERSION" val="3.0"/>
  <p:tag name="KSO_WM_UNIT_SUBTYPE" val="d"/>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949999988079071,&quot;colorType&quot;:1,&quot;foreColorIndex&quot;:5,&quot;pos&quot;:0.3700000047683716,&quot;transparency&quot;:0},{&quot;brightness&quot;:0.550000011920929,&quot;colorType&quot;:1,&quot;foreColorIndex&quot;:5,&quot;pos&quot;:0,&quot;transparency&quot;:0},{&quot;brightness&quot;:0,&quot;colorType&quot;:1,&quot;foreColorIndex&quot;:14,&quot;pos&quot;:1,&quot;transparency&quot;:0},{&quot;brightness&quot;:0.699999988079071,&quot;colorType&quot;:1,&quot;foreColorIndex&quot;:5,&quot;pos&quot;:0.7099999785423279,&quot;transparency&quot;:0}],&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01"/>
  <p:tag name="KSO_WM_UNIT_FILL_TYPE" val="3"/>
  <p:tag name="KSO_WM_DIAGRAM_USE_COLOR_VALUE" val="{&quot;color_scheme&quot;:1,&quot;color_type&quot;:1,&quot;theme_color_indexes&quot;:[]}"/>
</p:tagLst>
</file>

<file path=ppt/tags/tag19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2_2"/>
  <p:tag name="KSO_WM_UNIT_ID" val="diagram20238177_2*l_h_i*2_2_2"/>
  <p:tag name="KSO_WM_TEMPLATE_CATEGORY" val="diagram"/>
  <p:tag name="KSO_WM_TEMPLATE_INDEX" val="20238177"/>
  <p:tag name="KSO_WM_UNIT_LAYERLEVEL" val="1_1_1"/>
  <p:tag name="KSO_WM_TAG_VERSION" val="3.0"/>
  <p:tag name="KSO_WM_UNIT_SUBTYPE" val="d"/>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gradient&quot;:[{&quot;brightness&quot;:0,&quot;colorType&quot;:1,&quot;foreColorIndex&quot;:8,&quot;pos&quot;:0.5400000214576721,&quot;transparency&quot;:0},{&quot;brightness&quot;:0.4000000059604645,&quot;colorType&quot;:1,&quot;foreColorIndex&quot;:8,&quot;pos&quot;:0,&quot;transparency&quot;:0},{&quot;brightness&quot;:0.4000000059604645,&quot;colorType&quot;:1,&quot;foreColorIndex&quot;:8,&quot;pos&quot;:1,&quot;transparency&quot;:0}],&quot;type&quot;:3},&quot;glow&quot;:{&quot;colorType&quot;:0},&quot;line&quot;:{&quot;gradient&quot;:[{&quot;brightness&quot;:0.949999988079071,&quot;colorType&quot;:1,&quot;foreColorIndex&quot;:5,&quot;pos&quot;:0.3199999928474426,&quot;transparency&quot;:0},{&quot;brightness&quot;:0.800000011920929,&quot;colorType&quot;:1,&quot;foreColorIndex&quot;:8,&quot;pos&quot;:0,&quot;transparency&quot;:0},{&quot;brightness&quot;:0,&quot;colorType&quot;:1,&quot;foreColorIndex&quot;:14,&quot;pos&quot;:1,&quot;transparency&quot;:0},{&quot;brightness&quot;:0.800000011920929,&quot;colorType&quot;:1,&quot;foreColorIndex&quot;:8,&quot;pos&quot;:0.7099999785423279,&quot;transparency&quot;:0}],&quot;type&quot;:2},&quot;shadow&quot;:{&quot;brightness&quot;:0,&quot;colorType&quot;:1,&quot;foreColorIndex&quot;:8,&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02"/>
  <p:tag name="KSO_WM_UNIT_FILL_TYPE" val="3"/>
  <p:tag name="KSO_WM_DIAGRAM_USE_COLOR_VALUE" val="{&quot;color_scheme&quot;:1,&quot;color_type&quot;:1,&quot;theme_color_indexes&quot;:[]}"/>
</p:tagLst>
</file>

<file path=ppt/tags/tag19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3_2"/>
  <p:tag name="KSO_WM_UNIT_ID" val="diagram20238177_2*l_h_i*2_3_2"/>
  <p:tag name="KSO_WM_TEMPLATE_CATEGORY" val="diagram"/>
  <p:tag name="KSO_WM_TEMPLATE_INDEX" val="20238177"/>
  <p:tag name="KSO_WM_UNIT_LAYERLEVEL" val="1_1_1"/>
  <p:tag name="KSO_WM_TAG_VERSION" val="3.0"/>
  <p:tag name="KSO_WM_UNIT_SUBTYPE" val="d"/>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949999988079071,&quot;colorType&quot;:1,&quot;foreColorIndex&quot;:5,&quot;pos&quot;:0.3700000047683716,&quot;transparency&quot;:0},{&quot;brightness&quot;:0.550000011920929,&quot;colorType&quot;:1,&quot;foreColorIndex&quot;:5,&quot;pos&quot;:0,&quot;transparency&quot;:0},{&quot;brightness&quot;:0,&quot;colorType&quot;:1,&quot;foreColorIndex&quot;:14,&quot;pos&quot;:1,&quot;transparency&quot;:0},{&quot;brightness&quot;:0.699999988079071,&quot;colorType&quot;:1,&quot;foreColorIndex&quot;:5,&quot;pos&quot;:0.7099999785423279,&quot;transparency&quot;:0}],&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03"/>
  <p:tag name="KSO_WM_UNIT_FILL_TYPE" val="3"/>
  <p:tag name="KSO_WM_DIAGRAM_USE_COLOR_VALUE" val="{&quot;color_scheme&quot;:1,&quot;color_type&quot;:1,&quot;theme_color_indexes&quot;:[]}"/>
</p:tagLst>
</file>

<file path=ppt/tags/tag19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1_2"/>
  <p:tag name="KSO_WM_UNIT_ID" val="diagram20238177_2*l_h_i*2_1_2"/>
  <p:tag name="KSO_WM_TEMPLATE_CATEGORY" val="diagram"/>
  <p:tag name="KSO_WM_TEMPLATE_INDEX" val="20238177"/>
  <p:tag name="KSO_WM_UNIT_LAYERLEVEL" val="1_1_1"/>
  <p:tag name="KSO_WM_TAG_VERSION" val="3.0"/>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2,&quot;pos&quot;:1,&quot;rgb&quot;:&quot;#afc6ff&quot;,&quot;transparency&quot;:1},{&quot;brightness&quot;:0,&quot;colorType&quot;:1,&quot;foreColorIndex&quot;:5,&quot;pos&quot;:0.469999998807907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DIAGRAM_USE_COLOR_VALUE" val="{&quot;color_scheme&quot;:1,&quot;color_type&quot;:1,&quot;theme_color_indexes&quot;:[]}"/>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3_1"/>
  <p:tag name="KSO_WM_UNIT_ID" val="diagram20238177_2*l_h_i*2_3_1"/>
  <p:tag name="KSO_WM_TEMPLATE_CATEGORY" val="diagram"/>
  <p:tag name="KSO_WM_TEMPLATE_INDEX" val="20238177"/>
  <p:tag name="KSO_WM_UNIT_LAYERLEVEL" val="1_1_1"/>
  <p:tag name="KSO_WM_TAG_VERSION" val="3.0"/>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2,&quot;pos&quot;:1,&quot;rgb&quot;:&quot;#afc6ff&quot;,&quot;transparency&quot;:1},{&quot;brightness&quot;:0,&quot;colorType&quot;:1,&quot;foreColorIndex&quot;:5,&quot;pos&quot;:0.469999998807907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DIAGRAM_USE_COLOR_VALUE" val="{&quot;color_scheme&quot;:1,&quot;color_type&quot;:1,&quot;theme_color_indexes&quot;:[]}"/>
</p:tagLst>
</file>

<file path=ppt/tags/tag19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2_1"/>
  <p:tag name="KSO_WM_UNIT_ID" val="diagram20238177_2*l_h_i*2_2_1"/>
  <p:tag name="KSO_WM_TEMPLATE_CATEGORY" val="diagram"/>
  <p:tag name="KSO_WM_TEMPLATE_INDEX" val="20238177"/>
  <p:tag name="KSO_WM_UNIT_LAYERLEVEL" val="1_1_1"/>
  <p:tag name="KSO_WM_TAG_VERSION" val="3.0"/>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1,&quot;foreColorIndex&quot;:8,&quot;pos&quot;:0,&quot;transparency&quot;:0},{&quot;brightness&quot;:0,&quot;colorType&quot;:1,&quot;foreColorIndex&quot;:8,&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DIAGRAM_USE_COLOR_VALUE" val="{&quot;color_scheme&quot;:1,&quot;color_type&quot;:1,&quot;theme_color_indexes&quot;:[]}"/>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8177_2*l_i*2_2"/>
  <p:tag name="KSO_WM_TEMPLATE_CATEGORY" val="diagram"/>
  <p:tag name="KSO_WM_TEMPLATE_INDEX" val="20238177"/>
  <p:tag name="KSO_WM_UNIT_LAYERLEVEL" val="1_1"/>
  <p:tag name="KSO_WM_TAG_VERSION" val="3.0"/>
  <p:tag name="KSO_WM_UNIT_TYPE" val="l_i"/>
  <p:tag name="KSO_WM_UNIT_INDEX" val="2_2"/>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2,&quot;pos&quot;:0.3100000023841858,&quot;rgb&quot;:&quot;#afc6ff&quot;,&quot;transparency&quot;:1},{&quot;brightness&quot;:0.4000000059604645,&quot;colorType&quot;:1,&quot;foreColorIndex&quot;:5,&quot;pos&quot;:0.7699999809265137,&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DIAGRAM_USE_COLOR_VALUE" val="{&quot;color_scheme&quot;:1,&quot;color_type&quot;:1,&quot;theme_color_indexes&quot;:[]}"/>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8177_2*l_i*2_1"/>
  <p:tag name="KSO_WM_TEMPLATE_CATEGORY" val="diagram"/>
  <p:tag name="KSO_WM_TEMPLATE_INDEX" val="20238177"/>
  <p:tag name="KSO_WM_UNIT_LAYERLEVEL" val="1_1"/>
  <p:tag name="KSO_WM_TAG_VERSION" val="3.0"/>
  <p:tag name="KSO_WM_UNIT_TYPE" val="l_i"/>
  <p:tag name="KSO_WM_UNIT_INDEX" val="2_1"/>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2,&quot;pos&quot;:0.3799999952316284,&quot;rgb&quot;:&quot;#afc6ff&quot;,&quot;transparency&quot;:1},{&quot;brightness&quot;:0,&quot;colorType&quot;:1,&quot;foreColorIndex&quot;:5,&quot;pos&quot;:0.8500000238418579,&quot;transparency&quot;:0.3499999940395355}],&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DIAGRAM_USE_COLOR_VALUE" val="{&quot;color_scheme&quot;:1,&quot;color_type&quot;:1,&quot;theme_color_indexes&quot;:[]}"/>
</p:tagLst>
</file>

<file path=ppt/tags/tag197.xml><?xml version="1.0" encoding="utf-8"?>
<p:tagLst xmlns:p="http://schemas.openxmlformats.org/presentationml/2006/main">
  <p:tag name="KSO_WM_BEAUTIFY_FLAG" val="#wm#"/>
  <p:tag name="KSO_WM_TEMPLATE_CATEGORY" val="custom"/>
  <p:tag name="KSO_WM_TEMPLATE_INDEX" val="20205081"/>
  <p:tag name="resource_record_key" val="{&quot;65&quot;:[20205081],&quot;70&quot;:[3312162]}"/>
</p:tagLst>
</file>

<file path=ppt/tags/tag19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diagram20238177_2*l_h_a*1_3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Title"/>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19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diagram20238177_2*l_h_a*1_1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Title"/>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200.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2_1"/>
  <p:tag name="KSO_WM_UNIT_ID" val="diagram20238177_2*l_h_f*1_2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Presentations are communication tools"/>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201.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1_1"/>
  <p:tag name="KSO_WM_UNIT_ID" val="diagram20238177_2*l_h_f*1_1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Presentations are communication tools"/>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202.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l_h_f"/>
  <p:tag name="KSO_WM_UNIT_INDEX" val="1_3_1"/>
  <p:tag name="KSO_WM_UNIT_ID" val="diagram20238177_2*l_h_f*1_3_1"/>
  <p:tag name="KSO_WM_TEMPLATE_CATEGORY" val="diagram"/>
  <p:tag name="KSO_WM_TEMPLATE_INDEX" val="20238177"/>
  <p:tag name="KSO_WM_UNIT_LAYERLEVEL" val="1_1_1"/>
  <p:tag name="KSO_WM_TAG_VERSION" val="3.0"/>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3499999940395355,&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BEAUTIFY_FLAG" val="#wm#"/>
  <p:tag name="KSO_WM_DIAGRAM_VERSION" val="3"/>
  <p:tag name="KSO_WM_DIAGRAM_COLOR_TRICK" val="2"/>
  <p:tag name="KSO_WM_DIAGRAM_COLOR_TEXT_CAN_REMOVE" val="n"/>
  <p:tag name="KSO_WM_UNIT_PRESET_TEXT" val="Presentations are communication tools"/>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20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diagram20238177_2*l_h_a*1_2_1"/>
  <p:tag name="KSO_WM_TEMPLATE_CATEGORY" val="diagram"/>
  <p:tag name="KSO_WM_TEMPLATE_INDEX" val="20238177"/>
  <p:tag name="KSO_WM_UNIT_LAYERLEVEL" val="1_1_1"/>
  <p:tag name="KSO_WM_TAG_VERSION" val="3.0"/>
  <p:tag name="KSO_WM_BEAUTIFY_FLAG" val="#wm#"/>
  <p:tag name="KSO_WM_DIAGRAM_GROUP_CODE" val="l1-1"/>
  <p:tag name="KSO_WM_DIAGRAM_MAX_ITEMCNT" val="4"/>
  <p:tag name="KSO_WM_DIAGRAM_MIN_ITEMCNT" val="2"/>
  <p:tag name="KSO_WM_DIAGRAM_VIRTUALLY_FRAME" val="{&quot;height&quot;:390.6537780761719,&quot;left&quot;:51.04998779296875,&quot;top&quot;:80.87311096191407,&quot;width&quot;:850.400024414062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8,&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PRESET_TEXT" val="Title"/>
  <p:tag name="KSO_WM_UNIT_TEXT_FILL_FORE_SCHEMECOLOR_INDEX" val="1"/>
  <p:tag name="KSO_WM_UNIT_TEXT_FILL_TYPE" val="1"/>
  <p:tag name="KSO_WM_DIAGRAM_USE_COLOR_VALUE" val="{&quot;color_scheme&quot;:1,&quot;theme_color_indexes&quot;:[10,10,10,10,10,10],&quot;theme_colors&quot;:[&quot;#000000&quot;,&quot;#ffffff&quot;,&quot;#44546a&quot;,&quot;#e7e6e6&quot;,&quot;#4874cb&quot;,&quot;#ee822f&quot;,&quot;#f2ba02&quot;,&quot;#75bd42&quot;,&quot;#30c0b4&quot;,&quot;#e54c5e&quot;,&quot;#0026e5&quot;,&quot;#7e1fad&quot;]}"/>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1_1"/>
  <p:tag name="KSO_WM_UNIT_ID" val="diagram20238177_2*l_h_i*2_1_1"/>
  <p:tag name="KSO_WM_TEMPLATE_CATEGORY" val="diagram"/>
  <p:tag name="KSO_WM_TEMPLATE_INDEX" val="20238177"/>
  <p:tag name="KSO_WM_UNIT_LAYERLEVEL" val="1_1_1"/>
  <p:tag name="KSO_WM_TAG_VERSION" val="3.0"/>
  <p:tag name="KSO_WM_UNIT_SUBTYPE" val="d"/>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949999988079071,&quot;colorType&quot;:1,&quot;foreColorIndex&quot;:5,&quot;pos&quot;:0.3700000047683716,&quot;transparency&quot;:0},{&quot;brightness&quot;:0.550000011920929,&quot;colorType&quot;:1,&quot;foreColorIndex&quot;:5,&quot;pos&quot;:0,&quot;transparency&quot;:0},{&quot;brightness&quot;:0,&quot;colorType&quot;:1,&quot;foreColorIndex&quot;:14,&quot;pos&quot;:1,&quot;transparency&quot;:0},{&quot;brightness&quot;:0.699999988079071,&quot;colorType&quot;:1,&quot;foreColorIndex&quot;:5,&quot;pos&quot;:0.7099999785423279,&quot;transparency&quot;:0}],&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PRESET_TEXT" val="01"/>
  <p:tag name="KSO_WM_UNIT_FILL_TYPE" val="3"/>
  <p:tag name="KSO_WM_DIAGRAM_USE_COLOR_VALUE" val="{&quot;color_scheme&quot;:1,&quot;color_type&quot;:1,&quot;theme_color_indexes&quot;:[]}"/>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2_2"/>
  <p:tag name="KSO_WM_UNIT_ID" val="diagram20238177_2*l_h_i*2_2_2"/>
  <p:tag name="KSO_WM_TEMPLATE_CATEGORY" val="diagram"/>
  <p:tag name="KSO_WM_TEMPLATE_INDEX" val="20238177"/>
  <p:tag name="KSO_WM_UNIT_LAYERLEVEL" val="1_1_1"/>
  <p:tag name="KSO_WM_TAG_VERSION" val="3.0"/>
  <p:tag name="KSO_WM_UNIT_SUBTYPE" val="d"/>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gradient&quot;:[{&quot;brightness&quot;:0,&quot;colorType&quot;:1,&quot;foreColorIndex&quot;:8,&quot;pos&quot;:0.5400000214576721,&quot;transparency&quot;:0},{&quot;brightness&quot;:0.4000000059604645,&quot;colorType&quot;:1,&quot;foreColorIndex&quot;:8,&quot;pos&quot;:0,&quot;transparency&quot;:0},{&quot;brightness&quot;:0.4000000059604645,&quot;colorType&quot;:1,&quot;foreColorIndex&quot;:8,&quot;pos&quot;:1,&quot;transparency&quot;:0}],&quot;type&quot;:3},&quot;glow&quot;:{&quot;colorType&quot;:0},&quot;line&quot;:{&quot;gradient&quot;:[{&quot;brightness&quot;:0.949999988079071,&quot;colorType&quot;:1,&quot;foreColorIndex&quot;:5,&quot;pos&quot;:0.3199999928474426,&quot;transparency&quot;:0},{&quot;brightness&quot;:0.800000011920929,&quot;colorType&quot;:1,&quot;foreColorIndex&quot;:8,&quot;pos&quot;:0,&quot;transparency&quot;:0},{&quot;brightness&quot;:0,&quot;colorType&quot;:1,&quot;foreColorIndex&quot;:14,&quot;pos&quot;:1,&quot;transparency&quot;:0},{&quot;brightness&quot;:0.800000011920929,&quot;colorType&quot;:1,&quot;foreColorIndex&quot;:8,&quot;pos&quot;:0.7099999785423279,&quot;transparency&quot;:0}],&quot;type&quot;:2},&quot;shadow&quot;:{&quot;brightness&quot;:0,&quot;colorType&quot;:1,&quot;foreColorIndex&quot;:8,&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PRESET_TEXT" val="02"/>
  <p:tag name="KSO_WM_UNIT_FILL_TYPE" val="3"/>
  <p:tag name="KSO_WM_DIAGRAM_USE_COLOR_VALUE" val="{&quot;color_scheme&quot;:1,&quot;color_type&quot;:1,&quot;theme_color_indexes&quot;:[]}"/>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3_2"/>
  <p:tag name="KSO_WM_UNIT_ID" val="diagram20238177_2*l_h_i*2_3_2"/>
  <p:tag name="KSO_WM_TEMPLATE_CATEGORY" val="diagram"/>
  <p:tag name="KSO_WM_TEMPLATE_INDEX" val="20238177"/>
  <p:tag name="KSO_WM_UNIT_LAYERLEVEL" val="1_1_1"/>
  <p:tag name="KSO_WM_TAG_VERSION" val="3.0"/>
  <p:tag name="KSO_WM_UNIT_SUBTYPE" val="d"/>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gradient&quot;:[{&quot;brightness&quot;:0,&quot;colorType&quot;:1,&quot;foreColorIndex&quot;:5,&quot;pos&quot;:0.5400000214576721,&quot;transparency&quot;:0},{&quot;brightness&quot;:0.4000000059604645,&quot;colorType&quot;:1,&quot;foreColorIndex&quot;:5,&quot;pos&quot;:0,&quot;transparency&quot;:0},{&quot;brightness&quot;:0,&quot;colorType&quot;:1,&quot;foreColorIndex&quot;:5,&quot;pos&quot;:0.8100000023841858,&quot;transparency&quot;:0},{&quot;brightness&quot;:0,&quot;colorType&quot;:1,&quot;foreColorIndex&quot;:5,&quot;pos&quot;:1,&quot;transparency&quot;:0}],&quot;type&quot;:3},&quot;glow&quot;:{&quot;colorType&quot;:0},&quot;line&quot;:{&quot;gradient&quot;:[{&quot;brightness&quot;:0.949999988079071,&quot;colorType&quot;:1,&quot;foreColorIndex&quot;:5,&quot;pos&quot;:0.3700000047683716,&quot;transparency&quot;:0},{&quot;brightness&quot;:0.550000011920929,&quot;colorType&quot;:1,&quot;foreColorIndex&quot;:5,&quot;pos&quot;:0,&quot;transparency&quot;:0},{&quot;brightness&quot;:0,&quot;colorType&quot;:1,&quot;foreColorIndex&quot;:14,&quot;pos&quot;:1,&quot;transparency&quot;:0},{&quot;brightness&quot;:0.699999988079071,&quot;colorType&quot;:1,&quot;foreColorIndex&quot;:5,&quot;pos&quot;:0.7099999785423279,&quot;transparency&quot;:0}],&quot;type&quot;:2},&quot;shadow&quot;:{&quot;brightness&quot;:0,&quot;colorType&quot;:1,&quot;foreColorIndex&quot;:5,&quot;transparency&quot;:0.600000023841857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UNIT_PRESET_TEXT" val="03"/>
  <p:tag name="KSO_WM_UNIT_FILL_TYPE" val="3"/>
  <p:tag name="KSO_WM_DIAGRAM_USE_COLOR_VALUE" val="{&quot;color_scheme&quot;:1,&quot;color_type&quot;:1,&quot;theme_color_indexes&quot;:[]}"/>
</p:tagLst>
</file>

<file path=ppt/tags/tag20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1_2"/>
  <p:tag name="KSO_WM_UNIT_ID" val="diagram20238177_2*l_h_i*2_1_2"/>
  <p:tag name="KSO_WM_TEMPLATE_CATEGORY" val="diagram"/>
  <p:tag name="KSO_WM_TEMPLATE_INDEX" val="20238177"/>
  <p:tag name="KSO_WM_UNIT_LAYERLEVEL" val="1_1_1"/>
  <p:tag name="KSO_WM_TAG_VERSION" val="3.0"/>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2,&quot;pos&quot;:1,&quot;rgb&quot;:&quot;#afc6ff&quot;,&quot;transparency&quot;:1},{&quot;brightness&quot;:0,&quot;colorType&quot;:1,&quot;foreColorIndex&quot;:5,&quot;pos&quot;:0.469999998807907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DIAGRAM_USE_COLOR_VALUE" val="{&quot;color_scheme&quot;:1,&quot;color_type&quot;:1,&quot;theme_color_indexes&quot;:[]}"/>
</p:tagLst>
</file>

<file path=ppt/tags/tag20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3_1"/>
  <p:tag name="KSO_WM_UNIT_ID" val="diagram20238177_2*l_h_i*2_3_1"/>
  <p:tag name="KSO_WM_TEMPLATE_CATEGORY" val="diagram"/>
  <p:tag name="KSO_WM_TEMPLATE_INDEX" val="20238177"/>
  <p:tag name="KSO_WM_UNIT_LAYERLEVEL" val="1_1_1"/>
  <p:tag name="KSO_WM_TAG_VERSION" val="3.0"/>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2,&quot;pos&quot;:1,&quot;rgb&quot;:&quot;#afc6ff&quot;,&quot;transparency&quot;:1},{&quot;brightness&quot;:0,&quot;colorType&quot;:1,&quot;foreColorIndex&quot;:5,&quot;pos&quot;:0.4699999988079071,&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DIAGRAM_USE_COLOR_VALUE" val="{&quot;color_scheme&quot;:1,&quot;color_type&quot;:1,&quot;theme_color_indexes&quot;:[]}"/>
</p:tagLst>
</file>

<file path=ppt/tags/tag20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2_2_1"/>
  <p:tag name="KSO_WM_UNIT_ID" val="diagram20238177_2*l_h_i*2_2_1"/>
  <p:tag name="KSO_WM_TEMPLATE_CATEGORY" val="diagram"/>
  <p:tag name="KSO_WM_TEMPLATE_INDEX" val="20238177"/>
  <p:tag name="KSO_WM_UNIT_LAYERLEVEL" val="1_1_1"/>
  <p:tag name="KSO_WM_TAG_VERSION" val="3.0"/>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1,&quot;foreColorIndex&quot;:8,&quot;pos&quot;:0,&quot;transparency&quot;:0},{&quot;brightness&quot;:0,&quot;colorType&quot;:1,&quot;foreColorIndex&quot;:8,&quot;pos&quot;:1,&quot;transparency&quot;:1}],&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DIAGRAM_USE_COLOR_VALUE" val="{&quot;color_scheme&quot;:1,&quot;color_type&quot;:1,&quot;theme_color_indexes&quot;:[]}"/>
</p:tagLst>
</file>

<file path=ppt/tags/tag21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8177_2*l_i*2_2"/>
  <p:tag name="KSO_WM_TEMPLATE_CATEGORY" val="diagram"/>
  <p:tag name="KSO_WM_TEMPLATE_INDEX" val="20238177"/>
  <p:tag name="KSO_WM_UNIT_LAYERLEVEL" val="1_1"/>
  <p:tag name="KSO_WM_TAG_VERSION" val="3.0"/>
  <p:tag name="KSO_WM_UNIT_TYPE" val="l_i"/>
  <p:tag name="KSO_WM_UNIT_INDEX" val="2_2"/>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2,&quot;pos&quot;:0.3100000023841858,&quot;rgb&quot;:&quot;#afc6ff&quot;,&quot;transparency&quot;:1},{&quot;brightness&quot;:0.4000000059604645,&quot;colorType&quot;:1,&quot;foreColorIndex&quot;:5,&quot;pos&quot;:0.7699999809265137,&quot;transparency&quot;:0.30000001192092896}],&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DIAGRAM_USE_COLOR_VALUE" val="{&quot;color_scheme&quot;:1,&quot;color_type&quot;:1,&quot;theme_color_indexes&quot;:[]}"/>
</p:tagLst>
</file>

<file path=ppt/tags/tag21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ID" val="diagram20238177_2*l_i*2_1"/>
  <p:tag name="KSO_WM_TEMPLATE_CATEGORY" val="diagram"/>
  <p:tag name="KSO_WM_TEMPLATE_INDEX" val="20238177"/>
  <p:tag name="KSO_WM_UNIT_LAYERLEVEL" val="1_1"/>
  <p:tag name="KSO_WM_TAG_VERSION" val="3.0"/>
  <p:tag name="KSO_WM_UNIT_TYPE" val="l_i"/>
  <p:tag name="KSO_WM_UNIT_INDEX" val="2_1"/>
  <p:tag name="KSO_WM_DIAGRAM_MAX_ITEMCNT" val="4"/>
  <p:tag name="KSO_WM_DIAGRAM_MIN_ITEMCNT" val="2"/>
  <p:tag name="KSO_WM_DIAGRAM_VIRTUALLY_FRAME" val="{&quot;height&quot;:390.6537780761719,&quot;left&quot;:34.39999999999998,&quot;top&quot;:81.27311096191406,&quot;width&quot;:866.55}"/>
  <p:tag name="KSO_WM_DIAGRAM_COLOR_MATCH_VALUE" val="{&quot;shape&quot;:{&quot;fill&quot;:{&quot;type&quot;:0},&quot;glow&quot;:{&quot;colorType&quot;:0},&quot;line&quot;:{&quot;gradient&quot;:[{&quot;brightness&quot;:0,&quot;colorType&quot;:2,&quot;pos&quot;:0.3799999952316284,&quot;rgb&quot;:&quot;#afc6ff&quot;,&quot;transparency&quot;:1},{&quot;brightness&quot;:0,&quot;colorType&quot;:1,&quot;foreColorIndex&quot;:5,&quot;pos&quot;:0.8500000238418579,&quot;transparency&quot;:0.3499999940395355}],&quot;type&quot;:2},&quot;shadow&quot;:{&quot;colorType&quot;:0},&quot;threeD&quot;:{&quot;curvedSurface&quot;:{&quot;brightness&quot;:0,&quot;colorType&quot;:2,&quot;rgb&quot;:&quot;#000000&quot;},&quot;depth&quot;:{&quot;colorType&quot;:0}}},&quot;text&quot;:{&quot;fill&quot;:{&quot;solid&quot;:{&quot;brightness&quot;:0,&quot;colorType&quot;:1,&quot;foreColorIndex&quot;:2,&quot;transparency&quot;:0},&quot;type&quot;:1},&quot;glow&quot;:{&quot;colorType&quot;:0},&quot;line&quot;:{&quot;type&quot;:0},&quot;shadow&quot;:{&quot;colorType&quot;:0},&quot;threeD&quot;:{&quot;curvedSurface&quot;:{&quot;brightness&quot;:0,&quot;colorType&quot;:2,&quot;rgb&quot;:&quot;#000000&quot;},&quot;depth&quot;:{&quot;colorType&quot;:0}}}}"/>
  <p:tag name="KSO_WM_DIAGRAM_VERSION" val="3"/>
  <p:tag name="KSO_WM_DIAGRAM_COLOR_TRICK" val="2"/>
  <p:tag name="KSO_WM_DIAGRAM_COLOR_TEXT_CAN_REMOVE" val="n"/>
  <p:tag name="KSO_WM_DIAGRAM_USE_COLOR_VALUE" val="{&quot;color_scheme&quot;:1,&quot;color_type&quot;:1,&quot;theme_color_indexes&quot;:[]}"/>
</p:tagLst>
</file>

<file path=ppt/tags/tag212.xml><?xml version="1.0" encoding="utf-8"?>
<p:tagLst xmlns:p="http://schemas.openxmlformats.org/presentationml/2006/main">
  <p:tag name="KSO_WM_BEAUTIFY_FLAG" val="#wm#"/>
  <p:tag name="KSO_WM_TEMPLATE_CATEGORY" val="custom"/>
  <p:tag name="KSO_WM_TEMPLATE_INDEX" val="20205081"/>
  <p:tag name="resource_record_key" val="{&quot;65&quot;:[20205081],&quot;70&quot;:[3312162]}"/>
</p:tagLst>
</file>

<file path=ppt/tags/tag213.xml><?xml version="1.0" encoding="utf-8"?>
<p:tagLst xmlns:p="http://schemas.openxmlformats.org/presentationml/2006/main">
  <p:tag name="resource_record_key" val="{&quot;65&quot;:[20205081],&quot;70&quot;:[3312345,3322019,3320039,3322444,3312756,3314129,3312162]}"/>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6563</Words>
  <Application>WPS Presentation</Application>
  <PresentationFormat>Widescreen</PresentationFormat>
  <Paragraphs>215</Paragraphs>
  <Slides>14</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14</vt:i4>
      </vt:variant>
    </vt:vector>
  </HeadingPairs>
  <TitlesOfParts>
    <vt:vector size="25" baseType="lpstr">
      <vt:lpstr>Arial</vt:lpstr>
      <vt:lpstr>SimSun</vt:lpstr>
      <vt:lpstr>Wingdings</vt:lpstr>
      <vt:lpstr>Wingdings</vt:lpstr>
      <vt:lpstr>Montserrat SemiBold</vt:lpstr>
      <vt:lpstr>Times New Roman</vt:lpstr>
      <vt:lpstr>Microsoft YaHei</vt:lpstr>
      <vt:lpstr>Arial Unicode MS</vt:lpstr>
      <vt:lpstr>Calibri</vt:lpstr>
      <vt:lpstr>WPS</vt:lpstr>
      <vt:lpstr>1_WPS</vt:lpstr>
      <vt:lpstr>Retail Superstore Sales Performance Analysis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Superstore Sales Performance Analysis</dc:title>
  <dc:creator>Bussie</dc:creator>
  <cp:lastModifiedBy>Omoniyi Busayo</cp:lastModifiedBy>
  <cp:revision>10</cp:revision>
  <dcterms:created xsi:type="dcterms:W3CDTF">2026-07-08T15:58:00Z</dcterms:created>
  <dcterms:modified xsi:type="dcterms:W3CDTF">2026-09-13T19:52:16Z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DCC0008398774BA388377F177466949F_11</vt:lpwstr>
  </property>
</Properties>
</file>
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61" r:id="rId5"/>
    <p:sldId id="262" r:id="rId6"/>
    <p:sldId id="264" r:id="rId7"/>
    <p:sldId id="265" r:id="rId8"/>
    <p:sldId id="266" r:id="rId9"/>
    <p:sldId id="267" r:id="rId10"/>
    <p:sldId id="268" r:id="rId11"/>
    <p:sldId id="269" r:id="rId12"/>
    <p:sldId id="270" r:id="rId13"/>
    <p:sldId id="272" r:id="rId14"/>
    <p:sldId id="279" r:id="rId15"/>
    <p:sldId id="280" r:id="rId16"/>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3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0F0"/>
    <a:srgbClr val="FFFFFF"/>
    <a:srgbClr val="1D1C1C"/>
    <a:srgbClr val="252424"/>
    <a:srgbClr val="DCDCDC"/>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8"/>
        <p:guide pos="389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143.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3.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0" Type="http://schemas.openxmlformats.org/officeDocument/2006/relationships/slideLayout" Target="../slideLayouts/slideLayout1.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1.xml"/><Relationship Id="rId1" Type="http://schemas.openxmlformats.org/officeDocument/2006/relationships/tags" Target="../tags/tag10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3.xml"/><Relationship Id="rId1" Type="http://schemas.openxmlformats.org/officeDocument/2006/relationships/tags" Target="../tags/tag10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5.xml"/><Relationship Id="rId1" Type="http://schemas.openxmlformats.org/officeDocument/2006/relationships/tags" Target="../tags/tag10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7.xml"/><Relationship Id="rId1" Type="http://schemas.openxmlformats.org/officeDocument/2006/relationships/tags" Target="../tags/tag106.xml"/></Relationships>
</file>

<file path=ppt/slides/_rels/slide11.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0" Type="http://schemas.openxmlformats.org/officeDocument/2006/relationships/slideLayout" Target="../slideLayouts/slideLayout1.xml"/><Relationship Id="rId2" Type="http://schemas.openxmlformats.org/officeDocument/2006/relationships/tags" Target="../tags/tag109.xml"/><Relationship Id="rId19" Type="http://schemas.openxmlformats.org/officeDocument/2006/relationships/tags" Target="../tags/tag126.xml"/><Relationship Id="rId18" Type="http://schemas.openxmlformats.org/officeDocument/2006/relationships/tags" Target="../tags/tag125.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tags" Target="../tags/tag108.xml"/></Relationships>
</file>

<file path=ppt/slides/_rels/slide12.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5" Type="http://schemas.openxmlformats.org/officeDocument/2006/relationships/slideLayout" Target="../slideLayouts/slideLayout1.xml"/><Relationship Id="rId14" Type="http://schemas.openxmlformats.org/officeDocument/2006/relationships/tags" Target="../tags/tag140.xml"/><Relationship Id="rId13" Type="http://schemas.openxmlformats.org/officeDocument/2006/relationships/tags" Target="../tags/tag139.xml"/><Relationship Id="rId12" Type="http://schemas.openxmlformats.org/officeDocument/2006/relationships/tags" Target="../tags/tag138.xml"/><Relationship Id="rId11" Type="http://schemas.openxmlformats.org/officeDocument/2006/relationships/tags" Target="../tags/tag137.xml"/><Relationship Id="rId10" Type="http://schemas.openxmlformats.org/officeDocument/2006/relationships/tags" Target="../tags/tag136.xml"/><Relationship Id="rId1" Type="http://schemas.openxmlformats.org/officeDocument/2006/relationships/tags" Target="../tags/tag12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solidFill>
                  <a:schemeClr val="bg1"/>
                </a:solidFill>
                <a:latin typeface="Montserrat ExtraBold" panose="00000900000000000000" charset="0"/>
                <a:cs typeface="Montserrat ExtraBold" panose="00000900000000000000" charset="0"/>
              </a:rPr>
              <a:t>Actual vs Budget Analysis</a:t>
            </a:r>
            <a:endParaRPr lang="en-US">
              <a:solidFill>
                <a:schemeClr val="bg1"/>
              </a:solidFill>
              <a:latin typeface="Montserrat ExtraBold" panose="00000900000000000000" charset="0"/>
              <a:cs typeface="Montserrat ExtraBold" panose="00000900000000000000" charset="0"/>
            </a:endParaRPr>
          </a:p>
        </p:txBody>
      </p:sp>
      <p:sp>
        <p:nvSpPr>
          <p:cNvPr id="3" name="Subtitle 2"/>
          <p:cNvSpPr>
            <a:spLocks noGrp="1"/>
          </p:cNvSpPr>
          <p:nvPr>
            <p:ph type="subTitle" idx="1"/>
            <p:custDataLst>
              <p:tags r:id="rId2"/>
            </p:custDataLst>
          </p:nvPr>
        </p:nvSpPr>
        <p:spPr>
          <a:xfrm>
            <a:off x="4533265" y="3833495"/>
            <a:ext cx="3124835" cy="659765"/>
          </a:xfrm>
        </p:spPr>
        <p:txBody>
          <a:bodyPr>
            <a:noAutofit/>
          </a:bodyPr>
          <a:p>
            <a:r>
              <a:rPr lang="en-US" altLang="en-US">
                <a:solidFill>
                  <a:schemeClr val="accent1"/>
                </a:solidFill>
                <a:latin typeface="Montserrat Medium" panose="00000600000000000000" charset="0"/>
                <a:cs typeface="Montserrat Medium" panose="00000600000000000000" charset="0"/>
              </a:rPr>
              <a:t>SQL + Power BI</a:t>
            </a:r>
            <a:endParaRPr lang="en-US" altLang="en-US">
              <a:solidFill>
                <a:schemeClr val="accent1"/>
              </a:solidFill>
              <a:latin typeface="Montserrat Medium" panose="00000600000000000000" charset="0"/>
              <a:cs typeface="Montserrat Medium" panose="00000600000000000000" charset="0"/>
            </a:endParaRPr>
          </a:p>
        </p:txBody>
      </p:sp>
      <p:sp>
        <p:nvSpPr>
          <p:cNvPr id="5" name="Subtitle 2"/>
          <p:cNvSpPr>
            <a:spLocks noGrp="1"/>
          </p:cNvSpPr>
          <p:nvPr>
            <p:custDataLst>
              <p:tags r:id="rId3"/>
            </p:custDataLst>
          </p:nvPr>
        </p:nvSpPr>
        <p:spPr>
          <a:xfrm>
            <a:off x="4710430" y="5454650"/>
            <a:ext cx="2776220" cy="659765"/>
          </a:xfrm>
          <a:prstGeom prst="rect">
            <a:avLst/>
          </a:prstGeom>
        </p:spPr>
        <p:txBody>
          <a:bodyPr vert="horz" lIns="90000" tIns="46800" rIns="90000" bIns="46800" rtlCol="0">
            <a:noAutofit/>
          </a:bodyPr>
          <a:lstStyle>
            <a:lvl1pPr marL="0" indent="0" algn="ctr" defTabSz="914400" rtl="0" eaLnBrk="1" fontAlgn="auto" latinLnBrk="0" hangingPunct="1">
              <a:lnSpc>
                <a:spcPct val="110000"/>
              </a:lnSpc>
              <a:spcBef>
                <a:spcPts val="0"/>
              </a:spcBef>
              <a:spcAft>
                <a:spcPts val="1000"/>
              </a:spcAft>
              <a:buFont typeface="Arial" panose="020B0604020202020204" pitchFamily="34" charset="0"/>
              <a:buNone/>
              <a:defRPr sz="2400" u="none" strike="noStrike" kern="1200" cap="none" spc="200" normalizeH="0" baseline="0">
                <a:solidFill>
                  <a:schemeClr val="tx1">
                    <a:lumMod val="65000"/>
                    <a:lumOff val="35000"/>
                  </a:schemeClr>
                </a:solidFill>
                <a:uFillTx/>
                <a:latin typeface="+mn-lt"/>
                <a:ea typeface="+mn-ea"/>
                <a:cs typeface="+mn-cs"/>
              </a:defRPr>
            </a:lvl1pPr>
            <a:lvl2pPr marL="457200" indent="0" algn="ctr"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lumMod val="65000"/>
                    <a:lumOff val="35000"/>
                  </a:schemeClr>
                </a:solidFill>
                <a:uFillTx/>
                <a:latin typeface="+mn-lt"/>
                <a:ea typeface="+mn-ea"/>
                <a:cs typeface="+mn-cs"/>
              </a:defRPr>
            </a:lvl2pPr>
            <a:lvl3pPr marL="914400" indent="0" algn="ctr"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lumMod val="65000"/>
                    <a:lumOff val="35000"/>
                  </a:schemeClr>
                </a:solidFill>
                <a:uFillTx/>
                <a:latin typeface="+mn-lt"/>
                <a:ea typeface="+mn-ea"/>
                <a:cs typeface="+mn-cs"/>
              </a:defRPr>
            </a:lvl3pPr>
            <a:lvl4pPr marL="1371600" indent="0" algn="ctr"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lumMod val="65000"/>
                    <a:lumOff val="35000"/>
                  </a:schemeClr>
                </a:solidFill>
                <a:uFillTx/>
                <a:latin typeface="+mn-lt"/>
                <a:ea typeface="+mn-ea"/>
                <a:cs typeface="+mn-cs"/>
              </a:defRPr>
            </a:lvl4pPr>
            <a:lvl5pPr marL="1828800" indent="0" algn="ctr"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Aft>
                <a:spcPts val="0"/>
              </a:spcAft>
            </a:pPr>
            <a:r>
              <a:rPr lang="en-US" altLang="en-US" sz="2000">
                <a:solidFill>
                  <a:schemeClr val="bg1"/>
                </a:solidFill>
                <a:latin typeface="Montserrat ExtraBold" panose="00000900000000000000" charset="0"/>
                <a:cs typeface="Montserrat ExtraBold" panose="00000900000000000000" charset="0"/>
              </a:rPr>
              <a:t>Presented by</a:t>
            </a:r>
            <a:endParaRPr lang="en-US" altLang="en-US" sz="2000">
              <a:solidFill>
                <a:schemeClr val="bg1"/>
              </a:solidFill>
              <a:latin typeface="Montserrat ExtraBold" panose="00000900000000000000" charset="0"/>
              <a:cs typeface="Montserrat ExtraBold" panose="00000900000000000000" charset="0"/>
            </a:endParaRPr>
          </a:p>
          <a:p>
            <a:pPr>
              <a:lnSpc>
                <a:spcPct val="100000"/>
              </a:lnSpc>
              <a:spcAft>
                <a:spcPts val="0"/>
              </a:spcAft>
            </a:pPr>
            <a:r>
              <a:rPr lang="en-US" altLang="en-US" sz="2000">
                <a:solidFill>
                  <a:schemeClr val="bg1"/>
                </a:solidFill>
                <a:latin typeface="Montserrat ExtraBold" panose="00000900000000000000" charset="0"/>
                <a:cs typeface="Montserrat ExtraBold" panose="00000900000000000000" charset="0"/>
              </a:rPr>
              <a:t>Busayo Omoniyi</a:t>
            </a:r>
            <a:endParaRPr lang="en-US" altLang="en-US" sz="2000">
              <a:solidFill>
                <a:schemeClr val="bg1"/>
              </a:solidFill>
              <a:latin typeface="Montserrat ExtraBold" panose="00000900000000000000" charset="0"/>
              <a:cs typeface="Montserrat ExtraBold" panose="00000900000000000000" charset="0"/>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half" idx="2"/>
            <p:custDataLst>
              <p:tags r:id="rId1"/>
            </p:custDataLst>
          </p:nvPr>
        </p:nvSpPr>
        <p:spPr>
          <a:xfrm>
            <a:off x="628650" y="1219835"/>
            <a:ext cx="6315075" cy="5489575"/>
          </a:xfrm>
        </p:spPr>
        <p:txBody>
          <a:bodyPr>
            <a:noAutofit/>
          </a:bodyPr>
          <a:p>
            <a:pPr marL="0" indent="0" algn="l">
              <a:lnSpc>
                <a:spcPct val="130000"/>
              </a:lnSpc>
              <a:spcAft>
                <a:spcPts val="1100"/>
              </a:spcAft>
              <a:buNone/>
            </a:pPr>
            <a:r>
              <a:rPr lang="en-US" altLang="en-US" sz="1700" b="1">
                <a:solidFill>
                  <a:schemeClr val="bg1"/>
                </a:solidFill>
                <a:latin typeface="Arial" panose="020B0604020202020204" pitchFamily="34" charset="0"/>
                <a:cs typeface="Arial" panose="020B0604020202020204" pitchFamily="34" charset="0"/>
              </a:rPr>
              <a:t>Management needs visibility into how effectively the company is managing its allocated budget and where unfavorable spending patterns are occurring.</a:t>
            </a:r>
            <a:endParaRPr lang="en-US" altLang="en-US" sz="1700" b="1">
              <a:solidFill>
                <a:schemeClr val="bg1"/>
              </a:solidFill>
              <a:latin typeface="Arial" panose="020B0604020202020204" pitchFamily="34" charset="0"/>
              <a:cs typeface="Arial" panose="020B0604020202020204" pitchFamily="34" charset="0"/>
            </a:endParaRPr>
          </a:p>
          <a:p>
            <a:pPr marL="0" indent="0" algn="l">
              <a:lnSpc>
                <a:spcPct val="130000"/>
              </a:lnSpc>
              <a:spcAft>
                <a:spcPts val="1100"/>
              </a:spcAft>
              <a:buNone/>
            </a:pPr>
            <a:r>
              <a:rPr lang="en-US" altLang="en-US" sz="1700" b="1">
                <a:solidFill>
                  <a:schemeClr val="bg1"/>
                </a:solidFill>
                <a:latin typeface="Arial" panose="020B0604020202020204" pitchFamily="34" charset="0"/>
                <a:cs typeface="Arial" panose="020B0604020202020204" pitchFamily="34" charset="0"/>
              </a:rPr>
              <a:t>This project analyzes three years of financial transaction data to compare budgeted amounts against actual spending and identify the departments, expense categories, periods and regions contributing to budget overruns.</a:t>
            </a:r>
            <a:endParaRPr lang="en-US" altLang="en-US" sz="1700" b="1">
              <a:solidFill>
                <a:schemeClr val="bg1"/>
              </a:solidFill>
              <a:latin typeface="Arial" panose="020B0604020202020204" pitchFamily="34" charset="0"/>
              <a:cs typeface="Arial" panose="020B0604020202020204" pitchFamily="34" charset="0"/>
            </a:endParaRPr>
          </a:p>
          <a:p>
            <a:pPr marL="0" indent="0" algn="l">
              <a:lnSpc>
                <a:spcPct val="130000"/>
              </a:lnSpc>
              <a:spcAft>
                <a:spcPts val="1100"/>
              </a:spcAft>
              <a:buNone/>
            </a:pPr>
            <a:r>
              <a:rPr lang="en-US" altLang="en-US" sz="1700" b="1">
                <a:solidFill>
                  <a:schemeClr val="bg1"/>
                </a:solidFill>
                <a:latin typeface="Arial" panose="020B0604020202020204" pitchFamily="34" charset="0"/>
                <a:cs typeface="Arial" panose="020B0604020202020204" pitchFamily="34" charset="0"/>
              </a:rPr>
              <a:t>Objective</a:t>
            </a:r>
            <a:endParaRPr lang="en-US" altLang="en-US" sz="1700" b="1">
              <a:solidFill>
                <a:schemeClr val="bg1"/>
              </a:solidFill>
              <a:latin typeface="Arial" panose="020B0604020202020204" pitchFamily="34" charset="0"/>
              <a:cs typeface="Arial" panose="020B0604020202020204" pitchFamily="34" charset="0"/>
            </a:endParaRPr>
          </a:p>
          <a:p>
            <a:pPr marL="0" indent="0" algn="l">
              <a:lnSpc>
                <a:spcPct val="130000"/>
              </a:lnSpc>
              <a:spcAft>
                <a:spcPts val="1100"/>
              </a:spcAft>
              <a:buNone/>
            </a:pPr>
            <a:r>
              <a:rPr lang="en-US" altLang="en-US" sz="1700" b="1">
                <a:solidFill>
                  <a:schemeClr val="bg1"/>
                </a:solidFill>
                <a:latin typeface="Arial" panose="020B0604020202020204" pitchFamily="34" charset="0"/>
                <a:cs typeface="Arial" panose="020B0604020202020204" pitchFamily="34" charset="0"/>
              </a:rPr>
              <a:t>Transform raw sales data into meaningful business insights through data cleaning, SQL analysis, interactive dashboards, and data storytelling.</a:t>
            </a:r>
            <a:endParaRPr lang="en-US" altLang="en-US" sz="1700" b="1">
              <a:solidFill>
                <a:schemeClr val="bg1"/>
              </a:solidFill>
              <a:latin typeface="Arial" panose="020B0604020202020204" pitchFamily="34" charset="0"/>
              <a:cs typeface="Arial" panose="020B0604020202020204" pitchFamily="34" charset="0"/>
            </a:endParaRPr>
          </a:p>
        </p:txBody>
      </p:sp>
      <p:grpSp>
        <p:nvGrpSpPr>
          <p:cNvPr id="13" name="Group 12"/>
          <p:cNvGrpSpPr/>
          <p:nvPr/>
        </p:nvGrpSpPr>
        <p:grpSpPr>
          <a:xfrm>
            <a:off x="7287895" y="667385"/>
            <a:ext cx="4904105" cy="1025525"/>
            <a:chOff x="-2" y="4152"/>
            <a:chExt cx="7169" cy="1615"/>
          </a:xfrm>
        </p:grpSpPr>
        <p:cxnSp>
          <p:nvCxnSpPr>
            <p:cNvPr id="11" name="Straight Connector 10"/>
            <p:cNvCxnSpPr/>
            <p:nvPr/>
          </p:nvCxnSpPr>
          <p:spPr>
            <a:xfrm>
              <a:off x="-2" y="4152"/>
              <a:ext cx="7146" cy="0"/>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21" y="5767"/>
              <a:ext cx="7146" cy="0"/>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grpSp>
      <p:sp>
        <p:nvSpPr>
          <p:cNvPr id="14" name="Text Placeholder 4"/>
          <p:cNvSpPr>
            <a:spLocks noGrp="1"/>
          </p:cNvSpPr>
          <p:nvPr>
            <p:custDataLst>
              <p:tags r:id="rId2"/>
            </p:custDataLst>
          </p:nvPr>
        </p:nvSpPr>
        <p:spPr>
          <a:xfrm>
            <a:off x="7632065" y="783590"/>
            <a:ext cx="4068445" cy="64135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Aft>
                <a:spcPts val="200"/>
              </a:spcAft>
            </a:pPr>
            <a:r>
              <a:rPr lang="en-US" sz="3600" b="1">
                <a:solidFill>
                  <a:schemeClr val="bg1"/>
                </a:solidFill>
                <a:latin typeface="Times New Roman" panose="02020603050405020304" charset="0"/>
                <a:cs typeface="Times New Roman" panose="02020603050405020304" charset="0"/>
              </a:rPr>
              <a:t>Project Overview</a:t>
            </a:r>
            <a:endParaRPr lang="en-US" sz="3600" b="1">
              <a:solidFill>
                <a:schemeClr val="bg1"/>
              </a:solidFill>
              <a:latin typeface="Times New Roman" panose="02020603050405020304" charset="0"/>
              <a:cs typeface="Times New Roman" panose="02020603050405020304" charset="0"/>
            </a:endParaRPr>
          </a:p>
        </p:txBody>
      </p:sp>
      <p:sp>
        <p:nvSpPr>
          <p:cNvPr id="15" name="Text Box 14"/>
          <p:cNvSpPr txBox="1"/>
          <p:nvPr/>
        </p:nvSpPr>
        <p:spPr>
          <a:xfrm>
            <a:off x="8100695" y="2417445"/>
            <a:ext cx="2862580" cy="4029710"/>
          </a:xfrm>
          <a:prstGeom prst="rect">
            <a:avLst/>
          </a:prstGeom>
          <a:noFill/>
        </p:spPr>
        <p:txBody>
          <a:bodyPr wrap="square" rtlCol="0" anchor="t">
            <a:noAutofit/>
          </a:bodyPr>
          <a:p>
            <a:pPr indent="0" fontAlgn="auto">
              <a:lnSpc>
                <a:spcPct val="100000"/>
              </a:lnSpc>
              <a:spcBef>
                <a:spcPts val="0"/>
              </a:spcBef>
              <a:spcAft>
                <a:spcPts val="400"/>
              </a:spcAft>
            </a:pPr>
            <a:r>
              <a:rPr lang="en-US" altLang="en-US" u="sng">
                <a:solidFill>
                  <a:schemeClr val="bg1"/>
                </a:solidFill>
                <a:latin typeface="Montserrat" panose="00000500000000000000" charset="0"/>
                <a:cs typeface="Montserrat" panose="00000500000000000000" charset="0"/>
                <a:sym typeface="+mn-ea"/>
              </a:rPr>
              <a:t>Reporting Period</a:t>
            </a:r>
            <a:r>
              <a:rPr lang="en-US" altLang="en-US" u="sng">
                <a:solidFill>
                  <a:schemeClr val="bg1"/>
                </a:solidFill>
                <a:latin typeface="Montserrat" panose="00000500000000000000" charset="0"/>
                <a:cs typeface="Montserrat" panose="00000500000000000000" charset="0"/>
              </a:rPr>
              <a:t>:</a:t>
            </a:r>
            <a:endParaRPr lang="en-US" altLang="en-US" u="sng">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rPr>
              <a:t>January 2021 – December 2023</a:t>
            </a:r>
            <a:endParaRPr lang="en-US" altLang="en-US">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sym typeface="+mn-ea"/>
              </a:rPr>
              <a:t>---------------</a:t>
            </a:r>
            <a:endParaRPr lang="en-US" altLang="en-US">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u="sng">
                <a:solidFill>
                  <a:schemeClr val="bg1"/>
                </a:solidFill>
                <a:latin typeface="Montserrat" panose="00000500000000000000" charset="0"/>
                <a:cs typeface="Montserrat" panose="00000500000000000000" charset="0"/>
              </a:rPr>
              <a:t>Records Analyzed:</a:t>
            </a:r>
            <a:endParaRPr lang="en-US" altLang="en-US" u="sng">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rPr>
              <a:t>10,000</a:t>
            </a:r>
            <a:endParaRPr lang="en-US" altLang="en-US">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sym typeface="+mn-ea"/>
              </a:rPr>
              <a:t>---------------</a:t>
            </a:r>
            <a:endParaRPr lang="en-US" altLang="en-US">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u="sng">
                <a:solidFill>
                  <a:schemeClr val="bg1"/>
                </a:solidFill>
                <a:latin typeface="Montserrat" panose="00000500000000000000" charset="0"/>
                <a:cs typeface="Montserrat" panose="00000500000000000000" charset="0"/>
              </a:rPr>
              <a:t>Tools:</a:t>
            </a:r>
            <a:endParaRPr lang="en-US" altLang="en-US" u="sng">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rPr>
              <a:t>SQL, Power BI, Excel</a:t>
            </a:r>
            <a:endParaRPr lang="en-US" altLang="en-US">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sym typeface="+mn-ea"/>
              </a:rPr>
              <a:t>---------------</a:t>
            </a:r>
            <a:endParaRPr lang="en-US" altLang="en-US">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rPr>
              <a:t>ROLE:</a:t>
            </a:r>
            <a:endParaRPr lang="en-US" altLang="en-US">
              <a:solidFill>
                <a:schemeClr val="bg1"/>
              </a:solidFill>
              <a:latin typeface="Montserrat" panose="00000500000000000000" charset="0"/>
              <a:cs typeface="Montserrat" panose="00000500000000000000" charset="0"/>
            </a:endParaRPr>
          </a:p>
          <a:p>
            <a:pPr indent="0" fontAlgn="auto">
              <a:lnSpc>
                <a:spcPct val="100000"/>
              </a:lnSpc>
              <a:spcBef>
                <a:spcPts val="0"/>
              </a:spcBef>
              <a:spcAft>
                <a:spcPts val="400"/>
              </a:spcAft>
            </a:pPr>
            <a:r>
              <a:rPr lang="en-US" altLang="en-US">
                <a:solidFill>
                  <a:schemeClr val="bg1"/>
                </a:solidFill>
                <a:latin typeface="Montserrat" panose="00000500000000000000" charset="0"/>
                <a:cs typeface="Montserrat" panose="00000500000000000000" charset="0"/>
              </a:rPr>
              <a:t>Data Analyst</a:t>
            </a:r>
            <a:endParaRPr lang="en-US" altLang="en-US">
              <a:solidFill>
                <a:schemeClr val="bg1"/>
              </a:solidFill>
              <a:latin typeface="Montserrat" panose="00000500000000000000" charset="0"/>
              <a:cs typeface="Montserrat" panose="00000500000000000000" charset="0"/>
            </a:endParaRPr>
          </a:p>
        </p:txBody>
      </p:sp>
      <p:cxnSp>
        <p:nvCxnSpPr>
          <p:cNvPr id="16" name="Straight Connector 15"/>
          <p:cNvCxnSpPr/>
          <p:nvPr/>
        </p:nvCxnSpPr>
        <p:spPr>
          <a:xfrm>
            <a:off x="7287895" y="-114935"/>
            <a:ext cx="0" cy="6972935"/>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701040" y="6017260"/>
            <a:ext cx="10968990" cy="471805"/>
          </a:xfrm>
        </p:spPr>
        <p:txBody>
          <a:bodyPr>
            <a:normAutofit/>
          </a:bodyPr>
          <a:p>
            <a:pPr marL="0" indent="0" algn="ctr">
              <a:lnSpc>
                <a:spcPct val="100000"/>
              </a:lnSpc>
              <a:buNone/>
            </a:pPr>
            <a:r>
              <a:rPr lang="en-US" altLang="en-US">
                <a:solidFill>
                  <a:schemeClr val="bg1">
                    <a:lumMod val="85000"/>
                  </a:schemeClr>
                </a:solidFill>
                <a:latin typeface="Times New Roman" panose="02020603050405020304" charset="0"/>
                <a:cs typeface="Times New Roman" panose="02020603050405020304" charset="0"/>
              </a:rPr>
              <a:t>This analysis was conducted to answer the above business questions</a:t>
            </a:r>
            <a:endParaRPr lang="en-US" altLang="en-US">
              <a:solidFill>
                <a:schemeClr val="bg1">
                  <a:lumMod val="85000"/>
                </a:schemeClr>
              </a:solidFill>
              <a:latin typeface="Times New Roman" panose="02020603050405020304" charset="0"/>
              <a:cs typeface="Times New Roman" panose="02020603050405020304" charset="0"/>
            </a:endParaRPr>
          </a:p>
        </p:txBody>
      </p:sp>
      <p:sp>
        <p:nvSpPr>
          <p:cNvPr id="2" name="矩形: 圆角 9"/>
          <p:cNvSpPr/>
          <p:nvPr>
            <p:custDataLst>
              <p:tags r:id="rId2"/>
            </p:custDataLst>
          </p:nvPr>
        </p:nvSpPr>
        <p:spPr>
          <a:xfrm>
            <a:off x="2049256" y="743501"/>
            <a:ext cx="3209402" cy="2374031"/>
          </a:xfrm>
          <a:custGeom>
            <a:avLst/>
            <a:gdLst>
              <a:gd name="connsiteX0" fmla="*/ 0 w 1086416"/>
              <a:gd name="connsiteY0" fmla="*/ 119051 h 714292"/>
              <a:gd name="connsiteX1" fmla="*/ 119051 w 1086416"/>
              <a:gd name="connsiteY1" fmla="*/ 0 h 714292"/>
              <a:gd name="connsiteX2" fmla="*/ 967365 w 1086416"/>
              <a:gd name="connsiteY2" fmla="*/ 0 h 714292"/>
              <a:gd name="connsiteX3" fmla="*/ 1086416 w 1086416"/>
              <a:gd name="connsiteY3" fmla="*/ 119051 h 714292"/>
              <a:gd name="connsiteX4" fmla="*/ 1086416 w 1086416"/>
              <a:gd name="connsiteY4" fmla="*/ 595241 h 714292"/>
              <a:gd name="connsiteX5" fmla="*/ 967365 w 1086416"/>
              <a:gd name="connsiteY5" fmla="*/ 714292 h 714292"/>
              <a:gd name="connsiteX6" fmla="*/ 119051 w 1086416"/>
              <a:gd name="connsiteY6" fmla="*/ 714292 h 714292"/>
              <a:gd name="connsiteX7" fmla="*/ 0 w 1086416"/>
              <a:gd name="connsiteY7" fmla="*/ 595241 h 714292"/>
              <a:gd name="connsiteX8" fmla="*/ 0 w 1086416"/>
              <a:gd name="connsiteY8" fmla="*/ 119051 h 714292"/>
              <a:gd name="connsiteX0-1" fmla="*/ 0 w 1086416"/>
              <a:gd name="connsiteY0-2" fmla="*/ 595241 h 714292"/>
              <a:gd name="connsiteX1-3" fmla="*/ 119051 w 1086416"/>
              <a:gd name="connsiteY1-4" fmla="*/ 0 h 714292"/>
              <a:gd name="connsiteX2-5" fmla="*/ 967365 w 1086416"/>
              <a:gd name="connsiteY2-6" fmla="*/ 0 h 714292"/>
              <a:gd name="connsiteX3-7" fmla="*/ 1086416 w 1086416"/>
              <a:gd name="connsiteY3-8" fmla="*/ 119051 h 714292"/>
              <a:gd name="connsiteX4-9" fmla="*/ 1086416 w 1086416"/>
              <a:gd name="connsiteY4-10" fmla="*/ 595241 h 714292"/>
              <a:gd name="connsiteX5-11" fmla="*/ 967365 w 1086416"/>
              <a:gd name="connsiteY5-12" fmla="*/ 714292 h 714292"/>
              <a:gd name="connsiteX6-13" fmla="*/ 119051 w 1086416"/>
              <a:gd name="connsiteY6-14" fmla="*/ 714292 h 714292"/>
              <a:gd name="connsiteX7-15" fmla="*/ 0 w 1086416"/>
              <a:gd name="connsiteY7-16" fmla="*/ 595241 h 714292"/>
              <a:gd name="connsiteX0-17" fmla="*/ 0 w 2987643"/>
              <a:gd name="connsiteY0-18" fmla="*/ 2080009 h 2082206"/>
              <a:gd name="connsiteX1-19" fmla="*/ 2020278 w 2987643"/>
              <a:gd name="connsiteY1-20" fmla="*/ 0 h 2082206"/>
              <a:gd name="connsiteX2-21" fmla="*/ 2868592 w 2987643"/>
              <a:gd name="connsiteY2-22" fmla="*/ 0 h 2082206"/>
              <a:gd name="connsiteX3-23" fmla="*/ 2987643 w 2987643"/>
              <a:gd name="connsiteY3-24" fmla="*/ 119051 h 2082206"/>
              <a:gd name="connsiteX4-25" fmla="*/ 2987643 w 2987643"/>
              <a:gd name="connsiteY4-26" fmla="*/ 595241 h 2082206"/>
              <a:gd name="connsiteX5-27" fmla="*/ 2868592 w 2987643"/>
              <a:gd name="connsiteY5-28" fmla="*/ 714292 h 2082206"/>
              <a:gd name="connsiteX6-29" fmla="*/ 2020278 w 2987643"/>
              <a:gd name="connsiteY6-30" fmla="*/ 714292 h 2082206"/>
              <a:gd name="connsiteX7-31" fmla="*/ 0 w 2987643"/>
              <a:gd name="connsiteY7-32" fmla="*/ 2080009 h 2082206"/>
              <a:gd name="connsiteX0-33" fmla="*/ 3 w 2987646"/>
              <a:gd name="connsiteY0-34" fmla="*/ 2080009 h 2080017"/>
              <a:gd name="connsiteX1-35" fmla="*/ 2020281 w 2987646"/>
              <a:gd name="connsiteY1-36" fmla="*/ 0 h 2080017"/>
              <a:gd name="connsiteX2-37" fmla="*/ 2868595 w 2987646"/>
              <a:gd name="connsiteY2-38" fmla="*/ 0 h 2080017"/>
              <a:gd name="connsiteX3-39" fmla="*/ 2987646 w 2987646"/>
              <a:gd name="connsiteY3-40" fmla="*/ 119051 h 2080017"/>
              <a:gd name="connsiteX4-41" fmla="*/ 2987646 w 2987646"/>
              <a:gd name="connsiteY4-42" fmla="*/ 595241 h 2080017"/>
              <a:gd name="connsiteX5-43" fmla="*/ 2868595 w 2987646"/>
              <a:gd name="connsiteY5-44" fmla="*/ 714292 h 2080017"/>
              <a:gd name="connsiteX6-45" fmla="*/ 2020281 w 2987646"/>
              <a:gd name="connsiteY6-46" fmla="*/ 714292 h 2080017"/>
              <a:gd name="connsiteX7-47" fmla="*/ 3 w 2987646"/>
              <a:gd name="connsiteY7-48" fmla="*/ 2080009 h 2080017"/>
              <a:gd name="connsiteX0-49" fmla="*/ 4 w 2985265"/>
              <a:gd name="connsiteY0-50" fmla="*/ 2170497 h 2170504"/>
              <a:gd name="connsiteX1-51" fmla="*/ 2017900 w 2985265"/>
              <a:gd name="connsiteY1-52" fmla="*/ 0 h 2170504"/>
              <a:gd name="connsiteX2-53" fmla="*/ 2866214 w 2985265"/>
              <a:gd name="connsiteY2-54" fmla="*/ 0 h 2170504"/>
              <a:gd name="connsiteX3-55" fmla="*/ 2985265 w 2985265"/>
              <a:gd name="connsiteY3-56" fmla="*/ 119051 h 2170504"/>
              <a:gd name="connsiteX4-57" fmla="*/ 2985265 w 2985265"/>
              <a:gd name="connsiteY4-58" fmla="*/ 595241 h 2170504"/>
              <a:gd name="connsiteX5-59" fmla="*/ 2866214 w 2985265"/>
              <a:gd name="connsiteY5-60" fmla="*/ 714292 h 2170504"/>
              <a:gd name="connsiteX6-61" fmla="*/ 2017900 w 2985265"/>
              <a:gd name="connsiteY6-62" fmla="*/ 714292 h 2170504"/>
              <a:gd name="connsiteX7-63" fmla="*/ 4 w 2985265"/>
              <a:gd name="connsiteY7-64" fmla="*/ 2170497 h 2170504"/>
              <a:gd name="connsiteX0-65" fmla="*/ 4 w 2968597"/>
              <a:gd name="connsiteY0-66" fmla="*/ 2384809 h 2384815"/>
              <a:gd name="connsiteX1-67" fmla="*/ 2001232 w 2968597"/>
              <a:gd name="connsiteY1-68" fmla="*/ 0 h 2384815"/>
              <a:gd name="connsiteX2-69" fmla="*/ 2849546 w 2968597"/>
              <a:gd name="connsiteY2-70" fmla="*/ 0 h 2384815"/>
              <a:gd name="connsiteX3-71" fmla="*/ 2968597 w 2968597"/>
              <a:gd name="connsiteY3-72" fmla="*/ 119051 h 2384815"/>
              <a:gd name="connsiteX4-73" fmla="*/ 2968597 w 2968597"/>
              <a:gd name="connsiteY4-74" fmla="*/ 595241 h 2384815"/>
              <a:gd name="connsiteX5-75" fmla="*/ 2849546 w 2968597"/>
              <a:gd name="connsiteY5-76" fmla="*/ 714292 h 2384815"/>
              <a:gd name="connsiteX6-77" fmla="*/ 2001232 w 2968597"/>
              <a:gd name="connsiteY6-78" fmla="*/ 714292 h 2384815"/>
              <a:gd name="connsiteX7-79" fmla="*/ 4 w 2968597"/>
              <a:gd name="connsiteY7-80" fmla="*/ 2384809 h 2384815"/>
              <a:gd name="connsiteX0-81" fmla="*/ 4 w 2947166"/>
              <a:gd name="connsiteY0-82" fmla="*/ 2180022 h 2180029"/>
              <a:gd name="connsiteX1-83" fmla="*/ 1979801 w 2947166"/>
              <a:gd name="connsiteY1-84" fmla="*/ 0 h 2180029"/>
              <a:gd name="connsiteX2-85" fmla="*/ 2828115 w 2947166"/>
              <a:gd name="connsiteY2-86" fmla="*/ 0 h 2180029"/>
              <a:gd name="connsiteX3-87" fmla="*/ 2947166 w 2947166"/>
              <a:gd name="connsiteY3-88" fmla="*/ 119051 h 2180029"/>
              <a:gd name="connsiteX4-89" fmla="*/ 2947166 w 2947166"/>
              <a:gd name="connsiteY4-90" fmla="*/ 595241 h 2180029"/>
              <a:gd name="connsiteX5-91" fmla="*/ 2828115 w 2947166"/>
              <a:gd name="connsiteY5-92" fmla="*/ 714292 h 2180029"/>
              <a:gd name="connsiteX6-93" fmla="*/ 1979801 w 2947166"/>
              <a:gd name="connsiteY6-94" fmla="*/ 714292 h 2180029"/>
              <a:gd name="connsiteX7-95" fmla="*/ 4 w 2947166"/>
              <a:gd name="connsiteY7-96" fmla="*/ 2180022 h 21800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947166" h="2180029">
                <a:moveTo>
                  <a:pt x="4" y="2180022"/>
                </a:moveTo>
                <a:cubicBezTo>
                  <a:pt x="-2377" y="2176185"/>
                  <a:pt x="1306375" y="693336"/>
                  <a:pt x="1979801" y="0"/>
                </a:cubicBezTo>
                <a:lnTo>
                  <a:pt x="2828115" y="0"/>
                </a:lnTo>
                <a:cubicBezTo>
                  <a:pt x="2893865" y="0"/>
                  <a:pt x="2947166" y="53301"/>
                  <a:pt x="2947166" y="119051"/>
                </a:cubicBezTo>
                <a:lnTo>
                  <a:pt x="2947166" y="595241"/>
                </a:lnTo>
                <a:cubicBezTo>
                  <a:pt x="2947166" y="660991"/>
                  <a:pt x="2893865" y="714292"/>
                  <a:pt x="2828115" y="714292"/>
                </a:cubicBezTo>
                <a:lnTo>
                  <a:pt x="1979801" y="714292"/>
                </a:lnTo>
                <a:cubicBezTo>
                  <a:pt x="1914051" y="714292"/>
                  <a:pt x="2385" y="2183859"/>
                  <a:pt x="4" y="2180022"/>
                </a:cubicBezTo>
                <a:close/>
              </a:path>
            </a:pathLst>
          </a:custGeom>
          <a:solidFill>
            <a:srgbClr val="376FFF"/>
          </a:solidFill>
          <a:ln>
            <a:no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en-US" dirty="0">
              <a:solidFill>
                <a:srgbClr val="376FFF"/>
              </a:solidFill>
              <a:latin typeface="Arial" panose="020B0604020202020204" pitchFamily="34" charset="0"/>
              <a:sym typeface="Arial" panose="020B0604020202020204" pitchFamily="34" charset="0"/>
            </a:endParaRPr>
          </a:p>
        </p:txBody>
      </p:sp>
      <p:sp>
        <p:nvSpPr>
          <p:cNvPr id="44" name="任意多边形: 形状 43"/>
          <p:cNvSpPr/>
          <p:nvPr>
            <p:custDataLst>
              <p:tags r:id="rId3"/>
            </p:custDataLst>
          </p:nvPr>
        </p:nvSpPr>
        <p:spPr>
          <a:xfrm>
            <a:off x="2031276" y="2799429"/>
            <a:ext cx="3227382" cy="777974"/>
          </a:xfrm>
          <a:custGeom>
            <a:avLst/>
            <a:gdLst>
              <a:gd name="connsiteX0" fmla="*/ 2020280 w 2987645"/>
              <a:gd name="connsiteY0" fmla="*/ 0 h 714292"/>
              <a:gd name="connsiteX1" fmla="*/ 2868594 w 2987645"/>
              <a:gd name="connsiteY1" fmla="*/ 0 h 714292"/>
              <a:gd name="connsiteX2" fmla="*/ 2987645 w 2987645"/>
              <a:gd name="connsiteY2" fmla="*/ 119051 h 714292"/>
              <a:gd name="connsiteX3" fmla="*/ 2987645 w 2987645"/>
              <a:gd name="connsiteY3" fmla="*/ 595241 h 714292"/>
              <a:gd name="connsiteX4" fmla="*/ 2868594 w 2987645"/>
              <a:gd name="connsiteY4" fmla="*/ 714292 h 714292"/>
              <a:gd name="connsiteX5" fmla="*/ 2020280 w 2987645"/>
              <a:gd name="connsiteY5" fmla="*/ 714292 h 714292"/>
              <a:gd name="connsiteX6" fmla="*/ 1901229 w 2987645"/>
              <a:gd name="connsiteY6" fmla="*/ 595241 h 714292"/>
              <a:gd name="connsiteX7" fmla="*/ 1901229 w 2987645"/>
              <a:gd name="connsiteY7" fmla="*/ 576960 h 714292"/>
              <a:gd name="connsiteX8" fmla="*/ 0 w 2987645"/>
              <a:gd name="connsiteY8" fmla="*/ 357146 h 714292"/>
              <a:gd name="connsiteX9" fmla="*/ 1901229 w 2987645"/>
              <a:gd name="connsiteY9" fmla="*/ 137332 h 714292"/>
              <a:gd name="connsiteX10" fmla="*/ 1901229 w 2987645"/>
              <a:gd name="connsiteY10" fmla="*/ 119051 h 714292"/>
              <a:gd name="connsiteX11" fmla="*/ 2020280 w 2987645"/>
              <a:gd name="connsiteY11" fmla="*/ 0 h 714292"/>
              <a:gd name="connsiteX0-1" fmla="*/ 2020280 w 2987645"/>
              <a:gd name="connsiteY0-2" fmla="*/ 0 h 714292"/>
              <a:gd name="connsiteX1-3" fmla="*/ 2868594 w 2987645"/>
              <a:gd name="connsiteY1-4" fmla="*/ 0 h 714292"/>
              <a:gd name="connsiteX2-5" fmla="*/ 2987645 w 2987645"/>
              <a:gd name="connsiteY2-6" fmla="*/ 119051 h 714292"/>
              <a:gd name="connsiteX3-7" fmla="*/ 2987645 w 2987645"/>
              <a:gd name="connsiteY3-8" fmla="*/ 595241 h 714292"/>
              <a:gd name="connsiteX4-9" fmla="*/ 2868594 w 2987645"/>
              <a:gd name="connsiteY4-10" fmla="*/ 714292 h 714292"/>
              <a:gd name="connsiteX5-11" fmla="*/ 2020280 w 2987645"/>
              <a:gd name="connsiteY5-12" fmla="*/ 714292 h 714292"/>
              <a:gd name="connsiteX6-13" fmla="*/ 1901229 w 2987645"/>
              <a:gd name="connsiteY6-14" fmla="*/ 595241 h 714292"/>
              <a:gd name="connsiteX7-15" fmla="*/ 1901229 w 2987645"/>
              <a:gd name="connsiteY7-16" fmla="*/ 576960 h 714292"/>
              <a:gd name="connsiteX8-17" fmla="*/ 0 w 2987645"/>
              <a:gd name="connsiteY8-18" fmla="*/ 357146 h 714292"/>
              <a:gd name="connsiteX9-19" fmla="*/ 1901229 w 2987645"/>
              <a:gd name="connsiteY9-20" fmla="*/ 137332 h 714292"/>
              <a:gd name="connsiteX10-21" fmla="*/ 2020280 w 2987645"/>
              <a:gd name="connsiteY10-22" fmla="*/ 0 h 714292"/>
              <a:gd name="connsiteX0-23" fmla="*/ 2020280 w 2987645"/>
              <a:gd name="connsiteY0-24" fmla="*/ 0 h 714292"/>
              <a:gd name="connsiteX1-25" fmla="*/ 2868594 w 2987645"/>
              <a:gd name="connsiteY1-26" fmla="*/ 0 h 714292"/>
              <a:gd name="connsiteX2-27" fmla="*/ 2987645 w 2987645"/>
              <a:gd name="connsiteY2-28" fmla="*/ 119051 h 714292"/>
              <a:gd name="connsiteX3-29" fmla="*/ 2987645 w 2987645"/>
              <a:gd name="connsiteY3-30" fmla="*/ 595241 h 714292"/>
              <a:gd name="connsiteX4-31" fmla="*/ 2868594 w 2987645"/>
              <a:gd name="connsiteY4-32" fmla="*/ 714292 h 714292"/>
              <a:gd name="connsiteX5-33" fmla="*/ 2020280 w 2987645"/>
              <a:gd name="connsiteY5-34" fmla="*/ 714292 h 714292"/>
              <a:gd name="connsiteX6-35" fmla="*/ 1901229 w 2987645"/>
              <a:gd name="connsiteY6-36" fmla="*/ 576960 h 714292"/>
              <a:gd name="connsiteX7-37" fmla="*/ 0 w 2987645"/>
              <a:gd name="connsiteY7-38" fmla="*/ 357146 h 714292"/>
              <a:gd name="connsiteX8-39" fmla="*/ 1901229 w 2987645"/>
              <a:gd name="connsiteY8-40" fmla="*/ 137332 h 714292"/>
              <a:gd name="connsiteX9-41" fmla="*/ 2020280 w 2987645"/>
              <a:gd name="connsiteY9-42" fmla="*/ 0 h 714292"/>
              <a:gd name="connsiteX0-43" fmla="*/ 2020280 w 2987645"/>
              <a:gd name="connsiteY0-44" fmla="*/ 0 h 714292"/>
              <a:gd name="connsiteX1-45" fmla="*/ 2868594 w 2987645"/>
              <a:gd name="connsiteY1-46" fmla="*/ 0 h 714292"/>
              <a:gd name="connsiteX2-47" fmla="*/ 2987645 w 2987645"/>
              <a:gd name="connsiteY2-48" fmla="*/ 119051 h 714292"/>
              <a:gd name="connsiteX3-49" fmla="*/ 2987645 w 2987645"/>
              <a:gd name="connsiteY3-50" fmla="*/ 595241 h 714292"/>
              <a:gd name="connsiteX4-51" fmla="*/ 2868594 w 2987645"/>
              <a:gd name="connsiteY4-52" fmla="*/ 714292 h 714292"/>
              <a:gd name="connsiteX5-53" fmla="*/ 2020280 w 2987645"/>
              <a:gd name="connsiteY5-54" fmla="*/ 714292 h 714292"/>
              <a:gd name="connsiteX6-55" fmla="*/ 1901229 w 2987645"/>
              <a:gd name="connsiteY6-56" fmla="*/ 576960 h 714292"/>
              <a:gd name="connsiteX7-57" fmla="*/ 0 w 2987645"/>
              <a:gd name="connsiteY7-58" fmla="*/ 357146 h 714292"/>
              <a:gd name="connsiteX8-59" fmla="*/ 1901229 w 2987645"/>
              <a:gd name="connsiteY8-60" fmla="*/ 137332 h 714292"/>
              <a:gd name="connsiteX9-61" fmla="*/ 2020280 w 2987645"/>
              <a:gd name="connsiteY9-62" fmla="*/ 0 h 714292"/>
              <a:gd name="connsiteX0-63" fmla="*/ 2020280 w 2987645"/>
              <a:gd name="connsiteY0-64" fmla="*/ 0 h 714296"/>
              <a:gd name="connsiteX1-65" fmla="*/ 2868594 w 2987645"/>
              <a:gd name="connsiteY1-66" fmla="*/ 0 h 714296"/>
              <a:gd name="connsiteX2-67" fmla="*/ 2987645 w 2987645"/>
              <a:gd name="connsiteY2-68" fmla="*/ 119051 h 714296"/>
              <a:gd name="connsiteX3-69" fmla="*/ 2987645 w 2987645"/>
              <a:gd name="connsiteY3-70" fmla="*/ 595241 h 714296"/>
              <a:gd name="connsiteX4-71" fmla="*/ 2868594 w 2987645"/>
              <a:gd name="connsiteY4-72" fmla="*/ 714292 h 714296"/>
              <a:gd name="connsiteX5-73" fmla="*/ 2020280 w 2987645"/>
              <a:gd name="connsiteY5-74" fmla="*/ 714292 h 714296"/>
              <a:gd name="connsiteX6-75" fmla="*/ 1901229 w 2987645"/>
              <a:gd name="connsiteY6-76" fmla="*/ 576960 h 714296"/>
              <a:gd name="connsiteX7-77" fmla="*/ 0 w 2987645"/>
              <a:gd name="connsiteY7-78" fmla="*/ 357146 h 714296"/>
              <a:gd name="connsiteX8-79" fmla="*/ 1901229 w 2987645"/>
              <a:gd name="connsiteY8-80" fmla="*/ 137332 h 714296"/>
              <a:gd name="connsiteX9-81" fmla="*/ 2020280 w 2987645"/>
              <a:gd name="connsiteY9-82" fmla="*/ 0 h 714296"/>
              <a:gd name="connsiteX0-83" fmla="*/ 2020280 w 2987645"/>
              <a:gd name="connsiteY0-84" fmla="*/ 0 h 714296"/>
              <a:gd name="connsiteX1-85" fmla="*/ 2868594 w 2987645"/>
              <a:gd name="connsiteY1-86" fmla="*/ 0 h 714296"/>
              <a:gd name="connsiteX2-87" fmla="*/ 2987645 w 2987645"/>
              <a:gd name="connsiteY2-88" fmla="*/ 119051 h 714296"/>
              <a:gd name="connsiteX3-89" fmla="*/ 2987645 w 2987645"/>
              <a:gd name="connsiteY3-90" fmla="*/ 595241 h 714296"/>
              <a:gd name="connsiteX4-91" fmla="*/ 2868594 w 2987645"/>
              <a:gd name="connsiteY4-92" fmla="*/ 714292 h 714296"/>
              <a:gd name="connsiteX5-93" fmla="*/ 2020280 w 2987645"/>
              <a:gd name="connsiteY5-94" fmla="*/ 714292 h 714296"/>
              <a:gd name="connsiteX6-95" fmla="*/ 1901229 w 2987645"/>
              <a:gd name="connsiteY6-96" fmla="*/ 576960 h 714296"/>
              <a:gd name="connsiteX7-97" fmla="*/ 0 w 2987645"/>
              <a:gd name="connsiteY7-98" fmla="*/ 357146 h 714296"/>
              <a:gd name="connsiteX8-99" fmla="*/ 1901229 w 2987645"/>
              <a:gd name="connsiteY8-100" fmla="*/ 137332 h 714296"/>
              <a:gd name="connsiteX9-101" fmla="*/ 2020280 w 2987645"/>
              <a:gd name="connsiteY9-102" fmla="*/ 0 h 714296"/>
              <a:gd name="connsiteX0-103" fmla="*/ 1918680 w 2886045"/>
              <a:gd name="connsiteY0-104" fmla="*/ 0 h 714300"/>
              <a:gd name="connsiteX1-105" fmla="*/ 2766994 w 2886045"/>
              <a:gd name="connsiteY1-106" fmla="*/ 0 h 714300"/>
              <a:gd name="connsiteX2-107" fmla="*/ 2886045 w 2886045"/>
              <a:gd name="connsiteY2-108" fmla="*/ 119051 h 714300"/>
              <a:gd name="connsiteX3-109" fmla="*/ 2886045 w 2886045"/>
              <a:gd name="connsiteY3-110" fmla="*/ 595241 h 714300"/>
              <a:gd name="connsiteX4-111" fmla="*/ 2766994 w 2886045"/>
              <a:gd name="connsiteY4-112" fmla="*/ 714292 h 714300"/>
              <a:gd name="connsiteX5-113" fmla="*/ 1918680 w 2886045"/>
              <a:gd name="connsiteY5-114" fmla="*/ 714292 h 714300"/>
              <a:gd name="connsiteX6-115" fmla="*/ 1799629 w 2886045"/>
              <a:gd name="connsiteY6-116" fmla="*/ 576960 h 714300"/>
              <a:gd name="connsiteX7-117" fmla="*/ 0 w 2886045"/>
              <a:gd name="connsiteY7-118" fmla="*/ 357146 h 714300"/>
              <a:gd name="connsiteX8-119" fmla="*/ 1799629 w 2886045"/>
              <a:gd name="connsiteY8-120" fmla="*/ 137332 h 714300"/>
              <a:gd name="connsiteX9-121" fmla="*/ 1918680 w 2886045"/>
              <a:gd name="connsiteY9-122" fmla="*/ 0 h 714300"/>
              <a:gd name="connsiteX0-123" fmla="*/ 2001230 w 2968595"/>
              <a:gd name="connsiteY0-124" fmla="*/ 0 h 714300"/>
              <a:gd name="connsiteX1-125" fmla="*/ 2849544 w 2968595"/>
              <a:gd name="connsiteY1-126" fmla="*/ 0 h 714300"/>
              <a:gd name="connsiteX2-127" fmla="*/ 2968595 w 2968595"/>
              <a:gd name="connsiteY2-128" fmla="*/ 119051 h 714300"/>
              <a:gd name="connsiteX3-129" fmla="*/ 2968595 w 2968595"/>
              <a:gd name="connsiteY3-130" fmla="*/ 595241 h 714300"/>
              <a:gd name="connsiteX4-131" fmla="*/ 2849544 w 2968595"/>
              <a:gd name="connsiteY4-132" fmla="*/ 714292 h 714300"/>
              <a:gd name="connsiteX5-133" fmla="*/ 2001230 w 2968595"/>
              <a:gd name="connsiteY5-134" fmla="*/ 714292 h 714300"/>
              <a:gd name="connsiteX6-135" fmla="*/ 1882179 w 2968595"/>
              <a:gd name="connsiteY6-136" fmla="*/ 576960 h 714300"/>
              <a:gd name="connsiteX7-137" fmla="*/ 0 w 2968595"/>
              <a:gd name="connsiteY7-138" fmla="*/ 357146 h 714300"/>
              <a:gd name="connsiteX8-139" fmla="*/ 1882179 w 2968595"/>
              <a:gd name="connsiteY8-140" fmla="*/ 137332 h 714300"/>
              <a:gd name="connsiteX9-141" fmla="*/ 2001230 w 2968595"/>
              <a:gd name="connsiteY9-142" fmla="*/ 0 h 714300"/>
              <a:gd name="connsiteX0-143" fmla="*/ 1982180 w 2949545"/>
              <a:gd name="connsiteY0-144" fmla="*/ 0 h 714300"/>
              <a:gd name="connsiteX1-145" fmla="*/ 2830494 w 2949545"/>
              <a:gd name="connsiteY1-146" fmla="*/ 0 h 714300"/>
              <a:gd name="connsiteX2-147" fmla="*/ 2949545 w 2949545"/>
              <a:gd name="connsiteY2-148" fmla="*/ 119051 h 714300"/>
              <a:gd name="connsiteX3-149" fmla="*/ 2949545 w 2949545"/>
              <a:gd name="connsiteY3-150" fmla="*/ 595241 h 714300"/>
              <a:gd name="connsiteX4-151" fmla="*/ 2830494 w 2949545"/>
              <a:gd name="connsiteY4-152" fmla="*/ 714292 h 714300"/>
              <a:gd name="connsiteX5-153" fmla="*/ 1982180 w 2949545"/>
              <a:gd name="connsiteY5-154" fmla="*/ 714292 h 714300"/>
              <a:gd name="connsiteX6-155" fmla="*/ 1863129 w 2949545"/>
              <a:gd name="connsiteY6-156" fmla="*/ 576960 h 714300"/>
              <a:gd name="connsiteX7-157" fmla="*/ 0 w 2949545"/>
              <a:gd name="connsiteY7-158" fmla="*/ 357146 h 714300"/>
              <a:gd name="connsiteX8-159" fmla="*/ 1863129 w 2949545"/>
              <a:gd name="connsiteY8-160" fmla="*/ 137332 h 714300"/>
              <a:gd name="connsiteX9-161" fmla="*/ 1982180 w 2949545"/>
              <a:gd name="connsiteY9-162" fmla="*/ 0 h 714300"/>
              <a:gd name="connsiteX0-163" fmla="*/ 1982180 w 2949545"/>
              <a:gd name="connsiteY0-164" fmla="*/ 0 h 714296"/>
              <a:gd name="connsiteX1-165" fmla="*/ 2830494 w 2949545"/>
              <a:gd name="connsiteY1-166" fmla="*/ 0 h 714296"/>
              <a:gd name="connsiteX2-167" fmla="*/ 2949545 w 2949545"/>
              <a:gd name="connsiteY2-168" fmla="*/ 119051 h 714296"/>
              <a:gd name="connsiteX3-169" fmla="*/ 2949545 w 2949545"/>
              <a:gd name="connsiteY3-170" fmla="*/ 595241 h 714296"/>
              <a:gd name="connsiteX4-171" fmla="*/ 2830494 w 2949545"/>
              <a:gd name="connsiteY4-172" fmla="*/ 714292 h 714296"/>
              <a:gd name="connsiteX5-173" fmla="*/ 1982180 w 2949545"/>
              <a:gd name="connsiteY5-174" fmla="*/ 714292 h 714296"/>
              <a:gd name="connsiteX6-175" fmla="*/ 1863129 w 2949545"/>
              <a:gd name="connsiteY6-176" fmla="*/ 576960 h 714296"/>
              <a:gd name="connsiteX7-177" fmla="*/ 0 w 2949545"/>
              <a:gd name="connsiteY7-178" fmla="*/ 357146 h 714296"/>
              <a:gd name="connsiteX8-179" fmla="*/ 1863129 w 2949545"/>
              <a:gd name="connsiteY8-180" fmla="*/ 137332 h 714296"/>
              <a:gd name="connsiteX9-181" fmla="*/ 1982180 w 2949545"/>
              <a:gd name="connsiteY9-182" fmla="*/ 0 h 714296"/>
              <a:gd name="connsiteX0-183" fmla="*/ 2010755 w 2978120"/>
              <a:gd name="connsiteY0-184" fmla="*/ 0 h 714300"/>
              <a:gd name="connsiteX1-185" fmla="*/ 2859069 w 2978120"/>
              <a:gd name="connsiteY1-186" fmla="*/ 0 h 714300"/>
              <a:gd name="connsiteX2-187" fmla="*/ 2978120 w 2978120"/>
              <a:gd name="connsiteY2-188" fmla="*/ 119051 h 714300"/>
              <a:gd name="connsiteX3-189" fmla="*/ 2978120 w 2978120"/>
              <a:gd name="connsiteY3-190" fmla="*/ 595241 h 714300"/>
              <a:gd name="connsiteX4-191" fmla="*/ 2859069 w 2978120"/>
              <a:gd name="connsiteY4-192" fmla="*/ 714292 h 714300"/>
              <a:gd name="connsiteX5-193" fmla="*/ 2010755 w 2978120"/>
              <a:gd name="connsiteY5-194" fmla="*/ 714292 h 714300"/>
              <a:gd name="connsiteX6-195" fmla="*/ 1891704 w 2978120"/>
              <a:gd name="connsiteY6-196" fmla="*/ 576960 h 714300"/>
              <a:gd name="connsiteX7-197" fmla="*/ 0 w 2978120"/>
              <a:gd name="connsiteY7-198" fmla="*/ 357146 h 714300"/>
              <a:gd name="connsiteX8-199" fmla="*/ 1891704 w 2978120"/>
              <a:gd name="connsiteY8-200" fmla="*/ 137332 h 714300"/>
              <a:gd name="connsiteX9-201" fmla="*/ 2010755 w 2978120"/>
              <a:gd name="connsiteY9-202" fmla="*/ 0 h 714300"/>
              <a:gd name="connsiteX0-203" fmla="*/ 2010755 w 2978120"/>
              <a:gd name="connsiteY0-204" fmla="*/ 0 h 714296"/>
              <a:gd name="connsiteX1-205" fmla="*/ 2859069 w 2978120"/>
              <a:gd name="connsiteY1-206" fmla="*/ 0 h 714296"/>
              <a:gd name="connsiteX2-207" fmla="*/ 2978120 w 2978120"/>
              <a:gd name="connsiteY2-208" fmla="*/ 119051 h 714296"/>
              <a:gd name="connsiteX3-209" fmla="*/ 2978120 w 2978120"/>
              <a:gd name="connsiteY3-210" fmla="*/ 595241 h 714296"/>
              <a:gd name="connsiteX4-211" fmla="*/ 2859069 w 2978120"/>
              <a:gd name="connsiteY4-212" fmla="*/ 714292 h 714296"/>
              <a:gd name="connsiteX5-213" fmla="*/ 2010755 w 2978120"/>
              <a:gd name="connsiteY5-214" fmla="*/ 714292 h 714296"/>
              <a:gd name="connsiteX6-215" fmla="*/ 1891704 w 2978120"/>
              <a:gd name="connsiteY6-216" fmla="*/ 576960 h 714296"/>
              <a:gd name="connsiteX7-217" fmla="*/ 0 w 2978120"/>
              <a:gd name="connsiteY7-218" fmla="*/ 357146 h 714296"/>
              <a:gd name="connsiteX8-219" fmla="*/ 1891704 w 2978120"/>
              <a:gd name="connsiteY8-220" fmla="*/ 137332 h 714296"/>
              <a:gd name="connsiteX9-221" fmla="*/ 2010755 w 2978120"/>
              <a:gd name="connsiteY9-222" fmla="*/ 0 h 714296"/>
              <a:gd name="connsiteX0-223" fmla="*/ 1996468 w 2963833"/>
              <a:gd name="connsiteY0-224" fmla="*/ 0 h 714300"/>
              <a:gd name="connsiteX1-225" fmla="*/ 2844782 w 2963833"/>
              <a:gd name="connsiteY1-226" fmla="*/ 0 h 714300"/>
              <a:gd name="connsiteX2-227" fmla="*/ 2963833 w 2963833"/>
              <a:gd name="connsiteY2-228" fmla="*/ 119051 h 714300"/>
              <a:gd name="connsiteX3-229" fmla="*/ 2963833 w 2963833"/>
              <a:gd name="connsiteY3-230" fmla="*/ 595241 h 714300"/>
              <a:gd name="connsiteX4-231" fmla="*/ 2844782 w 2963833"/>
              <a:gd name="connsiteY4-232" fmla="*/ 714292 h 714300"/>
              <a:gd name="connsiteX5-233" fmla="*/ 1996468 w 2963833"/>
              <a:gd name="connsiteY5-234" fmla="*/ 714292 h 714300"/>
              <a:gd name="connsiteX6-235" fmla="*/ 1877417 w 2963833"/>
              <a:gd name="connsiteY6-236" fmla="*/ 576960 h 714300"/>
              <a:gd name="connsiteX7-237" fmla="*/ 0 w 2963833"/>
              <a:gd name="connsiteY7-238" fmla="*/ 357146 h 714300"/>
              <a:gd name="connsiteX8-239" fmla="*/ 1877417 w 2963833"/>
              <a:gd name="connsiteY8-240" fmla="*/ 137332 h 714300"/>
              <a:gd name="connsiteX9-241" fmla="*/ 1996468 w 2963833"/>
              <a:gd name="connsiteY9-242" fmla="*/ 0 h 714300"/>
              <a:gd name="connsiteX0-243" fmla="*/ 1996468 w 2963833"/>
              <a:gd name="connsiteY0-244" fmla="*/ 0 h 714296"/>
              <a:gd name="connsiteX1-245" fmla="*/ 2844782 w 2963833"/>
              <a:gd name="connsiteY1-246" fmla="*/ 0 h 714296"/>
              <a:gd name="connsiteX2-247" fmla="*/ 2963833 w 2963833"/>
              <a:gd name="connsiteY2-248" fmla="*/ 119051 h 714296"/>
              <a:gd name="connsiteX3-249" fmla="*/ 2963833 w 2963833"/>
              <a:gd name="connsiteY3-250" fmla="*/ 595241 h 714296"/>
              <a:gd name="connsiteX4-251" fmla="*/ 2844782 w 2963833"/>
              <a:gd name="connsiteY4-252" fmla="*/ 714292 h 714296"/>
              <a:gd name="connsiteX5-253" fmla="*/ 1996468 w 2963833"/>
              <a:gd name="connsiteY5-254" fmla="*/ 714292 h 714296"/>
              <a:gd name="connsiteX6-255" fmla="*/ 1877417 w 2963833"/>
              <a:gd name="connsiteY6-256" fmla="*/ 576960 h 714296"/>
              <a:gd name="connsiteX7-257" fmla="*/ 0 w 2963833"/>
              <a:gd name="connsiteY7-258" fmla="*/ 357146 h 714296"/>
              <a:gd name="connsiteX8-259" fmla="*/ 1877417 w 2963833"/>
              <a:gd name="connsiteY8-260" fmla="*/ 137332 h 714296"/>
              <a:gd name="connsiteX9-261" fmla="*/ 1996468 w 2963833"/>
              <a:gd name="connsiteY9-262" fmla="*/ 0 h 714296"/>
              <a:gd name="connsiteX0-263" fmla="*/ 1996468 w 2963833"/>
              <a:gd name="connsiteY0-264" fmla="*/ 0 h 714296"/>
              <a:gd name="connsiteX1-265" fmla="*/ 2844782 w 2963833"/>
              <a:gd name="connsiteY1-266" fmla="*/ 0 h 714296"/>
              <a:gd name="connsiteX2-267" fmla="*/ 2963833 w 2963833"/>
              <a:gd name="connsiteY2-268" fmla="*/ 119051 h 714296"/>
              <a:gd name="connsiteX3-269" fmla="*/ 2963833 w 2963833"/>
              <a:gd name="connsiteY3-270" fmla="*/ 595241 h 714296"/>
              <a:gd name="connsiteX4-271" fmla="*/ 2844782 w 2963833"/>
              <a:gd name="connsiteY4-272" fmla="*/ 714292 h 714296"/>
              <a:gd name="connsiteX5-273" fmla="*/ 1996468 w 2963833"/>
              <a:gd name="connsiteY5-274" fmla="*/ 714292 h 714296"/>
              <a:gd name="connsiteX6-275" fmla="*/ 1877417 w 2963833"/>
              <a:gd name="connsiteY6-276" fmla="*/ 576960 h 714296"/>
              <a:gd name="connsiteX7-277" fmla="*/ 0 w 2963833"/>
              <a:gd name="connsiteY7-278" fmla="*/ 357146 h 714296"/>
              <a:gd name="connsiteX8-279" fmla="*/ 1996468 w 2963833"/>
              <a:gd name="connsiteY8-280" fmla="*/ 0 h 714296"/>
              <a:gd name="connsiteX0-281" fmla="*/ 1996468 w 2963833"/>
              <a:gd name="connsiteY0-282" fmla="*/ 0 h 714292"/>
              <a:gd name="connsiteX1-283" fmla="*/ 2844782 w 2963833"/>
              <a:gd name="connsiteY1-284" fmla="*/ 0 h 714292"/>
              <a:gd name="connsiteX2-285" fmla="*/ 2963833 w 2963833"/>
              <a:gd name="connsiteY2-286" fmla="*/ 119051 h 714292"/>
              <a:gd name="connsiteX3-287" fmla="*/ 2963833 w 2963833"/>
              <a:gd name="connsiteY3-288" fmla="*/ 595241 h 714292"/>
              <a:gd name="connsiteX4-289" fmla="*/ 2844782 w 2963833"/>
              <a:gd name="connsiteY4-290" fmla="*/ 714292 h 714292"/>
              <a:gd name="connsiteX5-291" fmla="*/ 1996468 w 2963833"/>
              <a:gd name="connsiteY5-292" fmla="*/ 714292 h 714292"/>
              <a:gd name="connsiteX6-293" fmla="*/ 0 w 2963833"/>
              <a:gd name="connsiteY6-294" fmla="*/ 357146 h 714292"/>
              <a:gd name="connsiteX7-295" fmla="*/ 1996468 w 2963833"/>
              <a:gd name="connsiteY7-296" fmla="*/ 0 h 714292"/>
              <a:gd name="connsiteX0-297" fmla="*/ 1996468 w 2963833"/>
              <a:gd name="connsiteY0-298" fmla="*/ 0 h 714292"/>
              <a:gd name="connsiteX1-299" fmla="*/ 2844782 w 2963833"/>
              <a:gd name="connsiteY1-300" fmla="*/ 0 h 714292"/>
              <a:gd name="connsiteX2-301" fmla="*/ 2963833 w 2963833"/>
              <a:gd name="connsiteY2-302" fmla="*/ 119051 h 714292"/>
              <a:gd name="connsiteX3-303" fmla="*/ 2963833 w 2963833"/>
              <a:gd name="connsiteY3-304" fmla="*/ 595241 h 714292"/>
              <a:gd name="connsiteX4-305" fmla="*/ 2844782 w 2963833"/>
              <a:gd name="connsiteY4-306" fmla="*/ 714292 h 714292"/>
              <a:gd name="connsiteX5-307" fmla="*/ 1996468 w 2963833"/>
              <a:gd name="connsiteY5-308" fmla="*/ 714292 h 714292"/>
              <a:gd name="connsiteX6-309" fmla="*/ 0 w 2963833"/>
              <a:gd name="connsiteY6-310" fmla="*/ 357146 h 714292"/>
              <a:gd name="connsiteX7-311" fmla="*/ 1996468 w 2963833"/>
              <a:gd name="connsiteY7-312" fmla="*/ 0 h 7142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963833" h="714292">
                <a:moveTo>
                  <a:pt x="1996468" y="0"/>
                </a:moveTo>
                <a:lnTo>
                  <a:pt x="2844782" y="0"/>
                </a:lnTo>
                <a:cubicBezTo>
                  <a:pt x="2910532" y="0"/>
                  <a:pt x="2963833" y="53301"/>
                  <a:pt x="2963833" y="119051"/>
                </a:cubicBezTo>
                <a:lnTo>
                  <a:pt x="2963833" y="595241"/>
                </a:lnTo>
                <a:cubicBezTo>
                  <a:pt x="2963833" y="660991"/>
                  <a:pt x="2910532" y="714292"/>
                  <a:pt x="2844782" y="714292"/>
                </a:cubicBezTo>
                <a:lnTo>
                  <a:pt x="1996468" y="714292"/>
                </a:lnTo>
                <a:cubicBezTo>
                  <a:pt x="1522338" y="654768"/>
                  <a:pt x="0" y="358720"/>
                  <a:pt x="0" y="357146"/>
                </a:cubicBezTo>
                <a:cubicBezTo>
                  <a:pt x="0" y="355572"/>
                  <a:pt x="1330979" y="119049"/>
                  <a:pt x="1996468" y="0"/>
                </a:cubicBezTo>
                <a:close/>
              </a:path>
            </a:pathLst>
          </a:custGeom>
          <a:solidFill>
            <a:srgbClr val="376FFF"/>
          </a:solidFill>
          <a:ln>
            <a:noFill/>
          </a:ln>
        </p:spPr>
        <p:style>
          <a:lnRef idx="2">
            <a:srgbClr val="376FFF">
              <a:shade val="50000"/>
            </a:srgbClr>
          </a:lnRef>
          <a:fillRef idx="1">
            <a:srgbClr val="376FFF"/>
          </a:fillRef>
          <a:effectRef idx="0">
            <a:srgbClr val="376FFF"/>
          </a:effectRef>
          <a:fontRef idx="minor">
            <a:srgbClr val="FFFFFF"/>
          </a:fontRef>
        </p:style>
        <p:txBody>
          <a:bodyPr wrap="square" rtlCol="0" anchor="ctr">
            <a:noAutofit/>
          </a:bodyPr>
          <a:p>
            <a:pPr algn="ctr"/>
            <a:endParaRPr lang="en-US" dirty="0">
              <a:solidFill>
                <a:srgbClr val="376FFF"/>
              </a:solidFill>
              <a:latin typeface="Arial" panose="020B0604020202020204" pitchFamily="34" charset="0"/>
              <a:sym typeface="Arial" panose="020B0604020202020204" pitchFamily="34" charset="0"/>
            </a:endParaRPr>
          </a:p>
        </p:txBody>
      </p:sp>
      <p:sp>
        <p:nvSpPr>
          <p:cNvPr id="43" name="矩形: 圆角 9"/>
          <p:cNvSpPr/>
          <p:nvPr>
            <p:custDataLst>
              <p:tags r:id="rId4"/>
            </p:custDataLst>
          </p:nvPr>
        </p:nvSpPr>
        <p:spPr>
          <a:xfrm>
            <a:off x="2038883" y="1789791"/>
            <a:ext cx="3219775" cy="1372692"/>
          </a:xfrm>
          <a:custGeom>
            <a:avLst/>
            <a:gdLst>
              <a:gd name="connsiteX0" fmla="*/ 0 w 1086416"/>
              <a:gd name="connsiteY0" fmla="*/ 119051 h 714292"/>
              <a:gd name="connsiteX1" fmla="*/ 119051 w 1086416"/>
              <a:gd name="connsiteY1" fmla="*/ 0 h 714292"/>
              <a:gd name="connsiteX2" fmla="*/ 967365 w 1086416"/>
              <a:gd name="connsiteY2" fmla="*/ 0 h 714292"/>
              <a:gd name="connsiteX3" fmla="*/ 1086416 w 1086416"/>
              <a:gd name="connsiteY3" fmla="*/ 119051 h 714292"/>
              <a:gd name="connsiteX4" fmla="*/ 1086416 w 1086416"/>
              <a:gd name="connsiteY4" fmla="*/ 595241 h 714292"/>
              <a:gd name="connsiteX5" fmla="*/ 967365 w 1086416"/>
              <a:gd name="connsiteY5" fmla="*/ 714292 h 714292"/>
              <a:gd name="connsiteX6" fmla="*/ 119051 w 1086416"/>
              <a:gd name="connsiteY6" fmla="*/ 714292 h 714292"/>
              <a:gd name="connsiteX7" fmla="*/ 0 w 1086416"/>
              <a:gd name="connsiteY7" fmla="*/ 595241 h 714292"/>
              <a:gd name="connsiteX8" fmla="*/ 0 w 1086416"/>
              <a:gd name="connsiteY8" fmla="*/ 119051 h 714292"/>
              <a:gd name="connsiteX0-1" fmla="*/ 0 w 1086416"/>
              <a:gd name="connsiteY0-2" fmla="*/ 595241 h 714292"/>
              <a:gd name="connsiteX1-3" fmla="*/ 119051 w 1086416"/>
              <a:gd name="connsiteY1-4" fmla="*/ 0 h 714292"/>
              <a:gd name="connsiteX2-5" fmla="*/ 967365 w 1086416"/>
              <a:gd name="connsiteY2-6" fmla="*/ 0 h 714292"/>
              <a:gd name="connsiteX3-7" fmla="*/ 1086416 w 1086416"/>
              <a:gd name="connsiteY3-8" fmla="*/ 119051 h 714292"/>
              <a:gd name="connsiteX4-9" fmla="*/ 1086416 w 1086416"/>
              <a:gd name="connsiteY4-10" fmla="*/ 595241 h 714292"/>
              <a:gd name="connsiteX5-11" fmla="*/ 967365 w 1086416"/>
              <a:gd name="connsiteY5-12" fmla="*/ 714292 h 714292"/>
              <a:gd name="connsiteX6-13" fmla="*/ 119051 w 1086416"/>
              <a:gd name="connsiteY6-14" fmla="*/ 714292 h 714292"/>
              <a:gd name="connsiteX7-15" fmla="*/ 0 w 1086416"/>
              <a:gd name="connsiteY7-16" fmla="*/ 595241 h 714292"/>
              <a:gd name="connsiteX0-17" fmla="*/ 0 w 2987643"/>
              <a:gd name="connsiteY0-18" fmla="*/ 2080009 h 2082206"/>
              <a:gd name="connsiteX1-19" fmla="*/ 2020278 w 2987643"/>
              <a:gd name="connsiteY1-20" fmla="*/ 0 h 2082206"/>
              <a:gd name="connsiteX2-21" fmla="*/ 2868592 w 2987643"/>
              <a:gd name="connsiteY2-22" fmla="*/ 0 h 2082206"/>
              <a:gd name="connsiteX3-23" fmla="*/ 2987643 w 2987643"/>
              <a:gd name="connsiteY3-24" fmla="*/ 119051 h 2082206"/>
              <a:gd name="connsiteX4-25" fmla="*/ 2987643 w 2987643"/>
              <a:gd name="connsiteY4-26" fmla="*/ 595241 h 2082206"/>
              <a:gd name="connsiteX5-27" fmla="*/ 2868592 w 2987643"/>
              <a:gd name="connsiteY5-28" fmla="*/ 714292 h 2082206"/>
              <a:gd name="connsiteX6-29" fmla="*/ 2020278 w 2987643"/>
              <a:gd name="connsiteY6-30" fmla="*/ 714292 h 2082206"/>
              <a:gd name="connsiteX7-31" fmla="*/ 0 w 2987643"/>
              <a:gd name="connsiteY7-32" fmla="*/ 2080009 h 2082206"/>
              <a:gd name="connsiteX0-33" fmla="*/ 0 w 2951429"/>
              <a:gd name="connsiteY0-34" fmla="*/ 1210876 h 1216223"/>
              <a:gd name="connsiteX1-35" fmla="*/ 1984064 w 2951429"/>
              <a:gd name="connsiteY1-36" fmla="*/ 0 h 1216223"/>
              <a:gd name="connsiteX2-37" fmla="*/ 2832378 w 2951429"/>
              <a:gd name="connsiteY2-38" fmla="*/ 0 h 1216223"/>
              <a:gd name="connsiteX3-39" fmla="*/ 2951429 w 2951429"/>
              <a:gd name="connsiteY3-40" fmla="*/ 119051 h 1216223"/>
              <a:gd name="connsiteX4-41" fmla="*/ 2951429 w 2951429"/>
              <a:gd name="connsiteY4-42" fmla="*/ 595241 h 1216223"/>
              <a:gd name="connsiteX5-43" fmla="*/ 2832378 w 2951429"/>
              <a:gd name="connsiteY5-44" fmla="*/ 714292 h 1216223"/>
              <a:gd name="connsiteX6-45" fmla="*/ 1984064 w 2951429"/>
              <a:gd name="connsiteY6-46" fmla="*/ 714292 h 1216223"/>
              <a:gd name="connsiteX7-47" fmla="*/ 0 w 2951429"/>
              <a:gd name="connsiteY7-48" fmla="*/ 1210876 h 1216223"/>
              <a:gd name="connsiteX0-49" fmla="*/ 0 w 2987643"/>
              <a:gd name="connsiteY0-50" fmla="*/ 1219930 h 1225198"/>
              <a:gd name="connsiteX1-51" fmla="*/ 2020278 w 2987643"/>
              <a:gd name="connsiteY1-52" fmla="*/ 0 h 1225198"/>
              <a:gd name="connsiteX2-53" fmla="*/ 2868592 w 2987643"/>
              <a:gd name="connsiteY2-54" fmla="*/ 0 h 1225198"/>
              <a:gd name="connsiteX3-55" fmla="*/ 2987643 w 2987643"/>
              <a:gd name="connsiteY3-56" fmla="*/ 119051 h 1225198"/>
              <a:gd name="connsiteX4-57" fmla="*/ 2987643 w 2987643"/>
              <a:gd name="connsiteY4-58" fmla="*/ 595241 h 1225198"/>
              <a:gd name="connsiteX5-59" fmla="*/ 2868592 w 2987643"/>
              <a:gd name="connsiteY5-60" fmla="*/ 714292 h 1225198"/>
              <a:gd name="connsiteX6-61" fmla="*/ 2020278 w 2987643"/>
              <a:gd name="connsiteY6-62" fmla="*/ 714292 h 1225198"/>
              <a:gd name="connsiteX7-63" fmla="*/ 0 w 2987643"/>
              <a:gd name="connsiteY7-64" fmla="*/ 1219930 h 1225198"/>
              <a:gd name="connsiteX0-65" fmla="*/ 0 w 2987643"/>
              <a:gd name="connsiteY0-66" fmla="*/ 1219930 h 1219933"/>
              <a:gd name="connsiteX1-67" fmla="*/ 2020278 w 2987643"/>
              <a:gd name="connsiteY1-68" fmla="*/ 0 h 1219933"/>
              <a:gd name="connsiteX2-69" fmla="*/ 2868592 w 2987643"/>
              <a:gd name="connsiteY2-70" fmla="*/ 0 h 1219933"/>
              <a:gd name="connsiteX3-71" fmla="*/ 2987643 w 2987643"/>
              <a:gd name="connsiteY3-72" fmla="*/ 119051 h 1219933"/>
              <a:gd name="connsiteX4-73" fmla="*/ 2987643 w 2987643"/>
              <a:gd name="connsiteY4-74" fmla="*/ 595241 h 1219933"/>
              <a:gd name="connsiteX5-75" fmla="*/ 2868592 w 2987643"/>
              <a:gd name="connsiteY5-76" fmla="*/ 714292 h 1219933"/>
              <a:gd name="connsiteX6-77" fmla="*/ 2020278 w 2987643"/>
              <a:gd name="connsiteY6-78" fmla="*/ 714292 h 1219933"/>
              <a:gd name="connsiteX7-79" fmla="*/ 0 w 2987643"/>
              <a:gd name="connsiteY7-80" fmla="*/ 1219930 h 1219933"/>
              <a:gd name="connsiteX0-81" fmla="*/ 0 w 2987643"/>
              <a:gd name="connsiteY0-82" fmla="*/ 1265174 h 1265176"/>
              <a:gd name="connsiteX1-83" fmla="*/ 2020278 w 2987643"/>
              <a:gd name="connsiteY1-84" fmla="*/ 0 h 1265176"/>
              <a:gd name="connsiteX2-85" fmla="*/ 2868592 w 2987643"/>
              <a:gd name="connsiteY2-86" fmla="*/ 0 h 1265176"/>
              <a:gd name="connsiteX3-87" fmla="*/ 2987643 w 2987643"/>
              <a:gd name="connsiteY3-88" fmla="*/ 119051 h 1265176"/>
              <a:gd name="connsiteX4-89" fmla="*/ 2987643 w 2987643"/>
              <a:gd name="connsiteY4-90" fmla="*/ 595241 h 1265176"/>
              <a:gd name="connsiteX5-91" fmla="*/ 2868592 w 2987643"/>
              <a:gd name="connsiteY5-92" fmla="*/ 714292 h 1265176"/>
              <a:gd name="connsiteX6-93" fmla="*/ 2020278 w 2987643"/>
              <a:gd name="connsiteY6-94" fmla="*/ 714292 h 1265176"/>
              <a:gd name="connsiteX7-95" fmla="*/ 0 w 2987643"/>
              <a:gd name="connsiteY7-96" fmla="*/ 1265174 h 1265176"/>
              <a:gd name="connsiteX0-97" fmla="*/ 0 w 2968593"/>
              <a:gd name="connsiteY0-98" fmla="*/ 1362805 h 1362807"/>
              <a:gd name="connsiteX1-99" fmla="*/ 2001228 w 2968593"/>
              <a:gd name="connsiteY1-100" fmla="*/ 0 h 1362807"/>
              <a:gd name="connsiteX2-101" fmla="*/ 2849542 w 2968593"/>
              <a:gd name="connsiteY2-102" fmla="*/ 0 h 1362807"/>
              <a:gd name="connsiteX3-103" fmla="*/ 2968593 w 2968593"/>
              <a:gd name="connsiteY3-104" fmla="*/ 119051 h 1362807"/>
              <a:gd name="connsiteX4-105" fmla="*/ 2968593 w 2968593"/>
              <a:gd name="connsiteY4-106" fmla="*/ 595241 h 1362807"/>
              <a:gd name="connsiteX5-107" fmla="*/ 2849542 w 2968593"/>
              <a:gd name="connsiteY5-108" fmla="*/ 714292 h 1362807"/>
              <a:gd name="connsiteX6-109" fmla="*/ 2001228 w 2968593"/>
              <a:gd name="connsiteY6-110" fmla="*/ 714292 h 1362807"/>
              <a:gd name="connsiteX7-111" fmla="*/ 0 w 2968593"/>
              <a:gd name="connsiteY7-112" fmla="*/ 1362805 h 1362807"/>
              <a:gd name="connsiteX0-113" fmla="*/ 0 w 2954306"/>
              <a:gd name="connsiteY0-114" fmla="*/ 1262792 h 1262794"/>
              <a:gd name="connsiteX1-115" fmla="*/ 1986941 w 2954306"/>
              <a:gd name="connsiteY1-116" fmla="*/ 0 h 1262794"/>
              <a:gd name="connsiteX2-117" fmla="*/ 2835255 w 2954306"/>
              <a:gd name="connsiteY2-118" fmla="*/ 0 h 1262794"/>
              <a:gd name="connsiteX3-119" fmla="*/ 2954306 w 2954306"/>
              <a:gd name="connsiteY3-120" fmla="*/ 119051 h 1262794"/>
              <a:gd name="connsiteX4-121" fmla="*/ 2954306 w 2954306"/>
              <a:gd name="connsiteY4-122" fmla="*/ 595241 h 1262794"/>
              <a:gd name="connsiteX5-123" fmla="*/ 2835255 w 2954306"/>
              <a:gd name="connsiteY5-124" fmla="*/ 714292 h 1262794"/>
              <a:gd name="connsiteX6-125" fmla="*/ 1986941 w 2954306"/>
              <a:gd name="connsiteY6-126" fmla="*/ 714292 h 1262794"/>
              <a:gd name="connsiteX7-127" fmla="*/ 0 w 2954306"/>
              <a:gd name="connsiteY7-128" fmla="*/ 1262792 h 1262794"/>
              <a:gd name="connsiteX0-129" fmla="*/ 0 w 2951925"/>
              <a:gd name="connsiteY0-130" fmla="*/ 1272317 h 1272319"/>
              <a:gd name="connsiteX1-131" fmla="*/ 1984560 w 2951925"/>
              <a:gd name="connsiteY1-132" fmla="*/ 0 h 1272319"/>
              <a:gd name="connsiteX2-133" fmla="*/ 2832874 w 2951925"/>
              <a:gd name="connsiteY2-134" fmla="*/ 0 h 1272319"/>
              <a:gd name="connsiteX3-135" fmla="*/ 2951925 w 2951925"/>
              <a:gd name="connsiteY3-136" fmla="*/ 119051 h 1272319"/>
              <a:gd name="connsiteX4-137" fmla="*/ 2951925 w 2951925"/>
              <a:gd name="connsiteY4-138" fmla="*/ 595241 h 1272319"/>
              <a:gd name="connsiteX5-139" fmla="*/ 2832874 w 2951925"/>
              <a:gd name="connsiteY5-140" fmla="*/ 714292 h 1272319"/>
              <a:gd name="connsiteX6-141" fmla="*/ 1984560 w 2951925"/>
              <a:gd name="connsiteY6-142" fmla="*/ 714292 h 1272319"/>
              <a:gd name="connsiteX7-143" fmla="*/ 0 w 2951925"/>
              <a:gd name="connsiteY7-144" fmla="*/ 1272317 h 1272319"/>
              <a:gd name="connsiteX0-145" fmla="*/ 0 w 2956688"/>
              <a:gd name="connsiteY0-146" fmla="*/ 1260411 h 1260413"/>
              <a:gd name="connsiteX1-147" fmla="*/ 1989323 w 2956688"/>
              <a:gd name="connsiteY1-148" fmla="*/ 0 h 1260413"/>
              <a:gd name="connsiteX2-149" fmla="*/ 2837637 w 2956688"/>
              <a:gd name="connsiteY2-150" fmla="*/ 0 h 1260413"/>
              <a:gd name="connsiteX3-151" fmla="*/ 2956688 w 2956688"/>
              <a:gd name="connsiteY3-152" fmla="*/ 119051 h 1260413"/>
              <a:gd name="connsiteX4-153" fmla="*/ 2956688 w 2956688"/>
              <a:gd name="connsiteY4-154" fmla="*/ 595241 h 1260413"/>
              <a:gd name="connsiteX5-155" fmla="*/ 2837637 w 2956688"/>
              <a:gd name="connsiteY5-156" fmla="*/ 714292 h 1260413"/>
              <a:gd name="connsiteX6-157" fmla="*/ 1989323 w 2956688"/>
              <a:gd name="connsiteY6-158" fmla="*/ 714292 h 1260413"/>
              <a:gd name="connsiteX7-159" fmla="*/ 0 w 2956688"/>
              <a:gd name="connsiteY7-160" fmla="*/ 1260411 h 126041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956688" h="1260413">
                <a:moveTo>
                  <a:pt x="0" y="1260411"/>
                </a:moveTo>
                <a:cubicBezTo>
                  <a:pt x="0" y="1258954"/>
                  <a:pt x="1315897" y="406643"/>
                  <a:pt x="1989323" y="0"/>
                </a:cubicBezTo>
                <a:lnTo>
                  <a:pt x="2837637" y="0"/>
                </a:lnTo>
                <a:cubicBezTo>
                  <a:pt x="2903387" y="0"/>
                  <a:pt x="2956688" y="53301"/>
                  <a:pt x="2956688" y="119051"/>
                </a:cubicBezTo>
                <a:lnTo>
                  <a:pt x="2956688" y="595241"/>
                </a:lnTo>
                <a:cubicBezTo>
                  <a:pt x="2956688" y="660991"/>
                  <a:pt x="2903387" y="714292"/>
                  <a:pt x="2837637" y="714292"/>
                </a:cubicBezTo>
                <a:lnTo>
                  <a:pt x="1989323" y="714292"/>
                </a:lnTo>
                <a:cubicBezTo>
                  <a:pt x="1923573" y="714292"/>
                  <a:pt x="0" y="1261868"/>
                  <a:pt x="0" y="1260411"/>
                </a:cubicBezTo>
                <a:close/>
              </a:path>
            </a:pathLst>
          </a:custGeom>
          <a:solidFill>
            <a:srgbClr val="376FFF"/>
          </a:solidFill>
          <a:ln>
            <a:no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en-US" dirty="0">
              <a:solidFill>
                <a:srgbClr val="376FFF"/>
              </a:solidFill>
              <a:latin typeface="Arial" panose="020B0604020202020204" pitchFamily="34" charset="0"/>
              <a:sym typeface="Arial" panose="020B0604020202020204" pitchFamily="34" charset="0"/>
            </a:endParaRPr>
          </a:p>
        </p:txBody>
      </p:sp>
      <p:sp>
        <p:nvSpPr>
          <p:cNvPr id="45" name="矩形: 圆角 9"/>
          <p:cNvSpPr/>
          <p:nvPr>
            <p:custDataLst>
              <p:tags r:id="rId5"/>
            </p:custDataLst>
          </p:nvPr>
        </p:nvSpPr>
        <p:spPr>
          <a:xfrm flipV="1">
            <a:off x="2041649" y="3252382"/>
            <a:ext cx="3217009" cy="2405150"/>
          </a:xfrm>
          <a:custGeom>
            <a:avLst/>
            <a:gdLst>
              <a:gd name="connsiteX0" fmla="*/ 0 w 1086416"/>
              <a:gd name="connsiteY0" fmla="*/ 119051 h 714292"/>
              <a:gd name="connsiteX1" fmla="*/ 119051 w 1086416"/>
              <a:gd name="connsiteY1" fmla="*/ 0 h 714292"/>
              <a:gd name="connsiteX2" fmla="*/ 967365 w 1086416"/>
              <a:gd name="connsiteY2" fmla="*/ 0 h 714292"/>
              <a:gd name="connsiteX3" fmla="*/ 1086416 w 1086416"/>
              <a:gd name="connsiteY3" fmla="*/ 119051 h 714292"/>
              <a:gd name="connsiteX4" fmla="*/ 1086416 w 1086416"/>
              <a:gd name="connsiteY4" fmla="*/ 595241 h 714292"/>
              <a:gd name="connsiteX5" fmla="*/ 967365 w 1086416"/>
              <a:gd name="connsiteY5" fmla="*/ 714292 h 714292"/>
              <a:gd name="connsiteX6" fmla="*/ 119051 w 1086416"/>
              <a:gd name="connsiteY6" fmla="*/ 714292 h 714292"/>
              <a:gd name="connsiteX7" fmla="*/ 0 w 1086416"/>
              <a:gd name="connsiteY7" fmla="*/ 595241 h 714292"/>
              <a:gd name="connsiteX8" fmla="*/ 0 w 1086416"/>
              <a:gd name="connsiteY8" fmla="*/ 119051 h 714292"/>
              <a:gd name="connsiteX0-1" fmla="*/ 0 w 1086416"/>
              <a:gd name="connsiteY0-2" fmla="*/ 595241 h 714292"/>
              <a:gd name="connsiteX1-3" fmla="*/ 119051 w 1086416"/>
              <a:gd name="connsiteY1-4" fmla="*/ 0 h 714292"/>
              <a:gd name="connsiteX2-5" fmla="*/ 967365 w 1086416"/>
              <a:gd name="connsiteY2-6" fmla="*/ 0 h 714292"/>
              <a:gd name="connsiteX3-7" fmla="*/ 1086416 w 1086416"/>
              <a:gd name="connsiteY3-8" fmla="*/ 119051 h 714292"/>
              <a:gd name="connsiteX4-9" fmla="*/ 1086416 w 1086416"/>
              <a:gd name="connsiteY4-10" fmla="*/ 595241 h 714292"/>
              <a:gd name="connsiteX5-11" fmla="*/ 967365 w 1086416"/>
              <a:gd name="connsiteY5-12" fmla="*/ 714292 h 714292"/>
              <a:gd name="connsiteX6-13" fmla="*/ 119051 w 1086416"/>
              <a:gd name="connsiteY6-14" fmla="*/ 714292 h 714292"/>
              <a:gd name="connsiteX7-15" fmla="*/ 0 w 1086416"/>
              <a:gd name="connsiteY7-16" fmla="*/ 595241 h 714292"/>
              <a:gd name="connsiteX0-17" fmla="*/ 0 w 2987643"/>
              <a:gd name="connsiteY0-18" fmla="*/ 2080009 h 2082206"/>
              <a:gd name="connsiteX1-19" fmla="*/ 2020278 w 2987643"/>
              <a:gd name="connsiteY1-20" fmla="*/ 0 h 2082206"/>
              <a:gd name="connsiteX2-21" fmla="*/ 2868592 w 2987643"/>
              <a:gd name="connsiteY2-22" fmla="*/ 0 h 2082206"/>
              <a:gd name="connsiteX3-23" fmla="*/ 2987643 w 2987643"/>
              <a:gd name="connsiteY3-24" fmla="*/ 119051 h 2082206"/>
              <a:gd name="connsiteX4-25" fmla="*/ 2987643 w 2987643"/>
              <a:gd name="connsiteY4-26" fmla="*/ 595241 h 2082206"/>
              <a:gd name="connsiteX5-27" fmla="*/ 2868592 w 2987643"/>
              <a:gd name="connsiteY5-28" fmla="*/ 714292 h 2082206"/>
              <a:gd name="connsiteX6-29" fmla="*/ 2020278 w 2987643"/>
              <a:gd name="connsiteY6-30" fmla="*/ 714292 h 2082206"/>
              <a:gd name="connsiteX7-31" fmla="*/ 0 w 2987643"/>
              <a:gd name="connsiteY7-32" fmla="*/ 2080009 h 2082206"/>
              <a:gd name="connsiteX0-33" fmla="*/ 3 w 2987646"/>
              <a:gd name="connsiteY0-34" fmla="*/ 2080009 h 2080009"/>
              <a:gd name="connsiteX1-35" fmla="*/ 2020281 w 2987646"/>
              <a:gd name="connsiteY1-36" fmla="*/ 0 h 2080009"/>
              <a:gd name="connsiteX2-37" fmla="*/ 2868595 w 2987646"/>
              <a:gd name="connsiteY2-38" fmla="*/ 0 h 2080009"/>
              <a:gd name="connsiteX3-39" fmla="*/ 2987646 w 2987646"/>
              <a:gd name="connsiteY3-40" fmla="*/ 119051 h 2080009"/>
              <a:gd name="connsiteX4-41" fmla="*/ 2987646 w 2987646"/>
              <a:gd name="connsiteY4-42" fmla="*/ 595241 h 2080009"/>
              <a:gd name="connsiteX5-43" fmla="*/ 2868595 w 2987646"/>
              <a:gd name="connsiteY5-44" fmla="*/ 714292 h 2080009"/>
              <a:gd name="connsiteX6-45" fmla="*/ 2020281 w 2987646"/>
              <a:gd name="connsiteY6-46" fmla="*/ 714292 h 2080009"/>
              <a:gd name="connsiteX7-47" fmla="*/ 3 w 2987646"/>
              <a:gd name="connsiteY7-48" fmla="*/ 2080009 h 2080009"/>
              <a:gd name="connsiteX0-49" fmla="*/ 3 w 2987646"/>
              <a:gd name="connsiteY0-50" fmla="*/ 2144303 h 2144303"/>
              <a:gd name="connsiteX1-51" fmla="*/ 2020281 w 2987646"/>
              <a:gd name="connsiteY1-52" fmla="*/ 0 h 2144303"/>
              <a:gd name="connsiteX2-53" fmla="*/ 2868595 w 2987646"/>
              <a:gd name="connsiteY2-54" fmla="*/ 0 h 2144303"/>
              <a:gd name="connsiteX3-55" fmla="*/ 2987646 w 2987646"/>
              <a:gd name="connsiteY3-56" fmla="*/ 119051 h 2144303"/>
              <a:gd name="connsiteX4-57" fmla="*/ 2987646 w 2987646"/>
              <a:gd name="connsiteY4-58" fmla="*/ 595241 h 2144303"/>
              <a:gd name="connsiteX5-59" fmla="*/ 2868595 w 2987646"/>
              <a:gd name="connsiteY5-60" fmla="*/ 714292 h 2144303"/>
              <a:gd name="connsiteX6-61" fmla="*/ 2020281 w 2987646"/>
              <a:gd name="connsiteY6-62" fmla="*/ 714292 h 2144303"/>
              <a:gd name="connsiteX7-63" fmla="*/ 3 w 2987646"/>
              <a:gd name="connsiteY7-64" fmla="*/ 2144303 h 2144303"/>
              <a:gd name="connsiteX0-65" fmla="*/ 4 w 2968597"/>
              <a:gd name="connsiteY0-66" fmla="*/ 2387190 h 2387190"/>
              <a:gd name="connsiteX1-67" fmla="*/ 2001232 w 2968597"/>
              <a:gd name="connsiteY1-68" fmla="*/ 0 h 2387190"/>
              <a:gd name="connsiteX2-69" fmla="*/ 2849546 w 2968597"/>
              <a:gd name="connsiteY2-70" fmla="*/ 0 h 2387190"/>
              <a:gd name="connsiteX3-71" fmla="*/ 2968597 w 2968597"/>
              <a:gd name="connsiteY3-72" fmla="*/ 119051 h 2387190"/>
              <a:gd name="connsiteX4-73" fmla="*/ 2968597 w 2968597"/>
              <a:gd name="connsiteY4-74" fmla="*/ 595241 h 2387190"/>
              <a:gd name="connsiteX5-75" fmla="*/ 2849546 w 2968597"/>
              <a:gd name="connsiteY5-76" fmla="*/ 714292 h 2387190"/>
              <a:gd name="connsiteX6-77" fmla="*/ 2001232 w 2968597"/>
              <a:gd name="connsiteY6-78" fmla="*/ 714292 h 2387190"/>
              <a:gd name="connsiteX7-79" fmla="*/ 4 w 2968597"/>
              <a:gd name="connsiteY7-80" fmla="*/ 2387190 h 2387190"/>
              <a:gd name="connsiteX0-81" fmla="*/ 4 w 2954310"/>
              <a:gd name="connsiteY0-82" fmla="*/ 2208597 h 2208597"/>
              <a:gd name="connsiteX1-83" fmla="*/ 1986945 w 2954310"/>
              <a:gd name="connsiteY1-84" fmla="*/ 0 h 2208597"/>
              <a:gd name="connsiteX2-85" fmla="*/ 2835259 w 2954310"/>
              <a:gd name="connsiteY2-86" fmla="*/ 0 h 2208597"/>
              <a:gd name="connsiteX3-87" fmla="*/ 2954310 w 2954310"/>
              <a:gd name="connsiteY3-88" fmla="*/ 119051 h 2208597"/>
              <a:gd name="connsiteX4-89" fmla="*/ 2954310 w 2954310"/>
              <a:gd name="connsiteY4-90" fmla="*/ 595241 h 2208597"/>
              <a:gd name="connsiteX5-91" fmla="*/ 2835259 w 2954310"/>
              <a:gd name="connsiteY5-92" fmla="*/ 714292 h 2208597"/>
              <a:gd name="connsiteX6-93" fmla="*/ 1986945 w 2954310"/>
              <a:gd name="connsiteY6-94" fmla="*/ 714292 h 2208597"/>
              <a:gd name="connsiteX7-95" fmla="*/ 4 w 2954310"/>
              <a:gd name="connsiteY7-96" fmla="*/ 2208597 h 220859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954310" h="2208597">
                <a:moveTo>
                  <a:pt x="4" y="2208597"/>
                </a:moveTo>
                <a:cubicBezTo>
                  <a:pt x="-2377" y="2209522"/>
                  <a:pt x="1313519" y="693336"/>
                  <a:pt x="1986945" y="0"/>
                </a:cubicBezTo>
                <a:lnTo>
                  <a:pt x="2835259" y="0"/>
                </a:lnTo>
                <a:cubicBezTo>
                  <a:pt x="2901009" y="0"/>
                  <a:pt x="2954310" y="53301"/>
                  <a:pt x="2954310" y="119051"/>
                </a:cubicBezTo>
                <a:lnTo>
                  <a:pt x="2954310" y="595241"/>
                </a:lnTo>
                <a:cubicBezTo>
                  <a:pt x="2954310" y="660991"/>
                  <a:pt x="2901009" y="714292"/>
                  <a:pt x="2835259" y="714292"/>
                </a:cubicBezTo>
                <a:lnTo>
                  <a:pt x="1986945" y="714292"/>
                </a:lnTo>
                <a:cubicBezTo>
                  <a:pt x="1921195" y="714292"/>
                  <a:pt x="2385" y="2207672"/>
                  <a:pt x="4" y="2208597"/>
                </a:cubicBezTo>
                <a:close/>
              </a:path>
            </a:pathLst>
          </a:custGeom>
          <a:solidFill>
            <a:srgbClr val="376FFF"/>
          </a:solidFill>
          <a:ln>
            <a:no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en-US" dirty="0">
              <a:solidFill>
                <a:srgbClr val="376FFF"/>
              </a:solidFill>
              <a:latin typeface="Arial" panose="020B0604020202020204" pitchFamily="34" charset="0"/>
              <a:sym typeface="Arial" panose="020B0604020202020204" pitchFamily="34" charset="0"/>
            </a:endParaRPr>
          </a:p>
        </p:txBody>
      </p:sp>
      <p:sp>
        <p:nvSpPr>
          <p:cNvPr id="46" name="矩形: 圆角 9"/>
          <p:cNvSpPr/>
          <p:nvPr>
            <p:custDataLst>
              <p:tags r:id="rId6"/>
            </p:custDataLst>
          </p:nvPr>
        </p:nvSpPr>
        <p:spPr>
          <a:xfrm flipV="1">
            <a:off x="2036117" y="3214348"/>
            <a:ext cx="3222541" cy="1387906"/>
          </a:xfrm>
          <a:custGeom>
            <a:avLst/>
            <a:gdLst>
              <a:gd name="connsiteX0" fmla="*/ 0 w 1086416"/>
              <a:gd name="connsiteY0" fmla="*/ 119051 h 714292"/>
              <a:gd name="connsiteX1" fmla="*/ 119051 w 1086416"/>
              <a:gd name="connsiteY1" fmla="*/ 0 h 714292"/>
              <a:gd name="connsiteX2" fmla="*/ 967365 w 1086416"/>
              <a:gd name="connsiteY2" fmla="*/ 0 h 714292"/>
              <a:gd name="connsiteX3" fmla="*/ 1086416 w 1086416"/>
              <a:gd name="connsiteY3" fmla="*/ 119051 h 714292"/>
              <a:gd name="connsiteX4" fmla="*/ 1086416 w 1086416"/>
              <a:gd name="connsiteY4" fmla="*/ 595241 h 714292"/>
              <a:gd name="connsiteX5" fmla="*/ 967365 w 1086416"/>
              <a:gd name="connsiteY5" fmla="*/ 714292 h 714292"/>
              <a:gd name="connsiteX6" fmla="*/ 119051 w 1086416"/>
              <a:gd name="connsiteY6" fmla="*/ 714292 h 714292"/>
              <a:gd name="connsiteX7" fmla="*/ 0 w 1086416"/>
              <a:gd name="connsiteY7" fmla="*/ 595241 h 714292"/>
              <a:gd name="connsiteX8" fmla="*/ 0 w 1086416"/>
              <a:gd name="connsiteY8" fmla="*/ 119051 h 714292"/>
              <a:gd name="connsiteX0-1" fmla="*/ 0 w 1086416"/>
              <a:gd name="connsiteY0-2" fmla="*/ 595241 h 714292"/>
              <a:gd name="connsiteX1-3" fmla="*/ 119051 w 1086416"/>
              <a:gd name="connsiteY1-4" fmla="*/ 0 h 714292"/>
              <a:gd name="connsiteX2-5" fmla="*/ 967365 w 1086416"/>
              <a:gd name="connsiteY2-6" fmla="*/ 0 h 714292"/>
              <a:gd name="connsiteX3-7" fmla="*/ 1086416 w 1086416"/>
              <a:gd name="connsiteY3-8" fmla="*/ 119051 h 714292"/>
              <a:gd name="connsiteX4-9" fmla="*/ 1086416 w 1086416"/>
              <a:gd name="connsiteY4-10" fmla="*/ 595241 h 714292"/>
              <a:gd name="connsiteX5-11" fmla="*/ 967365 w 1086416"/>
              <a:gd name="connsiteY5-12" fmla="*/ 714292 h 714292"/>
              <a:gd name="connsiteX6-13" fmla="*/ 119051 w 1086416"/>
              <a:gd name="connsiteY6-14" fmla="*/ 714292 h 714292"/>
              <a:gd name="connsiteX7-15" fmla="*/ 0 w 1086416"/>
              <a:gd name="connsiteY7-16" fmla="*/ 595241 h 714292"/>
              <a:gd name="connsiteX0-17" fmla="*/ 0 w 2987643"/>
              <a:gd name="connsiteY0-18" fmla="*/ 2080009 h 2082206"/>
              <a:gd name="connsiteX1-19" fmla="*/ 2020278 w 2987643"/>
              <a:gd name="connsiteY1-20" fmla="*/ 0 h 2082206"/>
              <a:gd name="connsiteX2-21" fmla="*/ 2868592 w 2987643"/>
              <a:gd name="connsiteY2-22" fmla="*/ 0 h 2082206"/>
              <a:gd name="connsiteX3-23" fmla="*/ 2987643 w 2987643"/>
              <a:gd name="connsiteY3-24" fmla="*/ 119051 h 2082206"/>
              <a:gd name="connsiteX4-25" fmla="*/ 2987643 w 2987643"/>
              <a:gd name="connsiteY4-26" fmla="*/ 595241 h 2082206"/>
              <a:gd name="connsiteX5-27" fmla="*/ 2868592 w 2987643"/>
              <a:gd name="connsiteY5-28" fmla="*/ 714292 h 2082206"/>
              <a:gd name="connsiteX6-29" fmla="*/ 2020278 w 2987643"/>
              <a:gd name="connsiteY6-30" fmla="*/ 714292 h 2082206"/>
              <a:gd name="connsiteX7-31" fmla="*/ 0 w 2987643"/>
              <a:gd name="connsiteY7-32" fmla="*/ 2080009 h 2082206"/>
              <a:gd name="connsiteX0-33" fmla="*/ 0 w 2951429"/>
              <a:gd name="connsiteY0-34" fmla="*/ 1210876 h 1216223"/>
              <a:gd name="connsiteX1-35" fmla="*/ 1984064 w 2951429"/>
              <a:gd name="connsiteY1-36" fmla="*/ 0 h 1216223"/>
              <a:gd name="connsiteX2-37" fmla="*/ 2832378 w 2951429"/>
              <a:gd name="connsiteY2-38" fmla="*/ 0 h 1216223"/>
              <a:gd name="connsiteX3-39" fmla="*/ 2951429 w 2951429"/>
              <a:gd name="connsiteY3-40" fmla="*/ 119051 h 1216223"/>
              <a:gd name="connsiteX4-41" fmla="*/ 2951429 w 2951429"/>
              <a:gd name="connsiteY4-42" fmla="*/ 595241 h 1216223"/>
              <a:gd name="connsiteX5-43" fmla="*/ 2832378 w 2951429"/>
              <a:gd name="connsiteY5-44" fmla="*/ 714292 h 1216223"/>
              <a:gd name="connsiteX6-45" fmla="*/ 1984064 w 2951429"/>
              <a:gd name="connsiteY6-46" fmla="*/ 714292 h 1216223"/>
              <a:gd name="connsiteX7-47" fmla="*/ 0 w 2951429"/>
              <a:gd name="connsiteY7-48" fmla="*/ 1210876 h 1216223"/>
              <a:gd name="connsiteX0-49" fmla="*/ 0 w 2987643"/>
              <a:gd name="connsiteY0-50" fmla="*/ 1219930 h 1225198"/>
              <a:gd name="connsiteX1-51" fmla="*/ 2020278 w 2987643"/>
              <a:gd name="connsiteY1-52" fmla="*/ 0 h 1225198"/>
              <a:gd name="connsiteX2-53" fmla="*/ 2868592 w 2987643"/>
              <a:gd name="connsiteY2-54" fmla="*/ 0 h 1225198"/>
              <a:gd name="connsiteX3-55" fmla="*/ 2987643 w 2987643"/>
              <a:gd name="connsiteY3-56" fmla="*/ 119051 h 1225198"/>
              <a:gd name="connsiteX4-57" fmla="*/ 2987643 w 2987643"/>
              <a:gd name="connsiteY4-58" fmla="*/ 595241 h 1225198"/>
              <a:gd name="connsiteX5-59" fmla="*/ 2868592 w 2987643"/>
              <a:gd name="connsiteY5-60" fmla="*/ 714292 h 1225198"/>
              <a:gd name="connsiteX6-61" fmla="*/ 2020278 w 2987643"/>
              <a:gd name="connsiteY6-62" fmla="*/ 714292 h 1225198"/>
              <a:gd name="connsiteX7-63" fmla="*/ 0 w 2987643"/>
              <a:gd name="connsiteY7-64" fmla="*/ 1219930 h 1225198"/>
              <a:gd name="connsiteX0-65" fmla="*/ 0 w 2987643"/>
              <a:gd name="connsiteY0-66" fmla="*/ 1219930 h 1219940"/>
              <a:gd name="connsiteX1-67" fmla="*/ 2020278 w 2987643"/>
              <a:gd name="connsiteY1-68" fmla="*/ 0 h 1219940"/>
              <a:gd name="connsiteX2-69" fmla="*/ 2868592 w 2987643"/>
              <a:gd name="connsiteY2-70" fmla="*/ 0 h 1219940"/>
              <a:gd name="connsiteX3-71" fmla="*/ 2987643 w 2987643"/>
              <a:gd name="connsiteY3-72" fmla="*/ 119051 h 1219940"/>
              <a:gd name="connsiteX4-73" fmla="*/ 2987643 w 2987643"/>
              <a:gd name="connsiteY4-74" fmla="*/ 595241 h 1219940"/>
              <a:gd name="connsiteX5-75" fmla="*/ 2868592 w 2987643"/>
              <a:gd name="connsiteY5-76" fmla="*/ 714292 h 1219940"/>
              <a:gd name="connsiteX6-77" fmla="*/ 2020278 w 2987643"/>
              <a:gd name="connsiteY6-78" fmla="*/ 714292 h 1219940"/>
              <a:gd name="connsiteX7-79" fmla="*/ 0 w 2987643"/>
              <a:gd name="connsiteY7-80" fmla="*/ 1219930 h 1219940"/>
              <a:gd name="connsiteX0-81" fmla="*/ 0 w 2987643"/>
              <a:gd name="connsiteY0-82" fmla="*/ 1265173 h 1265182"/>
              <a:gd name="connsiteX1-83" fmla="*/ 2020278 w 2987643"/>
              <a:gd name="connsiteY1-84" fmla="*/ 0 h 1265182"/>
              <a:gd name="connsiteX2-85" fmla="*/ 2868592 w 2987643"/>
              <a:gd name="connsiteY2-86" fmla="*/ 0 h 1265182"/>
              <a:gd name="connsiteX3-87" fmla="*/ 2987643 w 2987643"/>
              <a:gd name="connsiteY3-88" fmla="*/ 119051 h 1265182"/>
              <a:gd name="connsiteX4-89" fmla="*/ 2987643 w 2987643"/>
              <a:gd name="connsiteY4-90" fmla="*/ 595241 h 1265182"/>
              <a:gd name="connsiteX5-91" fmla="*/ 2868592 w 2987643"/>
              <a:gd name="connsiteY5-92" fmla="*/ 714292 h 1265182"/>
              <a:gd name="connsiteX6-93" fmla="*/ 2020278 w 2987643"/>
              <a:gd name="connsiteY6-94" fmla="*/ 714292 h 1265182"/>
              <a:gd name="connsiteX7-95" fmla="*/ 0 w 2987643"/>
              <a:gd name="connsiteY7-96" fmla="*/ 1265173 h 1265182"/>
              <a:gd name="connsiteX0-97" fmla="*/ 0 w 2973355"/>
              <a:gd name="connsiteY0-98" fmla="*/ 1388998 h 1389006"/>
              <a:gd name="connsiteX1-99" fmla="*/ 2005990 w 2973355"/>
              <a:gd name="connsiteY1-100" fmla="*/ 0 h 1389006"/>
              <a:gd name="connsiteX2-101" fmla="*/ 2854304 w 2973355"/>
              <a:gd name="connsiteY2-102" fmla="*/ 0 h 1389006"/>
              <a:gd name="connsiteX3-103" fmla="*/ 2973355 w 2973355"/>
              <a:gd name="connsiteY3-104" fmla="*/ 119051 h 1389006"/>
              <a:gd name="connsiteX4-105" fmla="*/ 2973355 w 2973355"/>
              <a:gd name="connsiteY4-106" fmla="*/ 595241 h 1389006"/>
              <a:gd name="connsiteX5-107" fmla="*/ 2854304 w 2973355"/>
              <a:gd name="connsiteY5-108" fmla="*/ 714292 h 1389006"/>
              <a:gd name="connsiteX6-109" fmla="*/ 2005990 w 2973355"/>
              <a:gd name="connsiteY6-110" fmla="*/ 714292 h 1389006"/>
              <a:gd name="connsiteX7-111" fmla="*/ 0 w 2973355"/>
              <a:gd name="connsiteY7-112" fmla="*/ 1388998 h 1389006"/>
              <a:gd name="connsiteX0-113" fmla="*/ 0 w 2951923"/>
              <a:gd name="connsiteY0-114" fmla="*/ 1272317 h 1272326"/>
              <a:gd name="connsiteX1-115" fmla="*/ 1984558 w 2951923"/>
              <a:gd name="connsiteY1-116" fmla="*/ 0 h 1272326"/>
              <a:gd name="connsiteX2-117" fmla="*/ 2832872 w 2951923"/>
              <a:gd name="connsiteY2-118" fmla="*/ 0 h 1272326"/>
              <a:gd name="connsiteX3-119" fmla="*/ 2951923 w 2951923"/>
              <a:gd name="connsiteY3-120" fmla="*/ 119051 h 1272326"/>
              <a:gd name="connsiteX4-121" fmla="*/ 2951923 w 2951923"/>
              <a:gd name="connsiteY4-122" fmla="*/ 595241 h 1272326"/>
              <a:gd name="connsiteX5-123" fmla="*/ 2832872 w 2951923"/>
              <a:gd name="connsiteY5-124" fmla="*/ 714292 h 1272326"/>
              <a:gd name="connsiteX6-125" fmla="*/ 1984558 w 2951923"/>
              <a:gd name="connsiteY6-126" fmla="*/ 714292 h 1272326"/>
              <a:gd name="connsiteX7-127" fmla="*/ 0 w 2951923"/>
              <a:gd name="connsiteY7-128" fmla="*/ 1272317 h 1272326"/>
              <a:gd name="connsiteX0-129" fmla="*/ 0 w 2961448"/>
              <a:gd name="connsiteY0-130" fmla="*/ 1260410 h 1260419"/>
              <a:gd name="connsiteX1-131" fmla="*/ 1994083 w 2961448"/>
              <a:gd name="connsiteY1-132" fmla="*/ 0 h 1260419"/>
              <a:gd name="connsiteX2-133" fmla="*/ 2842397 w 2961448"/>
              <a:gd name="connsiteY2-134" fmla="*/ 0 h 1260419"/>
              <a:gd name="connsiteX3-135" fmla="*/ 2961448 w 2961448"/>
              <a:gd name="connsiteY3-136" fmla="*/ 119051 h 1260419"/>
              <a:gd name="connsiteX4-137" fmla="*/ 2961448 w 2961448"/>
              <a:gd name="connsiteY4-138" fmla="*/ 595241 h 1260419"/>
              <a:gd name="connsiteX5-139" fmla="*/ 2842397 w 2961448"/>
              <a:gd name="connsiteY5-140" fmla="*/ 714292 h 1260419"/>
              <a:gd name="connsiteX6-141" fmla="*/ 1994083 w 2961448"/>
              <a:gd name="connsiteY6-142" fmla="*/ 714292 h 1260419"/>
              <a:gd name="connsiteX7-143" fmla="*/ 0 w 2961448"/>
              <a:gd name="connsiteY7-144" fmla="*/ 1260410 h 1260419"/>
              <a:gd name="connsiteX0-145" fmla="*/ 0 w 2959067"/>
              <a:gd name="connsiteY0-146" fmla="*/ 1274698 h 1274707"/>
              <a:gd name="connsiteX1-147" fmla="*/ 1991702 w 2959067"/>
              <a:gd name="connsiteY1-148" fmla="*/ 0 h 1274707"/>
              <a:gd name="connsiteX2-149" fmla="*/ 2840016 w 2959067"/>
              <a:gd name="connsiteY2-150" fmla="*/ 0 h 1274707"/>
              <a:gd name="connsiteX3-151" fmla="*/ 2959067 w 2959067"/>
              <a:gd name="connsiteY3-152" fmla="*/ 119051 h 1274707"/>
              <a:gd name="connsiteX4-153" fmla="*/ 2959067 w 2959067"/>
              <a:gd name="connsiteY4-154" fmla="*/ 595241 h 1274707"/>
              <a:gd name="connsiteX5-155" fmla="*/ 2840016 w 2959067"/>
              <a:gd name="connsiteY5-156" fmla="*/ 714292 h 1274707"/>
              <a:gd name="connsiteX6-157" fmla="*/ 1991702 w 2959067"/>
              <a:gd name="connsiteY6-158" fmla="*/ 714292 h 1274707"/>
              <a:gd name="connsiteX7-159" fmla="*/ 0 w 2959067"/>
              <a:gd name="connsiteY7-160" fmla="*/ 1274698 h 12747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959067" h="1274707">
                <a:moveTo>
                  <a:pt x="0" y="1274698"/>
                </a:moveTo>
                <a:cubicBezTo>
                  <a:pt x="0" y="1278004"/>
                  <a:pt x="1318276" y="406643"/>
                  <a:pt x="1991702" y="0"/>
                </a:cubicBezTo>
                <a:lnTo>
                  <a:pt x="2840016" y="0"/>
                </a:lnTo>
                <a:cubicBezTo>
                  <a:pt x="2905766" y="0"/>
                  <a:pt x="2959067" y="53301"/>
                  <a:pt x="2959067" y="119051"/>
                </a:cubicBezTo>
                <a:lnTo>
                  <a:pt x="2959067" y="595241"/>
                </a:lnTo>
                <a:cubicBezTo>
                  <a:pt x="2959067" y="660991"/>
                  <a:pt x="2905766" y="714292"/>
                  <a:pt x="2840016" y="714292"/>
                </a:cubicBezTo>
                <a:lnTo>
                  <a:pt x="1991702" y="714292"/>
                </a:lnTo>
                <a:cubicBezTo>
                  <a:pt x="1925952" y="714292"/>
                  <a:pt x="0" y="1271392"/>
                  <a:pt x="0" y="1274698"/>
                </a:cubicBezTo>
                <a:close/>
              </a:path>
            </a:pathLst>
          </a:custGeom>
          <a:solidFill>
            <a:srgbClr val="376FFF"/>
          </a:solidFill>
          <a:ln>
            <a:noFill/>
          </a:ln>
        </p:spPr>
        <p:style>
          <a:lnRef idx="2">
            <a:srgbClr val="376FFF">
              <a:shade val="50000"/>
            </a:srgbClr>
          </a:lnRef>
          <a:fillRef idx="1">
            <a:srgbClr val="376FFF"/>
          </a:fillRef>
          <a:effectRef idx="0">
            <a:srgbClr val="376FFF"/>
          </a:effectRef>
          <a:fontRef idx="minor">
            <a:srgbClr val="FFFFFF"/>
          </a:fontRef>
        </p:style>
        <p:txBody>
          <a:bodyPr rtlCol="0" anchor="ctr"/>
          <a:p>
            <a:pPr algn="ctr"/>
            <a:endParaRPr lang="en-US" dirty="0">
              <a:solidFill>
                <a:srgbClr val="376FFF"/>
              </a:solidFill>
              <a:latin typeface="Arial" panose="020B0604020202020204" pitchFamily="34" charset="0"/>
              <a:sym typeface="Arial" panose="020B0604020202020204" pitchFamily="34" charset="0"/>
            </a:endParaRPr>
          </a:p>
        </p:txBody>
      </p:sp>
      <p:sp>
        <p:nvSpPr>
          <p:cNvPr id="3" name="任意多边形: 形状 15"/>
          <p:cNvSpPr/>
          <p:nvPr>
            <p:custDataLst>
              <p:tags r:id="rId7"/>
            </p:custDataLst>
          </p:nvPr>
        </p:nvSpPr>
        <p:spPr>
          <a:xfrm>
            <a:off x="4482632" y="4038303"/>
            <a:ext cx="517266" cy="517266"/>
          </a:xfrm>
          <a:custGeom>
            <a:avLst/>
            <a:gdLst>
              <a:gd name="connsiteX0" fmla="*/ 263520 w 527808"/>
              <a:gd name="connsiteY0" fmla="*/ 527425 h 527808"/>
              <a:gd name="connsiteX1" fmla="*/ -384 w 527808"/>
              <a:gd name="connsiteY1" fmla="*/ 263520 h 527808"/>
              <a:gd name="connsiteX2" fmla="*/ 263520 w 527808"/>
              <a:gd name="connsiteY2" fmla="*/ -384 h 527808"/>
              <a:gd name="connsiteX3" fmla="*/ 527425 w 527808"/>
              <a:gd name="connsiteY3" fmla="*/ 263520 h 527808"/>
              <a:gd name="connsiteX4" fmla="*/ 263520 w 527808"/>
              <a:gd name="connsiteY4" fmla="*/ 527425 h 527808"/>
              <a:gd name="connsiteX5" fmla="*/ 241528 w 527808"/>
              <a:gd name="connsiteY5" fmla="*/ 393648 h 527808"/>
              <a:gd name="connsiteX6" fmla="*/ 241528 w 527808"/>
              <a:gd name="connsiteY6" fmla="*/ 417464 h 527808"/>
              <a:gd name="connsiteX7" fmla="*/ 263520 w 527808"/>
              <a:gd name="connsiteY7" fmla="*/ 439456 h 527808"/>
              <a:gd name="connsiteX8" fmla="*/ 285512 w 527808"/>
              <a:gd name="connsiteY8" fmla="*/ 417464 h 527808"/>
              <a:gd name="connsiteX9" fmla="*/ 285512 w 527808"/>
              <a:gd name="connsiteY9" fmla="*/ 393648 h 527808"/>
              <a:gd name="connsiteX10" fmla="*/ 393648 w 527808"/>
              <a:gd name="connsiteY10" fmla="*/ 285512 h 527808"/>
              <a:gd name="connsiteX11" fmla="*/ 417464 w 527808"/>
              <a:gd name="connsiteY11" fmla="*/ 285512 h 527808"/>
              <a:gd name="connsiteX12" fmla="*/ 439456 w 527808"/>
              <a:gd name="connsiteY12" fmla="*/ 263520 h 527808"/>
              <a:gd name="connsiteX13" fmla="*/ 417464 w 527808"/>
              <a:gd name="connsiteY13" fmla="*/ 241528 h 527808"/>
              <a:gd name="connsiteX14" fmla="*/ 393648 w 527808"/>
              <a:gd name="connsiteY14" fmla="*/ 241528 h 527808"/>
              <a:gd name="connsiteX15" fmla="*/ 285512 w 527808"/>
              <a:gd name="connsiteY15" fmla="*/ 133393 h 527808"/>
              <a:gd name="connsiteX16" fmla="*/ 285512 w 527808"/>
              <a:gd name="connsiteY16" fmla="*/ 109576 h 527808"/>
              <a:gd name="connsiteX17" fmla="*/ 263520 w 527808"/>
              <a:gd name="connsiteY17" fmla="*/ 87584 h 527808"/>
              <a:gd name="connsiteX18" fmla="*/ 241528 w 527808"/>
              <a:gd name="connsiteY18" fmla="*/ 109576 h 527808"/>
              <a:gd name="connsiteX19" fmla="*/ 241528 w 527808"/>
              <a:gd name="connsiteY19" fmla="*/ 133393 h 527808"/>
              <a:gd name="connsiteX20" fmla="*/ 133393 w 527808"/>
              <a:gd name="connsiteY20" fmla="*/ 241528 h 527808"/>
              <a:gd name="connsiteX21" fmla="*/ 109576 w 527808"/>
              <a:gd name="connsiteY21" fmla="*/ 241528 h 527808"/>
              <a:gd name="connsiteX22" fmla="*/ 87584 w 527808"/>
              <a:gd name="connsiteY22" fmla="*/ 263520 h 527808"/>
              <a:gd name="connsiteX23" fmla="*/ 109576 w 527808"/>
              <a:gd name="connsiteY23" fmla="*/ 285512 h 527808"/>
              <a:gd name="connsiteX24" fmla="*/ 133393 w 527808"/>
              <a:gd name="connsiteY24" fmla="*/ 285512 h 527808"/>
              <a:gd name="connsiteX25" fmla="*/ 241528 w 527808"/>
              <a:gd name="connsiteY25" fmla="*/ 393648 h 527808"/>
              <a:gd name="connsiteX26" fmla="*/ 263520 w 527808"/>
              <a:gd name="connsiteY26" fmla="*/ 362484 h 527808"/>
              <a:gd name="connsiteX27" fmla="*/ 164556 w 527808"/>
              <a:gd name="connsiteY27" fmla="*/ 263520 h 527808"/>
              <a:gd name="connsiteX28" fmla="*/ 263520 w 527808"/>
              <a:gd name="connsiteY28" fmla="*/ 164556 h 527808"/>
              <a:gd name="connsiteX29" fmla="*/ 362484 w 527808"/>
              <a:gd name="connsiteY29" fmla="*/ 263520 h 527808"/>
              <a:gd name="connsiteX30" fmla="*/ 263520 w 527808"/>
              <a:gd name="connsiteY30" fmla="*/ 362484 h 527808"/>
              <a:gd name="connsiteX31" fmla="*/ 263520 w 527808"/>
              <a:gd name="connsiteY31" fmla="*/ 318500 h 527808"/>
              <a:gd name="connsiteX32" fmla="*/ 318500 w 527808"/>
              <a:gd name="connsiteY32" fmla="*/ 263520 h 527808"/>
              <a:gd name="connsiteX33" fmla="*/ 263520 w 527808"/>
              <a:gd name="connsiteY33" fmla="*/ 208540 h 527808"/>
              <a:gd name="connsiteX34" fmla="*/ 208540 w 527808"/>
              <a:gd name="connsiteY34" fmla="*/ 263520 h 527808"/>
              <a:gd name="connsiteX35" fmla="*/ 263520 w 527808"/>
              <a:gd name="connsiteY35" fmla="*/ 318500 h 527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7808" h="527808">
                <a:moveTo>
                  <a:pt x="263520" y="527425"/>
                </a:moveTo>
                <a:cubicBezTo>
                  <a:pt x="117770" y="527425"/>
                  <a:pt x="-384" y="409270"/>
                  <a:pt x="-384" y="263520"/>
                </a:cubicBezTo>
                <a:cubicBezTo>
                  <a:pt x="-384" y="117770"/>
                  <a:pt x="117770" y="-384"/>
                  <a:pt x="263520" y="-384"/>
                </a:cubicBezTo>
                <a:cubicBezTo>
                  <a:pt x="409270" y="-384"/>
                  <a:pt x="527425" y="117770"/>
                  <a:pt x="527425" y="263520"/>
                </a:cubicBezTo>
                <a:cubicBezTo>
                  <a:pt x="527425" y="409270"/>
                  <a:pt x="409270" y="527425"/>
                  <a:pt x="263520" y="527425"/>
                </a:cubicBezTo>
                <a:moveTo>
                  <a:pt x="241528" y="393648"/>
                </a:moveTo>
                <a:lnTo>
                  <a:pt x="241528" y="417464"/>
                </a:lnTo>
                <a:cubicBezTo>
                  <a:pt x="241528" y="429610"/>
                  <a:pt x="251374" y="439456"/>
                  <a:pt x="263520" y="439456"/>
                </a:cubicBezTo>
                <a:cubicBezTo>
                  <a:pt x="275666" y="439456"/>
                  <a:pt x="285512" y="429610"/>
                  <a:pt x="285512" y="417464"/>
                </a:cubicBezTo>
                <a:lnTo>
                  <a:pt x="285512" y="393648"/>
                </a:lnTo>
                <a:cubicBezTo>
                  <a:pt x="340767" y="384378"/>
                  <a:pt x="384378" y="340767"/>
                  <a:pt x="393648" y="285512"/>
                </a:cubicBezTo>
                <a:lnTo>
                  <a:pt x="417464" y="285512"/>
                </a:lnTo>
                <a:cubicBezTo>
                  <a:pt x="429610" y="285512"/>
                  <a:pt x="439456" y="275666"/>
                  <a:pt x="439456" y="263520"/>
                </a:cubicBezTo>
                <a:cubicBezTo>
                  <a:pt x="439456" y="251374"/>
                  <a:pt x="429610" y="241528"/>
                  <a:pt x="417464" y="241528"/>
                </a:cubicBezTo>
                <a:lnTo>
                  <a:pt x="393648" y="241528"/>
                </a:lnTo>
                <a:cubicBezTo>
                  <a:pt x="384378" y="186273"/>
                  <a:pt x="340767" y="142662"/>
                  <a:pt x="285512" y="133393"/>
                </a:cubicBezTo>
                <a:lnTo>
                  <a:pt x="285512" y="109576"/>
                </a:lnTo>
                <a:cubicBezTo>
                  <a:pt x="285512" y="97430"/>
                  <a:pt x="275666" y="87584"/>
                  <a:pt x="263520" y="87584"/>
                </a:cubicBezTo>
                <a:cubicBezTo>
                  <a:pt x="251374" y="87584"/>
                  <a:pt x="241528" y="97430"/>
                  <a:pt x="241528" y="109576"/>
                </a:cubicBezTo>
                <a:lnTo>
                  <a:pt x="241528" y="133393"/>
                </a:lnTo>
                <a:cubicBezTo>
                  <a:pt x="186273" y="142662"/>
                  <a:pt x="142662" y="186273"/>
                  <a:pt x="133393" y="241528"/>
                </a:cubicBezTo>
                <a:lnTo>
                  <a:pt x="109576" y="241528"/>
                </a:lnTo>
                <a:cubicBezTo>
                  <a:pt x="97430" y="241528"/>
                  <a:pt x="87584" y="251374"/>
                  <a:pt x="87584" y="263520"/>
                </a:cubicBezTo>
                <a:cubicBezTo>
                  <a:pt x="87584" y="275666"/>
                  <a:pt x="97430" y="285512"/>
                  <a:pt x="109576" y="285512"/>
                </a:cubicBezTo>
                <a:lnTo>
                  <a:pt x="133393" y="285512"/>
                </a:lnTo>
                <a:cubicBezTo>
                  <a:pt x="142662" y="340767"/>
                  <a:pt x="186273" y="384378"/>
                  <a:pt x="241528" y="393648"/>
                </a:cubicBezTo>
                <a:moveTo>
                  <a:pt x="263520" y="362484"/>
                </a:moveTo>
                <a:cubicBezTo>
                  <a:pt x="208864" y="362484"/>
                  <a:pt x="164556" y="318177"/>
                  <a:pt x="164556" y="263520"/>
                </a:cubicBezTo>
                <a:cubicBezTo>
                  <a:pt x="164556" y="208864"/>
                  <a:pt x="208864" y="164556"/>
                  <a:pt x="263520" y="164556"/>
                </a:cubicBezTo>
                <a:cubicBezTo>
                  <a:pt x="318177" y="164556"/>
                  <a:pt x="362484" y="208864"/>
                  <a:pt x="362484" y="263520"/>
                </a:cubicBezTo>
                <a:cubicBezTo>
                  <a:pt x="362484" y="318177"/>
                  <a:pt x="318177" y="362484"/>
                  <a:pt x="263520" y="362484"/>
                </a:cubicBezTo>
                <a:moveTo>
                  <a:pt x="263520" y="318500"/>
                </a:moveTo>
                <a:cubicBezTo>
                  <a:pt x="293885" y="318500"/>
                  <a:pt x="318500" y="293885"/>
                  <a:pt x="318500" y="263520"/>
                </a:cubicBezTo>
                <a:cubicBezTo>
                  <a:pt x="318500" y="233155"/>
                  <a:pt x="293885" y="208540"/>
                  <a:pt x="263520" y="208540"/>
                </a:cubicBezTo>
                <a:cubicBezTo>
                  <a:pt x="233155" y="208540"/>
                  <a:pt x="208540" y="233155"/>
                  <a:pt x="208540" y="263520"/>
                </a:cubicBezTo>
                <a:cubicBezTo>
                  <a:pt x="208540" y="293885"/>
                  <a:pt x="233155" y="318500"/>
                  <a:pt x="263520" y="318500"/>
                </a:cubicBezTo>
              </a:path>
            </a:pathLst>
          </a:custGeom>
          <a:solidFill>
            <a:srgbClr val="FFFFFF"/>
          </a:solidFill>
          <a:ln w="682" cap="flat">
            <a:noFill/>
            <a:prstDash val="solid"/>
            <a:miter/>
          </a:ln>
        </p:spPr>
        <p:txBody>
          <a:bodyPr rtlCol="0" anchor="ctr"/>
          <a:p>
            <a:endParaRPr lang="en-US">
              <a:latin typeface="Arial" panose="020B0604020202020204" pitchFamily="34" charset="0"/>
              <a:sym typeface="Arial" panose="020B0604020202020204" pitchFamily="34" charset="0"/>
            </a:endParaRPr>
          </a:p>
        </p:txBody>
      </p:sp>
      <p:sp>
        <p:nvSpPr>
          <p:cNvPr id="17" name="任意多边形: 形状 16"/>
          <p:cNvSpPr/>
          <p:nvPr>
            <p:custDataLst>
              <p:tags r:id="rId8"/>
            </p:custDataLst>
          </p:nvPr>
        </p:nvSpPr>
        <p:spPr>
          <a:xfrm flipH="1">
            <a:off x="4482759" y="5017173"/>
            <a:ext cx="517266" cy="517266"/>
          </a:xfrm>
          <a:custGeom>
            <a:avLst/>
            <a:gdLst>
              <a:gd name="connsiteX0" fmla="*/ 263520 w 527808"/>
              <a:gd name="connsiteY0" fmla="*/ 527425 h 527808"/>
              <a:gd name="connsiteX1" fmla="*/ -384 w 527808"/>
              <a:gd name="connsiteY1" fmla="*/ 263520 h 527808"/>
              <a:gd name="connsiteX2" fmla="*/ 263520 w 527808"/>
              <a:gd name="connsiteY2" fmla="*/ -384 h 527808"/>
              <a:gd name="connsiteX3" fmla="*/ 527425 w 527808"/>
              <a:gd name="connsiteY3" fmla="*/ 263520 h 527808"/>
              <a:gd name="connsiteX4" fmla="*/ 263520 w 527808"/>
              <a:gd name="connsiteY4" fmla="*/ 527425 h 527808"/>
              <a:gd name="connsiteX5" fmla="*/ 145688 w 527808"/>
              <a:gd name="connsiteY5" fmla="*/ 238959 h 527808"/>
              <a:gd name="connsiteX6" fmla="*/ 172516 w 527808"/>
              <a:gd name="connsiteY6" fmla="*/ 372385 h 527808"/>
              <a:gd name="connsiteX7" fmla="*/ 275167 w 527808"/>
              <a:gd name="connsiteY7" fmla="*/ 312392 h 527808"/>
              <a:gd name="connsiteX8" fmla="*/ 294486 w 527808"/>
              <a:gd name="connsiteY8" fmla="*/ 326803 h 527808"/>
              <a:gd name="connsiteX9" fmla="*/ 290214 w 527808"/>
              <a:gd name="connsiteY9" fmla="*/ 366167 h 527808"/>
              <a:gd name="connsiteX10" fmla="*/ 279801 w 527808"/>
              <a:gd name="connsiteY10" fmla="*/ 384404 h 527808"/>
              <a:gd name="connsiteX11" fmla="*/ 290296 w 527808"/>
              <a:gd name="connsiteY11" fmla="*/ 397994 h 527808"/>
              <a:gd name="connsiteX12" fmla="*/ 324091 w 527808"/>
              <a:gd name="connsiteY12" fmla="*/ 402792 h 527808"/>
              <a:gd name="connsiteX13" fmla="*/ 336339 w 527808"/>
              <a:gd name="connsiteY13" fmla="*/ 384862 h 527808"/>
              <a:gd name="connsiteX14" fmla="*/ 341652 w 527808"/>
              <a:gd name="connsiteY14" fmla="*/ 336300 h 527808"/>
              <a:gd name="connsiteX15" fmla="*/ 361344 w 527808"/>
              <a:gd name="connsiteY15" fmla="*/ 314622 h 527808"/>
              <a:gd name="connsiteX16" fmla="*/ 373608 w 527808"/>
              <a:gd name="connsiteY16" fmla="*/ 315794 h 527808"/>
              <a:gd name="connsiteX17" fmla="*/ 405680 w 527808"/>
              <a:gd name="connsiteY17" fmla="*/ 282041 h 527808"/>
              <a:gd name="connsiteX18" fmla="*/ 381890 w 527808"/>
              <a:gd name="connsiteY18" fmla="*/ 239049 h 527808"/>
              <a:gd name="connsiteX19" fmla="*/ 199586 w 527808"/>
              <a:gd name="connsiteY19" fmla="*/ 118938 h 527808"/>
              <a:gd name="connsiteX20" fmla="*/ 145688 w 527808"/>
              <a:gd name="connsiteY20" fmla="*/ 238959 h 527808"/>
              <a:gd name="connsiteX21" fmla="*/ 180302 w 527808"/>
              <a:gd name="connsiteY21" fmla="*/ 335424 h 527808"/>
              <a:gd name="connsiteX22" fmla="*/ 169273 w 527808"/>
              <a:gd name="connsiteY22" fmla="*/ 244901 h 527808"/>
              <a:gd name="connsiteX23" fmla="*/ 199266 w 527808"/>
              <a:gd name="connsiteY23" fmla="*/ 155809 h 527808"/>
              <a:gd name="connsiteX24" fmla="*/ 212282 w 527808"/>
              <a:gd name="connsiteY24" fmla="*/ 251372 h 527808"/>
              <a:gd name="connsiteX25" fmla="*/ 180302 w 527808"/>
              <a:gd name="connsiteY25" fmla="*/ 335424 h 527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7808" h="527808">
                <a:moveTo>
                  <a:pt x="263520" y="527425"/>
                </a:moveTo>
                <a:cubicBezTo>
                  <a:pt x="117770" y="527425"/>
                  <a:pt x="-384" y="409270"/>
                  <a:pt x="-384" y="263520"/>
                </a:cubicBezTo>
                <a:cubicBezTo>
                  <a:pt x="-384" y="117770"/>
                  <a:pt x="117770" y="-384"/>
                  <a:pt x="263520" y="-384"/>
                </a:cubicBezTo>
                <a:cubicBezTo>
                  <a:pt x="409270" y="-384"/>
                  <a:pt x="527425" y="117770"/>
                  <a:pt x="527425" y="263520"/>
                </a:cubicBezTo>
                <a:cubicBezTo>
                  <a:pt x="527425" y="409270"/>
                  <a:pt x="409270" y="527425"/>
                  <a:pt x="263520" y="527425"/>
                </a:cubicBezTo>
                <a:moveTo>
                  <a:pt x="145688" y="238959"/>
                </a:moveTo>
                <a:cubicBezTo>
                  <a:pt x="138480" y="306021"/>
                  <a:pt x="151136" y="368717"/>
                  <a:pt x="172516" y="372385"/>
                </a:cubicBezTo>
                <a:cubicBezTo>
                  <a:pt x="200184" y="376913"/>
                  <a:pt x="200337" y="323365"/>
                  <a:pt x="275167" y="312392"/>
                </a:cubicBezTo>
                <a:cubicBezTo>
                  <a:pt x="286042" y="310752"/>
                  <a:pt x="295398" y="316527"/>
                  <a:pt x="294486" y="326803"/>
                </a:cubicBezTo>
                <a:cubicBezTo>
                  <a:pt x="293790" y="334315"/>
                  <a:pt x="290910" y="358656"/>
                  <a:pt x="290214" y="366167"/>
                </a:cubicBezTo>
                <a:cubicBezTo>
                  <a:pt x="289369" y="373720"/>
                  <a:pt x="280479" y="378012"/>
                  <a:pt x="279801" y="384404"/>
                </a:cubicBezTo>
                <a:cubicBezTo>
                  <a:pt x="279153" y="390311"/>
                  <a:pt x="282659" y="396856"/>
                  <a:pt x="290296" y="397994"/>
                </a:cubicBezTo>
                <a:cubicBezTo>
                  <a:pt x="298080" y="399093"/>
                  <a:pt x="318101" y="401850"/>
                  <a:pt x="324091" y="402792"/>
                </a:cubicBezTo>
                <a:cubicBezTo>
                  <a:pt x="330041" y="403587"/>
                  <a:pt x="335297" y="394058"/>
                  <a:pt x="336339" y="384862"/>
                </a:cubicBezTo>
                <a:cubicBezTo>
                  <a:pt x="337379" y="375664"/>
                  <a:pt x="340367" y="348748"/>
                  <a:pt x="341652" y="336300"/>
                </a:cubicBezTo>
                <a:cubicBezTo>
                  <a:pt x="342862" y="325945"/>
                  <a:pt x="355471" y="331960"/>
                  <a:pt x="361344" y="314622"/>
                </a:cubicBezTo>
                <a:cubicBezTo>
                  <a:pt x="361344" y="314622"/>
                  <a:pt x="370951" y="315391"/>
                  <a:pt x="373608" y="315794"/>
                </a:cubicBezTo>
                <a:cubicBezTo>
                  <a:pt x="389109" y="318329"/>
                  <a:pt x="403862" y="298452"/>
                  <a:pt x="405680" y="282041"/>
                </a:cubicBezTo>
                <a:cubicBezTo>
                  <a:pt x="407498" y="265629"/>
                  <a:pt x="397242" y="241623"/>
                  <a:pt x="381890" y="239049"/>
                </a:cubicBezTo>
                <a:cubicBezTo>
                  <a:pt x="203256" y="209360"/>
                  <a:pt x="236091" y="124921"/>
                  <a:pt x="199586" y="118938"/>
                </a:cubicBezTo>
                <a:cubicBezTo>
                  <a:pt x="178245" y="115420"/>
                  <a:pt x="152858" y="171748"/>
                  <a:pt x="145688" y="238959"/>
                </a:cubicBezTo>
                <a:moveTo>
                  <a:pt x="180302" y="335424"/>
                </a:moveTo>
                <a:cubicBezTo>
                  <a:pt x="175620" y="334607"/>
                  <a:pt x="163794" y="297009"/>
                  <a:pt x="169273" y="244901"/>
                </a:cubicBezTo>
                <a:cubicBezTo>
                  <a:pt x="174903" y="192753"/>
                  <a:pt x="194586" y="154993"/>
                  <a:pt x="199266" y="155809"/>
                </a:cubicBezTo>
                <a:cubicBezTo>
                  <a:pt x="203947" y="156625"/>
                  <a:pt x="217910" y="199223"/>
                  <a:pt x="212282" y="251372"/>
                </a:cubicBezTo>
                <a:cubicBezTo>
                  <a:pt x="206951" y="303440"/>
                  <a:pt x="185131" y="336200"/>
                  <a:pt x="180302" y="335424"/>
                </a:cubicBezTo>
              </a:path>
            </a:pathLst>
          </a:custGeom>
          <a:solidFill>
            <a:srgbClr val="FFFFFF"/>
          </a:solidFill>
          <a:ln w="682" cap="flat">
            <a:noFill/>
            <a:prstDash val="solid"/>
            <a:miter/>
          </a:ln>
        </p:spPr>
        <p:txBody>
          <a:bodyPr rtlCol="0" anchor="ctr"/>
          <a:p>
            <a:endParaRPr lang="en-US">
              <a:latin typeface="Arial" panose="020B0604020202020204" pitchFamily="34" charset="0"/>
              <a:sym typeface="Arial" panose="020B0604020202020204" pitchFamily="34" charset="0"/>
            </a:endParaRPr>
          </a:p>
        </p:txBody>
      </p:sp>
      <p:sp>
        <p:nvSpPr>
          <p:cNvPr id="18" name="任意多边形: 形状 17"/>
          <p:cNvSpPr/>
          <p:nvPr>
            <p:custDataLst>
              <p:tags r:id="rId9"/>
            </p:custDataLst>
          </p:nvPr>
        </p:nvSpPr>
        <p:spPr>
          <a:xfrm>
            <a:off x="4482759" y="1915650"/>
            <a:ext cx="517266" cy="517266"/>
          </a:xfrm>
          <a:custGeom>
            <a:avLst/>
            <a:gdLst>
              <a:gd name="connsiteX0" fmla="*/ 263520 w 527808"/>
              <a:gd name="connsiteY0" fmla="*/ 527425 h 527808"/>
              <a:gd name="connsiteX1" fmla="*/ -384 w 527808"/>
              <a:gd name="connsiteY1" fmla="*/ 263520 h 527808"/>
              <a:gd name="connsiteX2" fmla="*/ 263520 w 527808"/>
              <a:gd name="connsiteY2" fmla="*/ -384 h 527808"/>
              <a:gd name="connsiteX3" fmla="*/ 527425 w 527808"/>
              <a:gd name="connsiteY3" fmla="*/ 263520 h 527808"/>
              <a:gd name="connsiteX4" fmla="*/ 263520 w 527808"/>
              <a:gd name="connsiteY4" fmla="*/ 527425 h 527808"/>
              <a:gd name="connsiteX5" fmla="*/ 368267 w 527808"/>
              <a:gd name="connsiteY5" fmla="*/ 133134 h 527808"/>
              <a:gd name="connsiteX6" fmla="*/ 356295 w 527808"/>
              <a:gd name="connsiteY6" fmla="*/ 133134 h 527808"/>
              <a:gd name="connsiteX7" fmla="*/ 116756 w 527808"/>
              <a:gd name="connsiteY7" fmla="*/ 252296 h 527808"/>
              <a:gd name="connsiteX8" fmla="*/ 109576 w 527808"/>
              <a:gd name="connsiteY8" fmla="*/ 261839 h 527808"/>
              <a:gd name="connsiteX9" fmla="*/ 114368 w 527808"/>
              <a:gd name="connsiteY9" fmla="*/ 271381 h 527808"/>
              <a:gd name="connsiteX10" fmla="*/ 171871 w 527808"/>
              <a:gd name="connsiteY10" fmla="*/ 307148 h 527808"/>
              <a:gd name="connsiteX11" fmla="*/ 186246 w 527808"/>
              <a:gd name="connsiteY11" fmla="*/ 304759 h 527808"/>
              <a:gd name="connsiteX12" fmla="*/ 311779 w 527808"/>
              <a:gd name="connsiteY12" fmla="*/ 191639 h 527808"/>
              <a:gd name="connsiteX13" fmla="*/ 314627 w 527808"/>
              <a:gd name="connsiteY13" fmla="*/ 191597 h 527808"/>
              <a:gd name="connsiteX14" fmla="*/ 315270 w 527808"/>
              <a:gd name="connsiteY14" fmla="*/ 192877 h 527808"/>
              <a:gd name="connsiteX15" fmla="*/ 314779 w 527808"/>
              <a:gd name="connsiteY15" fmla="*/ 194222 h 527808"/>
              <a:gd name="connsiteX16" fmla="*/ 202996 w 527808"/>
              <a:gd name="connsiteY16" fmla="*/ 314231 h 527808"/>
              <a:gd name="connsiteX17" fmla="*/ 200622 w 527808"/>
              <a:gd name="connsiteY17" fmla="*/ 321399 h 527808"/>
              <a:gd name="connsiteX18" fmla="*/ 200622 w 527808"/>
              <a:gd name="connsiteY18" fmla="*/ 373834 h 527808"/>
              <a:gd name="connsiteX19" fmla="*/ 207788 w 527808"/>
              <a:gd name="connsiteY19" fmla="*/ 385779 h 527808"/>
              <a:gd name="connsiteX20" fmla="*/ 219762 w 527808"/>
              <a:gd name="connsiteY20" fmla="*/ 383377 h 527808"/>
              <a:gd name="connsiteX21" fmla="*/ 248513 w 527808"/>
              <a:gd name="connsiteY21" fmla="*/ 354762 h 527808"/>
              <a:gd name="connsiteX22" fmla="*/ 306014 w 527808"/>
              <a:gd name="connsiteY22" fmla="*/ 392890 h 527808"/>
              <a:gd name="connsiteX23" fmla="*/ 317988 w 527808"/>
              <a:gd name="connsiteY23" fmla="*/ 395280 h 527808"/>
              <a:gd name="connsiteX24" fmla="*/ 325154 w 527808"/>
              <a:gd name="connsiteY24" fmla="*/ 385737 h 527808"/>
              <a:gd name="connsiteX25" fmla="*/ 373073 w 527808"/>
              <a:gd name="connsiteY25" fmla="*/ 147413 h 527808"/>
              <a:gd name="connsiteX26" fmla="*/ 368267 w 527808"/>
              <a:gd name="connsiteY26" fmla="*/ 133134 h 527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27808" h="527808">
                <a:moveTo>
                  <a:pt x="263520" y="527425"/>
                </a:moveTo>
                <a:cubicBezTo>
                  <a:pt x="117770" y="527425"/>
                  <a:pt x="-384" y="409270"/>
                  <a:pt x="-384" y="263520"/>
                </a:cubicBezTo>
                <a:cubicBezTo>
                  <a:pt x="-384" y="117770"/>
                  <a:pt x="117770" y="-384"/>
                  <a:pt x="263520" y="-384"/>
                </a:cubicBezTo>
                <a:cubicBezTo>
                  <a:pt x="409270" y="-384"/>
                  <a:pt x="527425" y="117770"/>
                  <a:pt x="527425" y="263520"/>
                </a:cubicBezTo>
                <a:cubicBezTo>
                  <a:pt x="527425" y="409270"/>
                  <a:pt x="409270" y="527425"/>
                  <a:pt x="263520" y="527425"/>
                </a:cubicBezTo>
                <a:moveTo>
                  <a:pt x="368267" y="133134"/>
                </a:moveTo>
                <a:cubicBezTo>
                  <a:pt x="363475" y="130745"/>
                  <a:pt x="360142" y="131370"/>
                  <a:pt x="356295" y="133134"/>
                </a:cubicBezTo>
                <a:lnTo>
                  <a:pt x="116756" y="252296"/>
                </a:lnTo>
                <a:cubicBezTo>
                  <a:pt x="112548" y="254699"/>
                  <a:pt x="109576" y="257908"/>
                  <a:pt x="109576" y="261839"/>
                </a:cubicBezTo>
                <a:cubicBezTo>
                  <a:pt x="109576" y="265756"/>
                  <a:pt x="111340" y="269575"/>
                  <a:pt x="114368" y="271381"/>
                </a:cubicBezTo>
                <a:lnTo>
                  <a:pt x="171871" y="307148"/>
                </a:lnTo>
                <a:cubicBezTo>
                  <a:pt x="176648" y="309523"/>
                  <a:pt x="181454" y="309523"/>
                  <a:pt x="186246" y="304759"/>
                </a:cubicBezTo>
                <a:lnTo>
                  <a:pt x="311779" y="191639"/>
                </a:lnTo>
                <a:cubicBezTo>
                  <a:pt x="312584" y="190915"/>
                  <a:pt x="313799" y="190898"/>
                  <a:pt x="314627" y="191597"/>
                </a:cubicBezTo>
                <a:cubicBezTo>
                  <a:pt x="315008" y="191917"/>
                  <a:pt x="315241" y="192379"/>
                  <a:pt x="315270" y="192877"/>
                </a:cubicBezTo>
                <a:cubicBezTo>
                  <a:pt x="315298" y="193374"/>
                  <a:pt x="315121" y="193861"/>
                  <a:pt x="314779" y="194222"/>
                </a:cubicBezTo>
                <a:lnTo>
                  <a:pt x="202996" y="314231"/>
                </a:lnTo>
                <a:cubicBezTo>
                  <a:pt x="200622" y="316621"/>
                  <a:pt x="200622" y="319010"/>
                  <a:pt x="200622" y="321399"/>
                </a:cubicBezTo>
                <a:lnTo>
                  <a:pt x="200622" y="373834"/>
                </a:lnTo>
                <a:cubicBezTo>
                  <a:pt x="200622" y="378612"/>
                  <a:pt x="202996" y="383377"/>
                  <a:pt x="207788" y="385779"/>
                </a:cubicBezTo>
                <a:cubicBezTo>
                  <a:pt x="212594" y="388141"/>
                  <a:pt x="217372" y="385779"/>
                  <a:pt x="219762" y="383377"/>
                </a:cubicBezTo>
                <a:lnTo>
                  <a:pt x="248513" y="354762"/>
                </a:lnTo>
                <a:lnTo>
                  <a:pt x="306014" y="392890"/>
                </a:lnTo>
                <a:cubicBezTo>
                  <a:pt x="309043" y="395280"/>
                  <a:pt x="315918" y="395821"/>
                  <a:pt x="317988" y="395280"/>
                </a:cubicBezTo>
                <a:cubicBezTo>
                  <a:pt x="320056" y="394738"/>
                  <a:pt x="324224" y="390557"/>
                  <a:pt x="325154" y="385737"/>
                </a:cubicBezTo>
                <a:lnTo>
                  <a:pt x="373073" y="147413"/>
                </a:lnTo>
                <a:cubicBezTo>
                  <a:pt x="374212" y="142163"/>
                  <a:pt x="373073" y="135523"/>
                  <a:pt x="368267" y="133134"/>
                </a:cubicBezTo>
              </a:path>
            </a:pathLst>
          </a:custGeom>
          <a:solidFill>
            <a:srgbClr val="FFFFFF"/>
          </a:solidFill>
          <a:ln w="682" cap="flat">
            <a:noFill/>
            <a:prstDash val="solid"/>
            <a:miter/>
          </a:ln>
        </p:spPr>
        <p:txBody>
          <a:bodyPr rtlCol="0" anchor="ctr"/>
          <a:p>
            <a:endParaRPr lang="en-US">
              <a:latin typeface="Arial" panose="020B0604020202020204" pitchFamily="34" charset="0"/>
              <a:sym typeface="Arial" panose="020B0604020202020204" pitchFamily="34" charset="0"/>
            </a:endParaRPr>
          </a:p>
        </p:txBody>
      </p:sp>
      <p:sp>
        <p:nvSpPr>
          <p:cNvPr id="27" name="任意多边形: 形状 26"/>
          <p:cNvSpPr/>
          <p:nvPr>
            <p:custDataLst>
              <p:tags r:id="rId10"/>
            </p:custDataLst>
          </p:nvPr>
        </p:nvSpPr>
        <p:spPr>
          <a:xfrm>
            <a:off x="834925" y="2709529"/>
            <a:ext cx="804944" cy="747547"/>
          </a:xfrm>
          <a:custGeom>
            <a:avLst/>
            <a:gdLst>
              <a:gd name="connsiteX0" fmla="*/ 807213 w 914399"/>
              <a:gd name="connsiteY0" fmla="*/ 115 h 848873"/>
              <a:gd name="connsiteX1" fmla="*/ 105083 w 914399"/>
              <a:gd name="connsiteY1" fmla="*/ 115 h 848873"/>
              <a:gd name="connsiteX2" fmla="*/ 114 w 914399"/>
              <a:gd name="connsiteY2" fmla="*/ 105930 h 848873"/>
              <a:gd name="connsiteX3" fmla="*/ 114 w 914399"/>
              <a:gd name="connsiteY3" fmla="*/ 562112 h 848873"/>
              <a:gd name="connsiteX4" fmla="*/ 105083 w 914399"/>
              <a:gd name="connsiteY4" fmla="*/ 667926 h 848873"/>
              <a:gd name="connsiteX5" fmla="*/ 368675 w 914399"/>
              <a:gd name="connsiteY5" fmla="*/ 667926 h 848873"/>
              <a:gd name="connsiteX6" fmla="*/ 368675 w 914399"/>
              <a:gd name="connsiteY6" fmla="*/ 797257 h 848873"/>
              <a:gd name="connsiteX7" fmla="*/ 224049 w 914399"/>
              <a:gd name="connsiteY7" fmla="*/ 797257 h 848873"/>
              <a:gd name="connsiteX8" fmla="*/ 198390 w 914399"/>
              <a:gd name="connsiteY8" fmla="*/ 823121 h 848873"/>
              <a:gd name="connsiteX9" fmla="*/ 224049 w 914399"/>
              <a:gd name="connsiteY9" fmla="*/ 848989 h 848873"/>
              <a:gd name="connsiteX10" fmla="*/ 669586 w 914399"/>
              <a:gd name="connsiteY10" fmla="*/ 848989 h 848873"/>
              <a:gd name="connsiteX11" fmla="*/ 695245 w 914399"/>
              <a:gd name="connsiteY11" fmla="*/ 823121 h 848873"/>
              <a:gd name="connsiteX12" fmla="*/ 669586 w 914399"/>
              <a:gd name="connsiteY12" fmla="*/ 797257 h 848873"/>
              <a:gd name="connsiteX13" fmla="*/ 527295 w 914399"/>
              <a:gd name="connsiteY13" fmla="*/ 797257 h 848873"/>
              <a:gd name="connsiteX14" fmla="*/ 527295 w 914399"/>
              <a:gd name="connsiteY14" fmla="*/ 667926 h 848873"/>
              <a:gd name="connsiteX15" fmla="*/ 809544 w 914399"/>
              <a:gd name="connsiteY15" fmla="*/ 667926 h 848873"/>
              <a:gd name="connsiteX16" fmla="*/ 914514 w 914399"/>
              <a:gd name="connsiteY16" fmla="*/ 562112 h 848873"/>
              <a:gd name="connsiteX17" fmla="*/ 914514 w 914399"/>
              <a:gd name="connsiteY17" fmla="*/ 105930 h 848873"/>
              <a:gd name="connsiteX18" fmla="*/ 807213 w 914399"/>
              <a:gd name="connsiteY18" fmla="*/ 115 h 848873"/>
              <a:gd name="connsiteX19" fmla="*/ 760557 w 914399"/>
              <a:gd name="connsiteY19" fmla="*/ 157662 h 848873"/>
              <a:gd name="connsiteX20" fmla="*/ 760557 w 914399"/>
              <a:gd name="connsiteY20" fmla="*/ 157662 h 848873"/>
              <a:gd name="connsiteX21" fmla="*/ 760557 w 914399"/>
              <a:gd name="connsiteY21" fmla="*/ 160013 h 848873"/>
              <a:gd name="connsiteX22" fmla="*/ 499303 w 914399"/>
              <a:gd name="connsiteY22" fmla="*/ 510381 h 848873"/>
              <a:gd name="connsiteX23" fmla="*/ 492305 w 914399"/>
              <a:gd name="connsiteY23" fmla="*/ 505677 h 848873"/>
              <a:gd name="connsiteX24" fmla="*/ 287030 w 914399"/>
              <a:gd name="connsiteY24" fmla="*/ 355185 h 848873"/>
              <a:gd name="connsiteX25" fmla="*/ 214718 w 914399"/>
              <a:gd name="connsiteY25" fmla="*/ 449242 h 848873"/>
              <a:gd name="connsiteX26" fmla="*/ 182061 w 914399"/>
              <a:gd name="connsiteY26" fmla="*/ 460999 h 848873"/>
              <a:gd name="connsiteX27" fmla="*/ 165733 w 914399"/>
              <a:gd name="connsiteY27" fmla="*/ 425728 h 848873"/>
              <a:gd name="connsiteX28" fmla="*/ 168065 w 914399"/>
              <a:gd name="connsiteY28" fmla="*/ 421024 h 848873"/>
              <a:gd name="connsiteX29" fmla="*/ 266036 w 914399"/>
              <a:gd name="connsiteY29" fmla="*/ 291695 h 848873"/>
              <a:gd name="connsiteX30" fmla="*/ 275368 w 914399"/>
              <a:gd name="connsiteY30" fmla="*/ 279937 h 848873"/>
              <a:gd name="connsiteX31" fmla="*/ 487638 w 914399"/>
              <a:gd name="connsiteY31" fmla="*/ 437485 h 848873"/>
              <a:gd name="connsiteX32" fmla="*/ 718573 w 914399"/>
              <a:gd name="connsiteY32" fmla="*/ 129444 h 848873"/>
              <a:gd name="connsiteX33" fmla="*/ 746561 w 914399"/>
              <a:gd name="connsiteY33" fmla="*/ 124741 h 848873"/>
              <a:gd name="connsiteX34" fmla="*/ 760557 w 914399"/>
              <a:gd name="connsiteY34" fmla="*/ 157662 h 848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14399" h="848873">
                <a:moveTo>
                  <a:pt x="807213" y="115"/>
                </a:moveTo>
                <a:lnTo>
                  <a:pt x="105083" y="115"/>
                </a:lnTo>
                <a:cubicBezTo>
                  <a:pt x="46767" y="115"/>
                  <a:pt x="114" y="47143"/>
                  <a:pt x="114" y="105930"/>
                </a:cubicBezTo>
                <a:lnTo>
                  <a:pt x="114" y="562112"/>
                </a:lnTo>
                <a:cubicBezTo>
                  <a:pt x="114" y="620898"/>
                  <a:pt x="46767" y="667926"/>
                  <a:pt x="105083" y="667926"/>
                </a:cubicBezTo>
                <a:lnTo>
                  <a:pt x="368675" y="667926"/>
                </a:lnTo>
                <a:lnTo>
                  <a:pt x="368675" y="797257"/>
                </a:lnTo>
                <a:lnTo>
                  <a:pt x="224049" y="797257"/>
                </a:lnTo>
                <a:cubicBezTo>
                  <a:pt x="210053" y="797257"/>
                  <a:pt x="198390" y="809014"/>
                  <a:pt x="198390" y="823121"/>
                </a:cubicBezTo>
                <a:cubicBezTo>
                  <a:pt x="198390" y="837232"/>
                  <a:pt x="210053" y="848989"/>
                  <a:pt x="224049" y="848989"/>
                </a:cubicBezTo>
                <a:lnTo>
                  <a:pt x="669586" y="848989"/>
                </a:lnTo>
                <a:cubicBezTo>
                  <a:pt x="683582" y="848989"/>
                  <a:pt x="695245" y="837232"/>
                  <a:pt x="695245" y="823121"/>
                </a:cubicBezTo>
                <a:cubicBezTo>
                  <a:pt x="695245" y="809014"/>
                  <a:pt x="683582" y="797257"/>
                  <a:pt x="669586" y="797257"/>
                </a:cubicBezTo>
                <a:lnTo>
                  <a:pt x="527295" y="797257"/>
                </a:lnTo>
                <a:lnTo>
                  <a:pt x="527295" y="667926"/>
                </a:lnTo>
                <a:lnTo>
                  <a:pt x="809544" y="667926"/>
                </a:lnTo>
                <a:cubicBezTo>
                  <a:pt x="867862" y="667926"/>
                  <a:pt x="914514" y="620898"/>
                  <a:pt x="914514" y="562112"/>
                </a:cubicBezTo>
                <a:lnTo>
                  <a:pt x="914514" y="105930"/>
                </a:lnTo>
                <a:cubicBezTo>
                  <a:pt x="912180" y="49495"/>
                  <a:pt x="865528" y="115"/>
                  <a:pt x="807213" y="115"/>
                </a:cubicBezTo>
                <a:moveTo>
                  <a:pt x="760557" y="157662"/>
                </a:moveTo>
                <a:cubicBezTo>
                  <a:pt x="760557" y="157662"/>
                  <a:pt x="760557" y="160013"/>
                  <a:pt x="760557" y="157662"/>
                </a:cubicBezTo>
                <a:lnTo>
                  <a:pt x="760557" y="160013"/>
                </a:lnTo>
                <a:lnTo>
                  <a:pt x="499303" y="510381"/>
                </a:lnTo>
                <a:lnTo>
                  <a:pt x="492305" y="505677"/>
                </a:lnTo>
                <a:lnTo>
                  <a:pt x="287030" y="355185"/>
                </a:lnTo>
                <a:lnTo>
                  <a:pt x="214718" y="449242"/>
                </a:lnTo>
                <a:cubicBezTo>
                  <a:pt x="207721" y="460999"/>
                  <a:pt x="193724" y="465703"/>
                  <a:pt x="182061" y="460999"/>
                </a:cubicBezTo>
                <a:cubicBezTo>
                  <a:pt x="168065" y="456296"/>
                  <a:pt x="161067" y="439835"/>
                  <a:pt x="165733" y="425728"/>
                </a:cubicBezTo>
                <a:cubicBezTo>
                  <a:pt x="165733" y="423378"/>
                  <a:pt x="165733" y="423378"/>
                  <a:pt x="168065" y="421024"/>
                </a:cubicBezTo>
                <a:lnTo>
                  <a:pt x="266036" y="291695"/>
                </a:lnTo>
                <a:lnTo>
                  <a:pt x="275368" y="279937"/>
                </a:lnTo>
                <a:lnTo>
                  <a:pt x="487638" y="437485"/>
                </a:lnTo>
                <a:lnTo>
                  <a:pt x="718573" y="129444"/>
                </a:lnTo>
                <a:cubicBezTo>
                  <a:pt x="725571" y="122390"/>
                  <a:pt x="737233" y="120039"/>
                  <a:pt x="746561" y="124741"/>
                </a:cubicBezTo>
                <a:cubicBezTo>
                  <a:pt x="760557" y="129444"/>
                  <a:pt x="767555" y="143553"/>
                  <a:pt x="760557" y="157662"/>
                </a:cubicBezTo>
              </a:path>
            </a:pathLst>
          </a:custGeom>
          <a:solidFill>
            <a:srgbClr val="376FFF"/>
          </a:solidFill>
          <a:ln w="32687" cap="flat">
            <a:noFill/>
            <a:prstDash val="solid"/>
            <a:miter/>
          </a:ln>
        </p:spPr>
        <p:txBody>
          <a:bodyPr rtlCol="0" anchor="ctr"/>
          <a:p>
            <a:endParaRPr lang="en-US" dirty="0">
              <a:solidFill>
                <a:srgbClr val="376FFF"/>
              </a:solidFill>
              <a:latin typeface="Arial" panose="020B0604020202020204" pitchFamily="34" charset="0"/>
              <a:sym typeface="Arial" panose="020B0604020202020204" pitchFamily="34" charset="0"/>
            </a:endParaRPr>
          </a:p>
        </p:txBody>
      </p:sp>
      <p:sp>
        <p:nvSpPr>
          <p:cNvPr id="4" name="矩形 1"/>
          <p:cNvSpPr/>
          <p:nvPr>
            <p:custDataLst>
              <p:tags r:id="rId11"/>
            </p:custDataLst>
          </p:nvPr>
        </p:nvSpPr>
        <p:spPr>
          <a:xfrm>
            <a:off x="5662513" y="691636"/>
            <a:ext cx="5954785" cy="809093"/>
          </a:xfrm>
          <a:prstGeom prst="rect">
            <a:avLst/>
          </a:prstGeom>
          <a:solidFill>
            <a:srgbClr val="1D1C1C"/>
          </a:solidFill>
          <a:effectLst>
            <a:outerShdw blurRad="50800" dist="38100" dir="8100000" algn="tr" rotWithShape="0">
              <a:schemeClr val="tx1">
                <a:lumMod val="75000"/>
                <a:lumOff val="25000"/>
                <a:alpha val="40000"/>
              </a:schemeClr>
            </a:outerShdw>
          </a:effectLst>
        </p:spPr>
        <p:txBody>
          <a:bodyPr wrap="square" lIns="0" tIns="0" rIns="0" bIns="0" rtlCol="0" anchor="ctr">
            <a:noAutofit/>
          </a:bodyPr>
          <a:p>
            <a:pPr algn="l">
              <a:lnSpc>
                <a:spcPct val="100000"/>
              </a:lnSpc>
              <a:spcBef>
                <a:spcPts val="0"/>
              </a:spcBef>
              <a:spcAft>
                <a:spcPts val="0"/>
              </a:spcAft>
            </a:pPr>
            <a:r>
              <a:rPr lang="en-US" altLang="en-US" sz="2000" kern="0">
                <a:solidFill>
                  <a:schemeClr val="bg1"/>
                </a:solidFill>
                <a:latin typeface="Arial" panose="020B0604020202020204" pitchFamily="34" charset="0"/>
              </a:rPr>
              <a:t>Are we spending within budget, and how is budget performance changing over time?</a:t>
            </a:r>
            <a:endParaRPr lang="en-US" altLang="en-US" sz="2000" kern="0">
              <a:solidFill>
                <a:schemeClr val="bg1"/>
              </a:solidFill>
              <a:latin typeface="Arial" panose="020B0604020202020204" pitchFamily="34" charset="0"/>
            </a:endParaRPr>
          </a:p>
        </p:txBody>
      </p:sp>
      <p:sp>
        <p:nvSpPr>
          <p:cNvPr id="6" name="矩形 2"/>
          <p:cNvSpPr/>
          <p:nvPr>
            <p:custDataLst>
              <p:tags r:id="rId12"/>
            </p:custDataLst>
          </p:nvPr>
        </p:nvSpPr>
        <p:spPr>
          <a:xfrm>
            <a:off x="5662513" y="1723404"/>
            <a:ext cx="5954785" cy="809093"/>
          </a:xfrm>
          <a:prstGeom prst="rect">
            <a:avLst/>
          </a:prstGeom>
          <a:solidFill>
            <a:srgbClr val="1D1C1C"/>
          </a:solidFill>
          <a:effectLst>
            <a:outerShdw blurRad="50800" dist="38100" dir="8100000" algn="tr" rotWithShape="0">
              <a:schemeClr val="tx1">
                <a:lumMod val="75000"/>
                <a:lumOff val="25000"/>
                <a:alpha val="40000"/>
              </a:schemeClr>
            </a:outerShdw>
          </a:effectLst>
        </p:spPr>
        <p:txBody>
          <a:bodyPr wrap="square" lIns="0" tIns="0" rIns="0" bIns="0" rtlCol="0" anchor="ctr">
            <a:normAutofit/>
          </a:bodyPr>
          <a:p>
            <a:pPr algn="l">
              <a:lnSpc>
                <a:spcPct val="100000"/>
              </a:lnSpc>
              <a:spcBef>
                <a:spcPts val="0"/>
              </a:spcBef>
              <a:spcAft>
                <a:spcPts val="0"/>
              </a:spcAft>
            </a:pPr>
            <a:r>
              <a:rPr lang="en-US" altLang="en-US" sz="2000" kern="0" dirty="0">
                <a:solidFill>
                  <a:schemeClr val="bg1"/>
                </a:solidFill>
                <a:latin typeface="Arial" panose="020B0604020202020204" pitchFamily="34" charset="0"/>
              </a:rPr>
              <a:t>Which departments are overspending or underspending the most?</a:t>
            </a:r>
            <a:endParaRPr lang="en-US" altLang="en-US" sz="2000" kern="0" dirty="0">
              <a:solidFill>
                <a:schemeClr val="bg1"/>
              </a:solidFill>
              <a:latin typeface="Arial" panose="020B0604020202020204" pitchFamily="34" charset="0"/>
            </a:endParaRPr>
          </a:p>
        </p:txBody>
      </p:sp>
      <p:sp>
        <p:nvSpPr>
          <p:cNvPr id="7" name="矩形 4"/>
          <p:cNvSpPr/>
          <p:nvPr>
            <p:custDataLst>
              <p:tags r:id="rId13"/>
            </p:custDataLst>
          </p:nvPr>
        </p:nvSpPr>
        <p:spPr>
          <a:xfrm>
            <a:off x="5662513" y="2737191"/>
            <a:ext cx="5954785" cy="809093"/>
          </a:xfrm>
          <a:prstGeom prst="rect">
            <a:avLst/>
          </a:prstGeom>
          <a:solidFill>
            <a:srgbClr val="1D1C1C"/>
          </a:solidFill>
          <a:effectLst>
            <a:outerShdw blurRad="50800" dist="38100" dir="8100000" algn="tr" rotWithShape="0">
              <a:schemeClr val="tx1">
                <a:lumMod val="75000"/>
                <a:lumOff val="25000"/>
                <a:alpha val="40000"/>
              </a:schemeClr>
            </a:outerShdw>
          </a:effectLst>
        </p:spPr>
        <p:txBody>
          <a:bodyPr wrap="square" lIns="0" tIns="0" rIns="0" bIns="0" rtlCol="0" anchor="ctr">
            <a:noAutofit/>
          </a:bodyPr>
          <a:p>
            <a:pPr indent="0" algn="just" fontAlgn="auto">
              <a:lnSpc>
                <a:spcPct val="100000"/>
              </a:lnSpc>
              <a:spcBef>
                <a:spcPct val="0"/>
              </a:spcBef>
              <a:spcAft>
                <a:spcPct val="0"/>
              </a:spcAft>
            </a:pPr>
            <a:r>
              <a:rPr lang="en-US" altLang="en-US" sz="2000" kern="0">
                <a:solidFill>
                  <a:schemeClr val="bg1"/>
                </a:solidFill>
                <a:latin typeface="Arial" panose="020B0604020202020204" pitchFamily="34" charset="0"/>
              </a:rPr>
              <a:t>Which expense categories are contributing most to overspending?</a:t>
            </a:r>
            <a:endParaRPr lang="en-US" altLang="en-US" sz="2000" kern="0">
              <a:solidFill>
                <a:schemeClr val="bg1"/>
              </a:solidFill>
              <a:latin typeface="Arial" panose="020B0604020202020204" pitchFamily="34" charset="0"/>
            </a:endParaRPr>
          </a:p>
        </p:txBody>
      </p:sp>
      <p:sp>
        <p:nvSpPr>
          <p:cNvPr id="8" name="矩形 6"/>
          <p:cNvSpPr/>
          <p:nvPr>
            <p:custDataLst>
              <p:tags r:id="rId14"/>
            </p:custDataLst>
          </p:nvPr>
        </p:nvSpPr>
        <p:spPr>
          <a:xfrm>
            <a:off x="5662513" y="4801415"/>
            <a:ext cx="5954785" cy="809093"/>
          </a:xfrm>
          <a:prstGeom prst="rect">
            <a:avLst/>
          </a:prstGeom>
          <a:solidFill>
            <a:srgbClr val="1D1C1C"/>
          </a:solidFill>
          <a:effectLst>
            <a:outerShdw blurRad="50800" dist="38100" dir="8100000" algn="tr" rotWithShape="0">
              <a:schemeClr val="tx1">
                <a:lumMod val="75000"/>
                <a:lumOff val="25000"/>
                <a:alpha val="40000"/>
              </a:schemeClr>
            </a:outerShdw>
          </a:effectLst>
        </p:spPr>
        <p:txBody>
          <a:bodyPr wrap="square" lIns="0" tIns="0" rIns="0" bIns="0" rtlCol="0" anchor="ctr">
            <a:noAutofit/>
          </a:bodyPr>
          <a:p>
            <a:pPr algn="just">
              <a:lnSpc>
                <a:spcPct val="100000"/>
              </a:lnSpc>
              <a:spcBef>
                <a:spcPts val="0"/>
              </a:spcBef>
              <a:spcAft>
                <a:spcPts val="0"/>
              </a:spcAft>
            </a:pPr>
            <a:r>
              <a:rPr lang="en-US" altLang="en-US" sz="2000" kern="0">
                <a:solidFill>
                  <a:schemeClr val="bg1"/>
                </a:solidFill>
                <a:latin typeface="Arial" panose="020B0604020202020204" pitchFamily="34" charset="0"/>
              </a:rPr>
              <a:t>What actions should management take to improve budget performance?</a:t>
            </a:r>
            <a:endParaRPr lang="en-US" altLang="en-US" sz="2000" kern="0">
              <a:solidFill>
                <a:schemeClr val="bg1"/>
              </a:solidFill>
              <a:latin typeface="Arial" panose="020B0604020202020204" pitchFamily="34" charset="0"/>
            </a:endParaRPr>
          </a:p>
        </p:txBody>
      </p:sp>
      <p:sp>
        <p:nvSpPr>
          <p:cNvPr id="9" name="矩形 7"/>
          <p:cNvSpPr/>
          <p:nvPr>
            <p:custDataLst>
              <p:tags r:id="rId15"/>
            </p:custDataLst>
          </p:nvPr>
        </p:nvSpPr>
        <p:spPr>
          <a:xfrm>
            <a:off x="5662513" y="3739913"/>
            <a:ext cx="5954785" cy="809093"/>
          </a:xfrm>
          <a:prstGeom prst="rect">
            <a:avLst/>
          </a:prstGeom>
          <a:solidFill>
            <a:srgbClr val="1D1C1C"/>
          </a:solidFill>
          <a:effectLst>
            <a:outerShdw blurRad="50800" dist="38100" dir="8100000" algn="tr" rotWithShape="0">
              <a:schemeClr val="tx1">
                <a:lumMod val="75000"/>
                <a:lumOff val="25000"/>
                <a:alpha val="40000"/>
              </a:schemeClr>
            </a:outerShdw>
          </a:effectLst>
        </p:spPr>
        <p:txBody>
          <a:bodyPr wrap="square" lIns="0" tIns="0" rIns="0" bIns="0" rtlCol="0" anchor="ctr">
            <a:noAutofit/>
          </a:bodyPr>
          <a:p>
            <a:pPr algn="just">
              <a:lnSpc>
                <a:spcPct val="100000"/>
              </a:lnSpc>
              <a:spcBef>
                <a:spcPts val="0"/>
              </a:spcBef>
              <a:spcAft>
                <a:spcPts val="0"/>
              </a:spcAft>
            </a:pPr>
            <a:r>
              <a:rPr lang="en-US" altLang="en-US" sz="2000" kern="0">
                <a:solidFill>
                  <a:schemeClr val="bg1"/>
                </a:solidFill>
                <a:latin typeface="Arial" panose="020B0604020202020204" pitchFamily="34" charset="0"/>
              </a:rPr>
              <a:t>Which regions have the best and worst budget performance?</a:t>
            </a:r>
            <a:endParaRPr lang="en-US" altLang="en-US" sz="2000" kern="0">
              <a:solidFill>
                <a:schemeClr val="bg1"/>
              </a:solidFill>
              <a:latin typeface="Arial" panose="020B0604020202020204" pitchFamily="34" charset="0"/>
            </a:endParaRPr>
          </a:p>
        </p:txBody>
      </p:sp>
      <p:sp>
        <p:nvSpPr>
          <p:cNvPr id="60" name="任意多边形: 形状 59"/>
          <p:cNvSpPr/>
          <p:nvPr>
            <p:custDataLst>
              <p:tags r:id="rId16"/>
            </p:custDataLst>
          </p:nvPr>
        </p:nvSpPr>
        <p:spPr>
          <a:xfrm>
            <a:off x="4482759" y="2909178"/>
            <a:ext cx="517266" cy="517266"/>
          </a:xfrm>
          <a:custGeom>
            <a:avLst/>
            <a:gdLst>
              <a:gd name="connsiteX0" fmla="*/ 263520 w 527807"/>
              <a:gd name="connsiteY0" fmla="*/ 527424 h 527807"/>
              <a:gd name="connsiteX1" fmla="*/ -384 w 527807"/>
              <a:gd name="connsiteY1" fmla="*/ 263520 h 527807"/>
              <a:gd name="connsiteX2" fmla="*/ 263520 w 527807"/>
              <a:gd name="connsiteY2" fmla="*/ -384 h 527807"/>
              <a:gd name="connsiteX3" fmla="*/ 527424 w 527807"/>
              <a:gd name="connsiteY3" fmla="*/ 263520 h 527807"/>
              <a:gd name="connsiteX4" fmla="*/ 263520 w 527807"/>
              <a:gd name="connsiteY4" fmla="*/ 527424 h 527807"/>
              <a:gd name="connsiteX5" fmla="*/ 384907 w 527807"/>
              <a:gd name="connsiteY5" fmla="*/ 395472 h 527807"/>
              <a:gd name="connsiteX6" fmla="*/ 395468 w 527807"/>
              <a:gd name="connsiteY6" fmla="*/ 384335 h 527807"/>
              <a:gd name="connsiteX7" fmla="*/ 395468 w 527807"/>
              <a:gd name="connsiteY7" fmla="*/ 221969 h 527807"/>
              <a:gd name="connsiteX8" fmla="*/ 372731 w 527807"/>
              <a:gd name="connsiteY8" fmla="*/ 216107 h 527807"/>
              <a:gd name="connsiteX9" fmla="*/ 293370 w 527807"/>
              <a:gd name="connsiteY9" fmla="*/ 314583 h 527807"/>
              <a:gd name="connsiteX10" fmla="*/ 276355 w 527807"/>
              <a:gd name="connsiteY10" fmla="*/ 308720 h 527807"/>
              <a:gd name="connsiteX11" fmla="*/ 244523 w 527807"/>
              <a:gd name="connsiteY11" fmla="*/ 280145 h 527807"/>
              <a:gd name="connsiteX12" fmla="*/ 230000 w 527807"/>
              <a:gd name="connsiteY12" fmla="*/ 287325 h 527807"/>
              <a:gd name="connsiteX13" fmla="*/ 192887 w 527807"/>
              <a:gd name="connsiteY13" fmla="*/ 333632 h 527807"/>
              <a:gd name="connsiteX14" fmla="*/ 178364 w 527807"/>
              <a:gd name="connsiteY14" fmla="*/ 329089 h 527807"/>
              <a:gd name="connsiteX15" fmla="*/ 146092 w 527807"/>
              <a:gd name="connsiteY15" fmla="*/ 302859 h 527807"/>
              <a:gd name="connsiteX16" fmla="*/ 134796 w 527807"/>
              <a:gd name="connsiteY16" fmla="*/ 314436 h 527807"/>
              <a:gd name="connsiteX17" fmla="*/ 134796 w 527807"/>
              <a:gd name="connsiteY17" fmla="*/ 384188 h 527807"/>
              <a:gd name="connsiteX18" fmla="*/ 145797 w 527807"/>
              <a:gd name="connsiteY18" fmla="*/ 395472 h 527807"/>
              <a:gd name="connsiteX19" fmla="*/ 384907 w 527807"/>
              <a:gd name="connsiteY19" fmla="*/ 395472 h 527807"/>
              <a:gd name="connsiteX20" fmla="*/ 291904 w 527807"/>
              <a:gd name="connsiteY20" fmla="*/ 274576 h 527807"/>
              <a:gd name="connsiteX21" fmla="*/ 389454 w 527807"/>
              <a:gd name="connsiteY21" fmla="*/ 145329 h 527807"/>
              <a:gd name="connsiteX22" fmla="*/ 381386 w 527807"/>
              <a:gd name="connsiteY22" fmla="*/ 132140 h 527807"/>
              <a:gd name="connsiteX23" fmla="*/ 313615 w 527807"/>
              <a:gd name="connsiteY23" fmla="*/ 146940 h 527807"/>
              <a:gd name="connsiteX24" fmla="*/ 309067 w 527807"/>
              <a:gd name="connsiteY24" fmla="*/ 165991 h 527807"/>
              <a:gd name="connsiteX25" fmla="*/ 322122 w 527807"/>
              <a:gd name="connsiteY25" fmla="*/ 177128 h 527807"/>
              <a:gd name="connsiteX26" fmla="*/ 275328 w 527807"/>
              <a:gd name="connsiteY26" fmla="*/ 237648 h 527807"/>
              <a:gd name="connsiteX27" fmla="*/ 239094 w 527807"/>
              <a:gd name="connsiteY27" fmla="*/ 206290 h 527807"/>
              <a:gd name="connsiteX28" fmla="*/ 225892 w 527807"/>
              <a:gd name="connsiteY28" fmla="*/ 202187 h 527807"/>
              <a:gd name="connsiteX29" fmla="*/ 213863 w 527807"/>
              <a:gd name="connsiteY29" fmla="*/ 209220 h 527807"/>
              <a:gd name="connsiteX30" fmla="*/ 177631 w 527807"/>
              <a:gd name="connsiteY30" fmla="*/ 258457 h 527807"/>
              <a:gd name="connsiteX31" fmla="*/ 160175 w 527807"/>
              <a:gd name="connsiteY31" fmla="*/ 243803 h 527807"/>
              <a:gd name="connsiteX32" fmla="*/ 135529 w 527807"/>
              <a:gd name="connsiteY32" fmla="*/ 246295 h 527807"/>
              <a:gd name="connsiteX33" fmla="*/ 138023 w 527807"/>
              <a:gd name="connsiteY33" fmla="*/ 271792 h 527807"/>
              <a:gd name="connsiteX34" fmla="*/ 169562 w 527807"/>
              <a:gd name="connsiteY34" fmla="*/ 298316 h 527807"/>
              <a:gd name="connsiteX35" fmla="*/ 180712 w 527807"/>
              <a:gd name="connsiteY35" fmla="*/ 302419 h 527807"/>
              <a:gd name="connsiteX36" fmla="*/ 182765 w 527807"/>
              <a:gd name="connsiteY36" fmla="*/ 302273 h 527807"/>
              <a:gd name="connsiteX37" fmla="*/ 194646 w 527807"/>
              <a:gd name="connsiteY37" fmla="*/ 295238 h 527807"/>
              <a:gd name="connsiteX38" fmla="*/ 230733 w 527807"/>
              <a:gd name="connsiteY38" fmla="*/ 246148 h 527807"/>
              <a:gd name="connsiteX39" fmla="*/ 266672 w 527807"/>
              <a:gd name="connsiteY39" fmla="*/ 277362 h 527807"/>
              <a:gd name="connsiteX40" fmla="*/ 279874 w 527807"/>
              <a:gd name="connsiteY40" fmla="*/ 281465 h 527807"/>
              <a:gd name="connsiteX41" fmla="*/ 291904 w 527807"/>
              <a:gd name="connsiteY41" fmla="*/ 274576 h 527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27807" h="527807">
                <a:moveTo>
                  <a:pt x="263520" y="527424"/>
                </a:moveTo>
                <a:cubicBezTo>
                  <a:pt x="117770" y="527424"/>
                  <a:pt x="-384" y="409270"/>
                  <a:pt x="-384" y="263520"/>
                </a:cubicBezTo>
                <a:cubicBezTo>
                  <a:pt x="-384" y="117770"/>
                  <a:pt x="117770" y="-384"/>
                  <a:pt x="263520" y="-384"/>
                </a:cubicBezTo>
                <a:cubicBezTo>
                  <a:pt x="409270" y="-384"/>
                  <a:pt x="527424" y="117770"/>
                  <a:pt x="527424" y="263520"/>
                </a:cubicBezTo>
                <a:cubicBezTo>
                  <a:pt x="527424" y="409270"/>
                  <a:pt x="409270" y="527424"/>
                  <a:pt x="263520" y="527424"/>
                </a:cubicBezTo>
                <a:moveTo>
                  <a:pt x="384907" y="395472"/>
                </a:moveTo>
                <a:cubicBezTo>
                  <a:pt x="390628" y="395472"/>
                  <a:pt x="395615" y="390049"/>
                  <a:pt x="395468" y="384335"/>
                </a:cubicBezTo>
                <a:lnTo>
                  <a:pt x="395468" y="221969"/>
                </a:lnTo>
                <a:cubicBezTo>
                  <a:pt x="395468" y="206436"/>
                  <a:pt x="383440" y="203504"/>
                  <a:pt x="372731" y="216107"/>
                </a:cubicBezTo>
                <a:lnTo>
                  <a:pt x="293370" y="314583"/>
                </a:lnTo>
                <a:cubicBezTo>
                  <a:pt x="289850" y="319124"/>
                  <a:pt x="280755" y="312531"/>
                  <a:pt x="276355" y="308720"/>
                </a:cubicBezTo>
                <a:lnTo>
                  <a:pt x="244523" y="280145"/>
                </a:lnTo>
                <a:cubicBezTo>
                  <a:pt x="240121" y="276336"/>
                  <a:pt x="233666" y="282783"/>
                  <a:pt x="230000" y="287325"/>
                </a:cubicBezTo>
                <a:lnTo>
                  <a:pt x="192887" y="333632"/>
                </a:lnTo>
                <a:cubicBezTo>
                  <a:pt x="189218" y="338176"/>
                  <a:pt x="182765" y="332900"/>
                  <a:pt x="178364" y="329089"/>
                </a:cubicBezTo>
                <a:lnTo>
                  <a:pt x="146092" y="302859"/>
                </a:lnTo>
                <a:cubicBezTo>
                  <a:pt x="140371" y="297143"/>
                  <a:pt x="134796" y="303152"/>
                  <a:pt x="134796" y="314436"/>
                </a:cubicBezTo>
                <a:lnTo>
                  <a:pt x="134796" y="384188"/>
                </a:lnTo>
                <a:cubicBezTo>
                  <a:pt x="134796" y="390049"/>
                  <a:pt x="140077" y="395472"/>
                  <a:pt x="145797" y="395472"/>
                </a:cubicBezTo>
                <a:lnTo>
                  <a:pt x="384907" y="395472"/>
                </a:lnTo>
                <a:moveTo>
                  <a:pt x="291904" y="274576"/>
                </a:moveTo>
                <a:lnTo>
                  <a:pt x="389454" y="145329"/>
                </a:lnTo>
                <a:cubicBezTo>
                  <a:pt x="396789" y="135511"/>
                  <a:pt x="393121" y="129649"/>
                  <a:pt x="381386" y="132140"/>
                </a:cubicBezTo>
                <a:lnTo>
                  <a:pt x="313615" y="146940"/>
                </a:lnTo>
                <a:cubicBezTo>
                  <a:pt x="301879" y="149579"/>
                  <a:pt x="299825" y="158079"/>
                  <a:pt x="309067" y="165991"/>
                </a:cubicBezTo>
                <a:lnTo>
                  <a:pt x="322122" y="177128"/>
                </a:lnTo>
                <a:lnTo>
                  <a:pt x="275328" y="237648"/>
                </a:lnTo>
                <a:lnTo>
                  <a:pt x="239094" y="206290"/>
                </a:lnTo>
                <a:cubicBezTo>
                  <a:pt x="235426" y="203212"/>
                  <a:pt x="230733" y="201600"/>
                  <a:pt x="225892" y="202187"/>
                </a:cubicBezTo>
                <a:cubicBezTo>
                  <a:pt x="221198" y="202772"/>
                  <a:pt x="216798" y="205264"/>
                  <a:pt x="213863" y="209220"/>
                </a:cubicBezTo>
                <a:lnTo>
                  <a:pt x="177631" y="258457"/>
                </a:lnTo>
                <a:lnTo>
                  <a:pt x="160175" y="243803"/>
                </a:lnTo>
                <a:cubicBezTo>
                  <a:pt x="152693" y="237356"/>
                  <a:pt x="141690" y="238528"/>
                  <a:pt x="135529" y="246295"/>
                </a:cubicBezTo>
                <a:cubicBezTo>
                  <a:pt x="129368" y="254061"/>
                  <a:pt x="130542" y="265491"/>
                  <a:pt x="138023" y="271792"/>
                </a:cubicBezTo>
                <a:lnTo>
                  <a:pt x="169562" y="298316"/>
                </a:lnTo>
                <a:cubicBezTo>
                  <a:pt x="172789" y="300954"/>
                  <a:pt x="176750" y="302419"/>
                  <a:pt x="180712" y="302419"/>
                </a:cubicBezTo>
                <a:cubicBezTo>
                  <a:pt x="181444" y="302419"/>
                  <a:pt x="182031" y="302419"/>
                  <a:pt x="182765" y="302273"/>
                </a:cubicBezTo>
                <a:cubicBezTo>
                  <a:pt x="187459" y="301687"/>
                  <a:pt x="191713" y="299195"/>
                  <a:pt x="194646" y="295238"/>
                </a:cubicBezTo>
                <a:lnTo>
                  <a:pt x="230733" y="246148"/>
                </a:lnTo>
                <a:lnTo>
                  <a:pt x="266672" y="277362"/>
                </a:lnTo>
                <a:cubicBezTo>
                  <a:pt x="270341" y="280438"/>
                  <a:pt x="275181" y="282050"/>
                  <a:pt x="279874" y="281465"/>
                </a:cubicBezTo>
                <a:cubicBezTo>
                  <a:pt x="284570" y="280878"/>
                  <a:pt x="288971" y="278387"/>
                  <a:pt x="291904" y="274576"/>
                </a:cubicBezTo>
              </a:path>
            </a:pathLst>
          </a:custGeom>
          <a:solidFill>
            <a:srgbClr val="FFFFFF"/>
          </a:solidFill>
          <a:ln w="682" cap="flat">
            <a:noFill/>
            <a:prstDash val="solid"/>
            <a:miter/>
          </a:ln>
        </p:spPr>
        <p:txBody>
          <a:bodyPr rtlCol="0" anchor="ctr"/>
          <a:p>
            <a:endParaRPr lang="en-US">
              <a:latin typeface="Arial" panose="020B0604020202020204" pitchFamily="34" charset="0"/>
              <a:sym typeface="Arial" panose="020B0604020202020204" pitchFamily="34" charset="0"/>
            </a:endParaRPr>
          </a:p>
        </p:txBody>
      </p:sp>
      <p:sp>
        <p:nvSpPr>
          <p:cNvPr id="19" name="矩形 8"/>
          <p:cNvSpPr/>
          <p:nvPr>
            <p:custDataLst>
              <p:tags r:id="rId17"/>
            </p:custDataLst>
          </p:nvPr>
        </p:nvSpPr>
        <p:spPr>
          <a:xfrm>
            <a:off x="444500" y="3564890"/>
            <a:ext cx="1586865" cy="746760"/>
          </a:xfrm>
          <a:prstGeom prst="rect">
            <a:avLst/>
          </a:prstGeom>
          <a:noFill/>
        </p:spPr>
        <p:txBody>
          <a:bodyPr wrap="square" lIns="0" tIns="0" rIns="0" bIns="0" rtlCol="0" anchor="t" anchorCtr="0">
            <a:normAutofit/>
          </a:bodyPr>
          <a:p>
            <a:pPr algn="ctr">
              <a:spcBef>
                <a:spcPct val="0"/>
              </a:spcBef>
              <a:spcAft>
                <a:spcPct val="0"/>
              </a:spcAft>
            </a:pPr>
            <a:r>
              <a:rPr lang="en-US" sz="2400" b="1" kern="0">
                <a:solidFill>
                  <a:schemeClr val="accent1">
                    <a:lumMod val="20000"/>
                    <a:lumOff val="80000"/>
                  </a:schemeClr>
                </a:solidFill>
                <a:latin typeface="Arial" panose="020B0604020202020204" pitchFamily="34" charset="0"/>
              </a:rPr>
              <a:t>Business Qestions</a:t>
            </a:r>
            <a:endParaRPr lang="en-US" sz="2400" b="1" kern="0">
              <a:solidFill>
                <a:schemeClr val="accent1">
                  <a:lumMod val="20000"/>
                  <a:lumOff val="80000"/>
                </a:schemeClr>
              </a:solidFill>
              <a:latin typeface="Arial" panose="020B0604020202020204" pitchFamily="34" charset="0"/>
            </a:endParaRPr>
          </a:p>
        </p:txBody>
      </p:sp>
      <p:sp>
        <p:nvSpPr>
          <p:cNvPr id="20" name="任意多边形: 形状 5"/>
          <p:cNvSpPr/>
          <p:nvPr>
            <p:custDataLst>
              <p:tags r:id="rId18"/>
            </p:custDataLst>
          </p:nvPr>
        </p:nvSpPr>
        <p:spPr>
          <a:xfrm>
            <a:off x="4482759" y="879733"/>
            <a:ext cx="518649" cy="518649"/>
          </a:xfrm>
          <a:custGeom>
            <a:avLst/>
            <a:gdLst>
              <a:gd name="connsiteX0" fmla="*/ 456816 w 914399"/>
              <a:gd name="connsiteY0" fmla="*/ 914015 h 914399"/>
              <a:gd name="connsiteX1" fmla="*/ -384 w 914399"/>
              <a:gd name="connsiteY1" fmla="*/ 456816 h 914399"/>
              <a:gd name="connsiteX2" fmla="*/ 456816 w 914399"/>
              <a:gd name="connsiteY2" fmla="*/ -384 h 914399"/>
              <a:gd name="connsiteX3" fmla="*/ 914015 w 914399"/>
              <a:gd name="connsiteY3" fmla="*/ 456816 h 914399"/>
              <a:gd name="connsiteX4" fmla="*/ 456816 w 914399"/>
              <a:gd name="connsiteY4" fmla="*/ 914015 h 914399"/>
              <a:gd name="connsiteX5" fmla="*/ 494916 w 914399"/>
              <a:gd name="connsiteY5" fmla="*/ 676554 h 914399"/>
              <a:gd name="connsiteX6" fmla="*/ 648165 w 914399"/>
              <a:gd name="connsiteY6" fmla="*/ 546350 h 914399"/>
              <a:gd name="connsiteX7" fmla="*/ 598559 w 914399"/>
              <a:gd name="connsiteY7" fmla="*/ 459940 h 914399"/>
              <a:gd name="connsiteX8" fmla="*/ 493746 w 914399"/>
              <a:gd name="connsiteY8" fmla="*/ 420735 h 914399"/>
              <a:gd name="connsiteX9" fmla="*/ 410536 w 914399"/>
              <a:gd name="connsiteY9" fmla="*/ 395932 h 914399"/>
              <a:gd name="connsiteX10" fmla="*/ 376932 w 914399"/>
              <a:gd name="connsiteY10" fmla="*/ 359127 h 914399"/>
              <a:gd name="connsiteX11" fmla="*/ 399335 w 914399"/>
              <a:gd name="connsiteY11" fmla="*/ 322323 h 914399"/>
              <a:gd name="connsiteX12" fmla="*/ 456942 w 914399"/>
              <a:gd name="connsiteY12" fmla="*/ 311121 h 914399"/>
              <a:gd name="connsiteX13" fmla="*/ 522550 w 914399"/>
              <a:gd name="connsiteY13" fmla="*/ 325523 h 914399"/>
              <a:gd name="connsiteX14" fmla="*/ 552154 w 914399"/>
              <a:gd name="connsiteY14" fmla="*/ 371929 h 914399"/>
              <a:gd name="connsiteX15" fmla="*/ 634564 w 914399"/>
              <a:gd name="connsiteY15" fmla="*/ 371929 h 914399"/>
              <a:gd name="connsiteX16" fmla="*/ 494916 w 914399"/>
              <a:gd name="connsiteY16" fmla="*/ 243364 h 914399"/>
              <a:gd name="connsiteX17" fmla="*/ 494916 w 914399"/>
              <a:gd name="connsiteY17" fmla="*/ 190116 h 914399"/>
              <a:gd name="connsiteX18" fmla="*/ 475866 w 914399"/>
              <a:gd name="connsiteY18" fmla="*/ 171066 h 914399"/>
              <a:gd name="connsiteX19" fmla="*/ 456816 w 914399"/>
              <a:gd name="connsiteY19" fmla="*/ 171066 h 914399"/>
              <a:gd name="connsiteX20" fmla="*/ 437766 w 914399"/>
              <a:gd name="connsiteY20" fmla="*/ 190116 h 914399"/>
              <a:gd name="connsiteX21" fmla="*/ 437766 w 914399"/>
              <a:gd name="connsiteY21" fmla="*/ 242156 h 914399"/>
              <a:gd name="connsiteX22" fmla="*/ 336927 w 914399"/>
              <a:gd name="connsiteY22" fmla="*/ 273517 h 914399"/>
              <a:gd name="connsiteX23" fmla="*/ 290521 w 914399"/>
              <a:gd name="connsiteY23" fmla="*/ 361528 h 914399"/>
              <a:gd name="connsiteX24" fmla="*/ 338527 w 914399"/>
              <a:gd name="connsiteY24" fmla="*/ 444738 h 914399"/>
              <a:gd name="connsiteX25" fmla="*/ 440940 w 914399"/>
              <a:gd name="connsiteY25" fmla="*/ 480742 h 914399"/>
              <a:gd name="connsiteX26" fmla="*/ 524150 w 914399"/>
              <a:gd name="connsiteY26" fmla="*/ 504745 h 914399"/>
              <a:gd name="connsiteX27" fmla="*/ 560955 w 914399"/>
              <a:gd name="connsiteY27" fmla="*/ 551951 h 914399"/>
              <a:gd name="connsiteX28" fmla="*/ 461742 w 914399"/>
              <a:gd name="connsiteY28" fmla="*/ 607958 h 914399"/>
              <a:gd name="connsiteX29" fmla="*/ 392934 w 914399"/>
              <a:gd name="connsiteY29" fmla="*/ 591956 h 914399"/>
              <a:gd name="connsiteX30" fmla="*/ 363330 w 914399"/>
              <a:gd name="connsiteY30" fmla="*/ 532749 h 914399"/>
              <a:gd name="connsiteX31" fmla="*/ 280120 w 914399"/>
              <a:gd name="connsiteY31" fmla="*/ 532749 h 914399"/>
              <a:gd name="connsiteX32" fmla="*/ 437766 w 914399"/>
              <a:gd name="connsiteY32" fmla="*/ 676621 h 914399"/>
              <a:gd name="connsiteX33" fmla="*/ 437766 w 914399"/>
              <a:gd name="connsiteY33" fmla="*/ 723515 h 914399"/>
              <a:gd name="connsiteX34" fmla="*/ 456816 w 914399"/>
              <a:gd name="connsiteY34" fmla="*/ 742565 h 914399"/>
              <a:gd name="connsiteX35" fmla="*/ 475866 w 914399"/>
              <a:gd name="connsiteY35" fmla="*/ 742565 h 914399"/>
              <a:gd name="connsiteX36" fmla="*/ 494916 w 914399"/>
              <a:gd name="connsiteY36" fmla="*/ 723515 h 914399"/>
              <a:gd name="connsiteX37" fmla="*/ 494916 w 914399"/>
              <a:gd name="connsiteY37" fmla="*/ 676554 h 914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14399" h="914399">
                <a:moveTo>
                  <a:pt x="456816" y="914015"/>
                </a:moveTo>
                <a:cubicBezTo>
                  <a:pt x="204312" y="914015"/>
                  <a:pt x="-384" y="709320"/>
                  <a:pt x="-384" y="456816"/>
                </a:cubicBezTo>
                <a:cubicBezTo>
                  <a:pt x="-384" y="204312"/>
                  <a:pt x="204312" y="-384"/>
                  <a:pt x="456816" y="-384"/>
                </a:cubicBezTo>
                <a:cubicBezTo>
                  <a:pt x="709320" y="-384"/>
                  <a:pt x="914015" y="204312"/>
                  <a:pt x="914015" y="456816"/>
                </a:cubicBezTo>
                <a:cubicBezTo>
                  <a:pt x="914015" y="709320"/>
                  <a:pt x="709320" y="914015"/>
                  <a:pt x="456816" y="914015"/>
                </a:cubicBezTo>
                <a:moveTo>
                  <a:pt x="494916" y="676554"/>
                </a:moveTo>
                <a:cubicBezTo>
                  <a:pt x="596879" y="669524"/>
                  <a:pt x="648165" y="625921"/>
                  <a:pt x="648165" y="546350"/>
                </a:cubicBezTo>
                <a:cubicBezTo>
                  <a:pt x="648165" y="509546"/>
                  <a:pt x="631363" y="480742"/>
                  <a:pt x="598559" y="459940"/>
                </a:cubicBezTo>
                <a:cubicBezTo>
                  <a:pt x="576157" y="445538"/>
                  <a:pt x="540952" y="431936"/>
                  <a:pt x="493746" y="420735"/>
                </a:cubicBezTo>
                <a:cubicBezTo>
                  <a:pt x="452141" y="410334"/>
                  <a:pt x="424938" y="402333"/>
                  <a:pt x="410536" y="395932"/>
                </a:cubicBezTo>
                <a:cubicBezTo>
                  <a:pt x="388133" y="385531"/>
                  <a:pt x="376932" y="373529"/>
                  <a:pt x="376932" y="359127"/>
                </a:cubicBezTo>
                <a:cubicBezTo>
                  <a:pt x="376932" y="343125"/>
                  <a:pt x="384133" y="330324"/>
                  <a:pt x="399335" y="322323"/>
                </a:cubicBezTo>
                <a:cubicBezTo>
                  <a:pt x="412136" y="314322"/>
                  <a:pt x="431339" y="311121"/>
                  <a:pt x="456942" y="311121"/>
                </a:cubicBezTo>
                <a:cubicBezTo>
                  <a:pt x="485745" y="311121"/>
                  <a:pt x="508148" y="315922"/>
                  <a:pt x="522550" y="325523"/>
                </a:cubicBezTo>
                <a:cubicBezTo>
                  <a:pt x="536152" y="334324"/>
                  <a:pt x="545753" y="349526"/>
                  <a:pt x="552154" y="371929"/>
                </a:cubicBezTo>
                <a:lnTo>
                  <a:pt x="634564" y="371929"/>
                </a:lnTo>
                <a:cubicBezTo>
                  <a:pt x="626109" y="295138"/>
                  <a:pt x="579196" y="252466"/>
                  <a:pt x="494916" y="243364"/>
                </a:cubicBezTo>
                <a:lnTo>
                  <a:pt x="494916" y="190116"/>
                </a:lnTo>
                <a:cubicBezTo>
                  <a:pt x="494916" y="179594"/>
                  <a:pt x="486387" y="171066"/>
                  <a:pt x="475866" y="171066"/>
                </a:cubicBezTo>
                <a:lnTo>
                  <a:pt x="456816" y="171066"/>
                </a:lnTo>
                <a:cubicBezTo>
                  <a:pt x="446294" y="171066"/>
                  <a:pt x="437766" y="179594"/>
                  <a:pt x="437766" y="190116"/>
                </a:cubicBezTo>
                <a:lnTo>
                  <a:pt x="437766" y="242156"/>
                </a:lnTo>
                <a:cubicBezTo>
                  <a:pt x="397440" y="244723"/>
                  <a:pt x="363660" y="255008"/>
                  <a:pt x="336927" y="273517"/>
                </a:cubicBezTo>
                <a:cubicBezTo>
                  <a:pt x="305723" y="294319"/>
                  <a:pt x="290521" y="323923"/>
                  <a:pt x="290521" y="361528"/>
                </a:cubicBezTo>
                <a:cubicBezTo>
                  <a:pt x="290521" y="396732"/>
                  <a:pt x="306523" y="424735"/>
                  <a:pt x="338527" y="444738"/>
                </a:cubicBezTo>
                <a:cubicBezTo>
                  <a:pt x="357729" y="457539"/>
                  <a:pt x="392134" y="469541"/>
                  <a:pt x="440940" y="480742"/>
                </a:cubicBezTo>
                <a:cubicBezTo>
                  <a:pt x="483345" y="490343"/>
                  <a:pt x="511349" y="498345"/>
                  <a:pt x="524150" y="504745"/>
                </a:cubicBezTo>
                <a:cubicBezTo>
                  <a:pt x="548153" y="515947"/>
                  <a:pt x="560955" y="531949"/>
                  <a:pt x="560955" y="551951"/>
                </a:cubicBezTo>
                <a:cubicBezTo>
                  <a:pt x="560955" y="588756"/>
                  <a:pt x="527351" y="607958"/>
                  <a:pt x="461742" y="607958"/>
                </a:cubicBezTo>
                <a:cubicBezTo>
                  <a:pt x="429738" y="607958"/>
                  <a:pt x="407336" y="602357"/>
                  <a:pt x="392934" y="591956"/>
                </a:cubicBezTo>
                <a:cubicBezTo>
                  <a:pt x="378532" y="580755"/>
                  <a:pt x="368131" y="560752"/>
                  <a:pt x="363330" y="532749"/>
                </a:cubicBezTo>
                <a:lnTo>
                  <a:pt x="280120" y="532749"/>
                </a:lnTo>
                <a:cubicBezTo>
                  <a:pt x="288950" y="621042"/>
                  <a:pt x="341083" y="669415"/>
                  <a:pt x="437766" y="676621"/>
                </a:cubicBezTo>
                <a:lnTo>
                  <a:pt x="437766" y="723515"/>
                </a:lnTo>
                <a:cubicBezTo>
                  <a:pt x="437766" y="734037"/>
                  <a:pt x="446294" y="742565"/>
                  <a:pt x="456816" y="742565"/>
                </a:cubicBezTo>
                <a:lnTo>
                  <a:pt x="475866" y="742565"/>
                </a:lnTo>
                <a:cubicBezTo>
                  <a:pt x="486387" y="742565"/>
                  <a:pt x="494916" y="734037"/>
                  <a:pt x="494916" y="723515"/>
                </a:cubicBezTo>
                <a:lnTo>
                  <a:pt x="494916" y="676554"/>
                </a:lnTo>
              </a:path>
            </a:pathLst>
          </a:custGeom>
          <a:solidFill>
            <a:srgbClr val="FFFFFF"/>
          </a:solidFill>
          <a:ln w="1191" cap="flat">
            <a:noFill/>
            <a:prstDash val="solid"/>
            <a:miter/>
          </a:ln>
        </p:spPr>
        <p:txBody>
          <a:bodyPr rtlCol="0" anchor="ctr"/>
          <a:p>
            <a:endParaRPr lang="en-US">
              <a:latin typeface="Arial" panose="020B0604020202020204" pitchFamily="34" charset="0"/>
              <a:sym typeface="Arial" panose="020B0604020202020204" pitchFamily="34" charset="0"/>
            </a:endParaRPr>
          </a:p>
        </p:txBody>
      </p:sp>
    </p:spTree>
    <p:custDataLst>
      <p:tags r:id="rId19"/>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half" idx="2"/>
            <p:custDataLst>
              <p:tags r:id="rId1"/>
            </p:custDataLst>
          </p:nvPr>
        </p:nvSpPr>
        <p:spPr>
          <a:xfrm>
            <a:off x="471170" y="1909445"/>
            <a:ext cx="5701030" cy="4373880"/>
          </a:xfrm>
        </p:spPr>
        <p:txBody>
          <a:bodyPr>
            <a:noAutofit/>
          </a:bodyPr>
          <a:p>
            <a:pPr marL="0" indent="0" algn="just">
              <a:buNone/>
            </a:pPr>
            <a:r>
              <a:rPr lang="en-US" altLang="en-US" sz="2100">
                <a:solidFill>
                  <a:schemeClr val="bg1"/>
                </a:solidFill>
                <a:latin typeface="Arial" panose="020B0604020202020204" pitchFamily="34" charset="0"/>
                <a:cs typeface="Arial" panose="020B0604020202020204" pitchFamily="34" charset="0"/>
              </a:rPr>
              <a:t>The original dataset contained 10,010 records and 8 columns covering transactions from January 2021 to December 2023.</a:t>
            </a:r>
            <a:endParaRPr lang="en-US" altLang="en-US" sz="2100">
              <a:solidFill>
                <a:schemeClr val="bg1"/>
              </a:solidFill>
              <a:latin typeface="Arial" panose="020B0604020202020204" pitchFamily="34" charset="0"/>
              <a:cs typeface="Arial" panose="020B0604020202020204" pitchFamily="34" charset="0"/>
            </a:endParaRPr>
          </a:p>
          <a:p>
            <a:pPr marL="0" indent="0" algn="l">
              <a:buNone/>
            </a:pPr>
            <a:r>
              <a:rPr lang="en-US" altLang="en-US" sz="2100" b="1">
                <a:solidFill>
                  <a:schemeClr val="bg1"/>
                </a:solidFill>
                <a:latin typeface="Arial" panose="020B0604020202020204" pitchFamily="34" charset="0"/>
                <a:cs typeface="Arial" panose="020B0604020202020204" pitchFamily="34" charset="0"/>
              </a:rPr>
              <a:t>Initial data quality checks identified:</a:t>
            </a:r>
            <a:endParaRPr lang="en-US" altLang="en-US" sz="2100" b="1">
              <a:solidFill>
                <a:schemeClr val="bg1"/>
              </a:solidFill>
              <a:latin typeface="Arial" panose="020B0604020202020204" pitchFamily="34" charset="0"/>
              <a:cs typeface="Arial" panose="020B0604020202020204" pitchFamily="34" charset="0"/>
            </a:endParaRPr>
          </a:p>
          <a:p>
            <a:pPr algn="l">
              <a:lnSpc>
                <a:spcPct val="100000"/>
              </a:lnSpc>
            </a:pPr>
            <a:r>
              <a:rPr lang="en-US" altLang="en-US" sz="2100">
                <a:solidFill>
                  <a:schemeClr val="bg1"/>
                </a:solidFill>
                <a:latin typeface="Arial" panose="020B0604020202020204" pitchFamily="34" charset="0"/>
                <a:cs typeface="Arial" panose="020B0604020202020204" pitchFamily="34" charset="0"/>
              </a:rPr>
              <a:t>10 exact duplicate records</a:t>
            </a:r>
            <a:endParaRPr lang="en-US" altLang="en-US" sz="2100">
              <a:solidFill>
                <a:schemeClr val="bg1"/>
              </a:solidFill>
              <a:latin typeface="Arial" panose="020B0604020202020204" pitchFamily="34" charset="0"/>
              <a:cs typeface="Arial" panose="020B0604020202020204" pitchFamily="34" charset="0"/>
            </a:endParaRPr>
          </a:p>
          <a:p>
            <a:pPr algn="l">
              <a:lnSpc>
                <a:spcPct val="100000"/>
              </a:lnSpc>
            </a:pPr>
            <a:r>
              <a:rPr lang="en-US" altLang="en-US" sz="2100">
                <a:solidFill>
                  <a:schemeClr val="bg1"/>
                </a:solidFill>
                <a:latin typeface="Arial" panose="020B0604020202020204" pitchFamily="34" charset="0"/>
                <a:cs typeface="Arial" panose="020B0604020202020204" pitchFamily="34" charset="0"/>
              </a:rPr>
              <a:t>8 missing values</a:t>
            </a:r>
            <a:endParaRPr lang="en-US" altLang="en-US" sz="2100">
              <a:solidFill>
                <a:schemeClr val="bg1"/>
              </a:solidFill>
              <a:latin typeface="Arial" panose="020B0604020202020204" pitchFamily="34" charset="0"/>
              <a:cs typeface="Arial" panose="020B0604020202020204" pitchFamily="34" charset="0"/>
            </a:endParaRPr>
          </a:p>
          <a:p>
            <a:pPr algn="l">
              <a:lnSpc>
                <a:spcPct val="100000"/>
              </a:lnSpc>
            </a:pPr>
            <a:r>
              <a:rPr lang="en-US" altLang="en-US" sz="2100">
                <a:solidFill>
                  <a:schemeClr val="bg1"/>
                </a:solidFill>
                <a:latin typeface="Arial" panose="020B0604020202020204" pitchFamily="34" charset="0"/>
                <a:cs typeface="Arial" panose="020B0604020202020204" pitchFamily="34" charset="0"/>
              </a:rPr>
              <a:t>Missing values across Region, Transaction ID, Category and Department</a:t>
            </a:r>
            <a:endParaRPr lang="en-US" altLang="en-US" sz="2100">
              <a:solidFill>
                <a:schemeClr val="bg1"/>
              </a:solidFill>
              <a:latin typeface="Arial" panose="020B0604020202020204" pitchFamily="34" charset="0"/>
              <a:cs typeface="Arial" panose="020B0604020202020204" pitchFamily="34" charset="0"/>
            </a:endParaRPr>
          </a:p>
        </p:txBody>
      </p:sp>
      <p:cxnSp>
        <p:nvCxnSpPr>
          <p:cNvPr id="7" name="Straight Connector 6"/>
          <p:cNvCxnSpPr/>
          <p:nvPr/>
        </p:nvCxnSpPr>
        <p:spPr>
          <a:xfrm>
            <a:off x="6477000" y="2009775"/>
            <a:ext cx="0" cy="4925060"/>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 name="Straight Connector 10"/>
          <p:cNvCxnSpPr/>
          <p:nvPr/>
        </p:nvCxnSpPr>
        <p:spPr>
          <a:xfrm>
            <a:off x="0" y="514350"/>
            <a:ext cx="9033510" cy="0"/>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0" y="1395095"/>
            <a:ext cx="9014460" cy="0"/>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sp>
        <p:nvSpPr>
          <p:cNvPr id="14" name="Text Placeholder 4"/>
          <p:cNvSpPr>
            <a:spLocks noGrp="1"/>
          </p:cNvSpPr>
          <p:nvPr>
            <p:custDataLst>
              <p:tags r:id="rId2"/>
            </p:custDataLst>
          </p:nvPr>
        </p:nvSpPr>
        <p:spPr>
          <a:xfrm>
            <a:off x="546735" y="609600"/>
            <a:ext cx="8983345" cy="120459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0"/>
              </a:spcAft>
            </a:pPr>
            <a:r>
              <a:rPr lang="en-US" sz="3600" b="1">
                <a:solidFill>
                  <a:schemeClr val="accent1">
                    <a:lumMod val="20000"/>
                    <a:lumOff val="80000"/>
                  </a:schemeClr>
                </a:solidFill>
                <a:latin typeface="Times New Roman" panose="02020603050405020304" charset="0"/>
                <a:cs typeface="Times New Roman" panose="02020603050405020304" charset="0"/>
              </a:rPr>
              <a:t>Data Preparaion &amp; Quality Assessment</a:t>
            </a:r>
            <a:endParaRPr lang="en-US" sz="3600" b="1">
              <a:solidFill>
                <a:schemeClr val="accent1">
                  <a:lumMod val="20000"/>
                  <a:lumOff val="80000"/>
                </a:schemeClr>
              </a:solidFill>
              <a:latin typeface="Times New Roman" panose="02020603050405020304" charset="0"/>
              <a:cs typeface="Times New Roman" panose="02020603050405020304" charset="0"/>
            </a:endParaRPr>
          </a:p>
        </p:txBody>
      </p:sp>
      <p:sp>
        <p:nvSpPr>
          <p:cNvPr id="4" name="Text Placeholder 4"/>
          <p:cNvSpPr>
            <a:spLocks noGrp="1"/>
          </p:cNvSpPr>
          <p:nvPr>
            <p:custDataLst>
              <p:tags r:id="rId3"/>
            </p:custDataLst>
          </p:nvPr>
        </p:nvSpPr>
        <p:spPr>
          <a:xfrm>
            <a:off x="6705600" y="1941830"/>
            <a:ext cx="3707765" cy="48768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0"/>
              </a:spcAft>
            </a:pPr>
            <a:r>
              <a:rPr lang="en-US" sz="2400" b="1" u="sng">
                <a:solidFill>
                  <a:schemeClr val="accent1">
                    <a:lumMod val="20000"/>
                    <a:lumOff val="80000"/>
                  </a:schemeClr>
                </a:solidFill>
                <a:latin typeface="Arial" panose="020B0604020202020204" pitchFamily="34" charset="0"/>
                <a:cs typeface="Arial" panose="020B0604020202020204" pitchFamily="34" charset="0"/>
              </a:rPr>
              <a:t>Cleaning Approach</a:t>
            </a:r>
            <a:endParaRPr lang="en-US" sz="2400" b="1" u="sng">
              <a:solidFill>
                <a:schemeClr val="accent1">
                  <a:lumMod val="20000"/>
                  <a:lumOff val="80000"/>
                </a:schemeClr>
              </a:solidFill>
              <a:latin typeface="Arial" panose="020B0604020202020204" pitchFamily="34" charset="0"/>
              <a:cs typeface="Arial" panose="020B0604020202020204" pitchFamily="34" charset="0"/>
            </a:endParaRPr>
          </a:p>
        </p:txBody>
      </p:sp>
      <p:sp>
        <p:nvSpPr>
          <p:cNvPr id="6" name="Text Placeholder 2"/>
          <p:cNvSpPr>
            <a:spLocks noGrp="1"/>
          </p:cNvSpPr>
          <p:nvPr>
            <p:custDataLst>
              <p:tags r:id="rId4"/>
            </p:custDataLst>
          </p:nvPr>
        </p:nvSpPr>
        <p:spPr>
          <a:xfrm>
            <a:off x="6724650" y="2461260"/>
            <a:ext cx="4960620" cy="382778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altLang="en-US" sz="2000">
                <a:solidFill>
                  <a:schemeClr val="bg1"/>
                </a:solidFill>
                <a:latin typeface="Arial" panose="020B0604020202020204" pitchFamily="34" charset="0"/>
                <a:cs typeface="Arial" panose="020B0604020202020204" pitchFamily="34" charset="0"/>
              </a:rPr>
              <a:t>Using SQL, exact duplicate records were removed and missing categorical values were standardized as "Unknown" rather than being arbitrarily assigned to a business category.</a:t>
            </a:r>
            <a:endParaRPr lang="en-US" altLang="en-US" sz="2000">
              <a:solidFill>
                <a:schemeClr val="bg1"/>
              </a:solidFill>
              <a:latin typeface="Arial" panose="020B0604020202020204" pitchFamily="34" charset="0"/>
              <a:cs typeface="Arial" panose="020B0604020202020204" pitchFamily="34" charset="0"/>
            </a:endParaRPr>
          </a:p>
          <a:p>
            <a:pPr marL="0" indent="0" algn="l">
              <a:buNone/>
            </a:pPr>
            <a:r>
              <a:rPr lang="en-US" altLang="en-US" sz="2000">
                <a:solidFill>
                  <a:schemeClr val="bg1"/>
                </a:solidFill>
                <a:latin typeface="Arial" panose="020B0604020202020204" pitchFamily="34" charset="0"/>
                <a:cs typeface="Arial" panose="020B0604020202020204" pitchFamily="34" charset="0"/>
              </a:rPr>
              <a:t>The cleaned dataset contained 10,000 records and was then used for analysis and Power BI reporting.</a:t>
            </a:r>
            <a:endParaRPr lang="en-US" altLang="en-US" sz="2000">
              <a:solidFill>
                <a:schemeClr val="bg1"/>
              </a:solidFill>
              <a:latin typeface="Arial" panose="020B0604020202020204" pitchFamily="34" charset="0"/>
              <a:cs typeface="Arial" panose="020B0604020202020204" pitchFamily="34" charset="0"/>
            </a:endParaRPr>
          </a:p>
        </p:txBody>
      </p:sp>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half" idx="2"/>
            <p:custDataLst>
              <p:tags r:id="rId1"/>
            </p:custDataLst>
          </p:nvPr>
        </p:nvSpPr>
        <p:spPr>
          <a:xfrm>
            <a:off x="471170" y="1452245"/>
            <a:ext cx="10729595" cy="4373880"/>
          </a:xfrm>
        </p:spPr>
        <p:txBody>
          <a:bodyPr>
            <a:noAutofit/>
          </a:bodyPr>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The analysis followed an end-to-end workflow:</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00000"/>
              </a:lnSpc>
              <a:buNone/>
            </a:pPr>
            <a:r>
              <a:rPr lang="en-US" altLang="en-US" sz="2100">
                <a:solidFill>
                  <a:schemeClr val="bg1"/>
                </a:solidFill>
                <a:latin typeface="Arial" panose="020B0604020202020204" pitchFamily="34" charset="0"/>
                <a:cs typeface="Arial" panose="020B0604020202020204" pitchFamily="34" charset="0"/>
              </a:rPr>
              <a:t>Raw Data → SQL Data Quality Assessment → Cleaning → Business Questions → SQL Analysis → Validation → Power BI Modeling → Dashboard → Insights → Recommendations</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00000"/>
              </a:lnSpc>
              <a:buNone/>
            </a:pP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00000"/>
              </a:lnSpc>
              <a:buNone/>
            </a:pPr>
            <a:r>
              <a:rPr lang="en-US" altLang="en-US" sz="2100">
                <a:solidFill>
                  <a:schemeClr val="bg1"/>
                </a:solidFill>
                <a:latin typeface="Arial" panose="020B0604020202020204" pitchFamily="34" charset="0"/>
                <a:cs typeface="Arial" panose="020B0604020202020204" pitchFamily="34" charset="0"/>
              </a:rPr>
              <a:t>Budget variance was calculated as: Actual Spending − Budget</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00000"/>
              </a:lnSpc>
              <a:buNone/>
            </a:pPr>
            <a:r>
              <a:rPr lang="en-US" altLang="en-US" sz="2100">
                <a:solidFill>
                  <a:schemeClr val="bg1"/>
                </a:solidFill>
                <a:latin typeface="Arial" panose="020B0604020202020204" pitchFamily="34" charset="0"/>
                <a:cs typeface="Arial" panose="020B0604020202020204" pitchFamily="34" charset="0"/>
              </a:rPr>
              <a:t>Therefore, Positive variance = Overspending</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00000"/>
              </a:lnSpc>
              <a:buNone/>
            </a:pPr>
            <a:r>
              <a:rPr lang="en-US" altLang="en-US" sz="2100">
                <a:solidFill>
                  <a:schemeClr val="bg1"/>
                </a:solidFill>
                <a:latin typeface="Arial" panose="020B0604020202020204" pitchFamily="34" charset="0"/>
                <a:cs typeface="Arial" panose="020B0604020202020204" pitchFamily="34" charset="0"/>
              </a:rPr>
              <a:t>                Negative variance = Spending below budget</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00000"/>
              </a:lnSpc>
              <a:buNone/>
            </a:pP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00000"/>
              </a:lnSpc>
              <a:buNone/>
            </a:pPr>
            <a:r>
              <a:rPr lang="en-US" altLang="en-US" sz="2100">
                <a:solidFill>
                  <a:schemeClr val="bg1"/>
                </a:solidFill>
                <a:latin typeface="Arial" panose="020B0604020202020204" pitchFamily="34" charset="0"/>
                <a:cs typeface="Arial" panose="020B0604020202020204" pitchFamily="34" charset="0"/>
              </a:rPr>
              <a:t>This convention was used consistently throughout the analysis.</a:t>
            </a:r>
            <a:endParaRPr lang="en-US" altLang="en-US" sz="2100">
              <a:solidFill>
                <a:schemeClr val="bg1"/>
              </a:solidFill>
              <a:latin typeface="Arial" panose="020B0604020202020204" pitchFamily="34" charset="0"/>
              <a:cs typeface="Arial" panose="020B0604020202020204" pitchFamily="34" charset="0"/>
            </a:endParaRPr>
          </a:p>
        </p:txBody>
      </p:sp>
      <p:sp>
        <p:nvSpPr>
          <p:cNvPr id="14" name="Text Placeholder 4"/>
          <p:cNvSpPr>
            <a:spLocks noGrp="1"/>
          </p:cNvSpPr>
          <p:nvPr>
            <p:custDataLst>
              <p:tags r:id="rId2"/>
            </p:custDataLst>
          </p:nvPr>
        </p:nvSpPr>
        <p:spPr>
          <a:xfrm>
            <a:off x="546735" y="609600"/>
            <a:ext cx="4960620" cy="67183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0"/>
              </a:spcAft>
            </a:pPr>
            <a:r>
              <a:rPr lang="en-US" sz="3600" b="1">
                <a:solidFill>
                  <a:schemeClr val="accent1">
                    <a:lumMod val="20000"/>
                    <a:lumOff val="80000"/>
                  </a:schemeClr>
                </a:solidFill>
                <a:latin typeface="Times New Roman" panose="02020603050405020304" charset="0"/>
                <a:cs typeface="Times New Roman" panose="02020603050405020304" charset="0"/>
              </a:rPr>
              <a:t>Analytical Approach</a:t>
            </a:r>
            <a:endParaRPr lang="en-US" sz="3600" b="1">
              <a:solidFill>
                <a:schemeClr val="accent1">
                  <a:lumMod val="20000"/>
                  <a:lumOff val="80000"/>
                </a:schemeClr>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half" idx="2"/>
            <p:custDataLst>
              <p:tags r:id="rId1"/>
            </p:custDataLst>
          </p:nvPr>
        </p:nvSpPr>
        <p:spPr>
          <a:xfrm>
            <a:off x="471170" y="1452245"/>
            <a:ext cx="10729595" cy="4850130"/>
          </a:xfrm>
        </p:spPr>
        <p:txBody>
          <a:bodyPr>
            <a:noAutofit/>
          </a:bodyPr>
          <a:p>
            <a:pPr marL="0" indent="0" algn="just">
              <a:lnSpc>
                <a:spcPct val="150000"/>
              </a:lnSpc>
              <a:buNone/>
            </a:pPr>
            <a:r>
              <a:rPr lang="en-US" altLang="en-US" sz="2400" b="1">
                <a:solidFill>
                  <a:schemeClr val="bg1"/>
                </a:solidFill>
                <a:latin typeface="Arial" panose="020B0604020202020204" pitchFamily="34" charset="0"/>
                <a:cs typeface="Arial" panose="020B0604020202020204" pitchFamily="34" charset="0"/>
              </a:rPr>
              <a:t>1. The company overspent by ₦94.8M</a:t>
            </a:r>
            <a:endParaRPr lang="en-US" altLang="en-US" sz="2400" b="1">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Across the three-year period;</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Total Budget		-          ₦795.47M</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Actual Spending	-          ₦890.27M</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Total Overspend	-          ₦94.80M</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Variance                 -            11.92%</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Actual spending exceeded budget consistently throughout the reporting period.</a:t>
            </a:r>
            <a:endParaRPr lang="en-US" altLang="en-US" sz="2100">
              <a:solidFill>
                <a:schemeClr val="bg1"/>
              </a:solidFill>
              <a:latin typeface="Arial" panose="020B0604020202020204" pitchFamily="34" charset="0"/>
              <a:cs typeface="Arial" panose="020B0604020202020204" pitchFamily="34" charset="0"/>
            </a:endParaRPr>
          </a:p>
        </p:txBody>
      </p:sp>
      <p:sp>
        <p:nvSpPr>
          <p:cNvPr id="14" name="Text Placeholder 4"/>
          <p:cNvSpPr>
            <a:spLocks noGrp="1"/>
          </p:cNvSpPr>
          <p:nvPr>
            <p:custDataLst>
              <p:tags r:id="rId2"/>
            </p:custDataLst>
          </p:nvPr>
        </p:nvSpPr>
        <p:spPr>
          <a:xfrm>
            <a:off x="546735" y="609600"/>
            <a:ext cx="4960620" cy="67183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0"/>
              </a:spcAft>
            </a:pPr>
            <a:r>
              <a:rPr lang="en-US" altLang="en-US" sz="3600" b="1">
                <a:solidFill>
                  <a:schemeClr val="accent1">
                    <a:lumMod val="20000"/>
                    <a:lumOff val="80000"/>
                  </a:schemeClr>
                </a:solidFill>
                <a:latin typeface="Times New Roman" panose="02020603050405020304" charset="0"/>
                <a:cs typeface="Times New Roman" panose="02020603050405020304" charset="0"/>
              </a:rPr>
              <a:t>Key Findings</a:t>
            </a:r>
            <a:endParaRPr lang="en-US" altLang="en-US" sz="3600" b="1">
              <a:solidFill>
                <a:schemeClr val="accent1">
                  <a:lumMod val="20000"/>
                  <a:lumOff val="80000"/>
                </a:schemeClr>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half" idx="2"/>
            <p:custDataLst>
              <p:tags r:id="rId1"/>
            </p:custDataLst>
          </p:nvPr>
        </p:nvSpPr>
        <p:spPr>
          <a:xfrm>
            <a:off x="643255" y="736600"/>
            <a:ext cx="10729595" cy="5384165"/>
          </a:xfrm>
        </p:spPr>
        <p:txBody>
          <a:bodyPr>
            <a:noAutofit/>
          </a:bodyPr>
          <a:p>
            <a:pPr marL="0" indent="0" algn="just">
              <a:lnSpc>
                <a:spcPct val="150000"/>
              </a:lnSpc>
              <a:buNone/>
            </a:pPr>
            <a:r>
              <a:rPr lang="en-US" altLang="en-US" sz="2400" b="1">
                <a:solidFill>
                  <a:schemeClr val="bg1"/>
                </a:solidFill>
                <a:latin typeface="Arial" panose="020B0604020202020204" pitchFamily="34" charset="0"/>
                <a:cs typeface="Arial" panose="020B0604020202020204" pitchFamily="34" charset="0"/>
              </a:rPr>
              <a:t>2. 2022 recorded the worst annual budget performance</a:t>
            </a:r>
            <a:endParaRPr lang="en-US" altLang="en-US" sz="2400" b="1">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Annual overspending was:</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Year						Overspend</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2021						₦30.83M</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2022						₦36.43M</a:t>
            </a:r>
            <a:endParaRPr lang="en-US" altLang="en-US" sz="2100">
              <a:solidFill>
                <a:schemeClr val="bg1"/>
              </a:solidFill>
              <a:latin typeface="Arial" panose="020B0604020202020204" pitchFamily="34" charset="0"/>
              <a:cs typeface="Arial" panose="020B0604020202020204" pitchFamily="34" charset="0"/>
            </a:endParaRPr>
          </a:p>
          <a:p>
            <a:pPr marL="457200" lvl="1"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2023						₦27.53M</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2022 recorded the highest overspend at ₦36.43M, representing approximately 13.68% of its annual budget.</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Although performance improved in 2023, the company remained over budget.</a:t>
            </a:r>
            <a:endParaRPr lang="en-US" altLang="en-US" sz="2100">
              <a:solidFill>
                <a:schemeClr val="bg1"/>
              </a:solidFill>
              <a:latin typeface="Arial" panose="020B0604020202020204" pitchFamily="34" charset="0"/>
              <a:cs typeface="Arial" panose="020B0604020202020204" pitchFamily="34" charset="0"/>
            </a:endParaRPr>
          </a:p>
        </p:txBody>
      </p:sp>
      <p:cxnSp>
        <p:nvCxnSpPr>
          <p:cNvPr id="7" name="Straight Connector 6"/>
          <p:cNvCxnSpPr/>
          <p:nvPr/>
        </p:nvCxnSpPr>
        <p:spPr>
          <a:xfrm>
            <a:off x="4914900" y="2009775"/>
            <a:ext cx="0" cy="2228850"/>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723900" y="2557145"/>
            <a:ext cx="10572750" cy="0"/>
          </a:xfrm>
          <a:prstGeom prst="line">
            <a:avLst/>
          </a:prstGeom>
          <a:ln w="12700" cap="flat" cmpd="sng" algn="ctr">
            <a:solidFill>
              <a:schemeClr val="accent2">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cxn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half" idx="2"/>
            <p:custDataLst>
              <p:tags r:id="rId1"/>
            </p:custDataLst>
          </p:nvPr>
        </p:nvSpPr>
        <p:spPr>
          <a:xfrm>
            <a:off x="471170" y="1384300"/>
            <a:ext cx="10729595" cy="4088765"/>
          </a:xfrm>
        </p:spPr>
        <p:txBody>
          <a:bodyPr>
            <a:noAutofit/>
          </a:bodyPr>
          <a:p>
            <a:pPr marL="0" indent="0" algn="just">
              <a:lnSpc>
                <a:spcPct val="150000"/>
              </a:lnSpc>
              <a:buNone/>
            </a:pPr>
            <a:r>
              <a:rPr lang="en-US" altLang="en-US" sz="2400" b="1">
                <a:solidFill>
                  <a:schemeClr val="bg1"/>
                </a:solidFill>
                <a:latin typeface="Arial" panose="020B0604020202020204" pitchFamily="34" charset="0"/>
                <a:cs typeface="Arial" panose="020B0604020202020204" pitchFamily="34" charset="0"/>
              </a:rPr>
              <a:t>3. Marketing was the largest overspending department</a:t>
            </a:r>
            <a:endParaRPr lang="en-US" altLang="en-US" sz="2400" b="1">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Marketing recorded the highest cumulative departmental overspend:</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₦19.88M | 15.06%</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Other departments also recorded unfavorable variances, indicating that overspending was not isolated to one department.</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Finance recorded the smallest departmental overspend at ₦11.14M (8.38%).</a:t>
            </a:r>
            <a:endParaRPr lang="en-US" altLang="en-US" sz="2100">
              <a:solidFill>
                <a:schemeClr val="bg1"/>
              </a:solidFill>
              <a:latin typeface="Arial" panose="020B0604020202020204" pitchFamily="34" charset="0"/>
              <a:cs typeface="Arial" panose="020B0604020202020204" pitchFamily="3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half" idx="2"/>
            <p:custDataLst>
              <p:tags r:id="rId1"/>
            </p:custDataLst>
          </p:nvPr>
        </p:nvSpPr>
        <p:spPr>
          <a:xfrm>
            <a:off x="902335" y="1289685"/>
            <a:ext cx="10348595" cy="4278630"/>
          </a:xfrm>
        </p:spPr>
        <p:txBody>
          <a:bodyPr>
            <a:noAutofit/>
          </a:bodyPr>
          <a:p>
            <a:pPr marL="0" indent="0" algn="just">
              <a:lnSpc>
                <a:spcPct val="150000"/>
              </a:lnSpc>
              <a:buNone/>
            </a:pPr>
            <a:r>
              <a:rPr lang="en-US" altLang="en-US" sz="2400" b="1">
                <a:solidFill>
                  <a:schemeClr val="bg1"/>
                </a:solidFill>
                <a:latin typeface="Arial" panose="020B0604020202020204" pitchFamily="34" charset="0"/>
                <a:cs typeface="Arial" panose="020B0604020202020204" pitchFamily="34" charset="0"/>
              </a:rPr>
              <a:t>4. Salaries were the largest expense-category driver</a:t>
            </a:r>
            <a:endParaRPr lang="en-US" altLang="en-US" sz="2400" b="1">
              <a:solidFill>
                <a:schemeClr val="bg1"/>
              </a:solidFill>
              <a:latin typeface="Arial" panose="020B0604020202020204" pitchFamily="34" charset="0"/>
              <a:cs typeface="Arial" panose="020B0604020202020204" pitchFamily="34" charset="0"/>
            </a:endParaRPr>
          </a:p>
          <a:p>
            <a:pPr marL="914400" lvl="2"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Salary		-	₦20.61M | 16.21%</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This was followed by:</a:t>
            </a:r>
            <a:endParaRPr lang="en-US" altLang="en-US" sz="2100">
              <a:solidFill>
                <a:schemeClr val="bg1"/>
              </a:solidFill>
              <a:latin typeface="Arial" panose="020B0604020202020204" pitchFamily="34" charset="0"/>
              <a:cs typeface="Arial" panose="020B0604020202020204" pitchFamily="34" charset="0"/>
            </a:endParaRPr>
          </a:p>
          <a:p>
            <a:pPr marL="914400" lvl="2"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Utilities		-	₦17.37M</a:t>
            </a:r>
            <a:endParaRPr lang="en-US" altLang="en-US" sz="2100">
              <a:solidFill>
                <a:schemeClr val="bg1"/>
              </a:solidFill>
              <a:latin typeface="Arial" panose="020B0604020202020204" pitchFamily="34" charset="0"/>
              <a:cs typeface="Arial" panose="020B0604020202020204" pitchFamily="34" charset="0"/>
            </a:endParaRPr>
          </a:p>
          <a:p>
            <a:pPr marL="914400" lvl="2"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Marketing		-	₦16.30M</a:t>
            </a:r>
            <a:endParaRPr lang="en-US" altLang="en-US" sz="2100">
              <a:solidFill>
                <a:schemeClr val="bg1"/>
              </a:solidFill>
              <a:latin typeface="Arial" panose="020B0604020202020204" pitchFamily="34" charset="0"/>
              <a:cs typeface="Arial" panose="020B0604020202020204" pitchFamily="34" charset="0"/>
            </a:endParaRPr>
          </a:p>
          <a:p>
            <a:pPr marL="914400" lvl="2" indent="457200" algn="just">
              <a:lnSpc>
                <a:spcPct val="150000"/>
              </a:lnSpc>
              <a:buNone/>
            </a:pPr>
            <a:r>
              <a:rPr lang="en-US" altLang="en-US" sz="2100">
                <a:solidFill>
                  <a:schemeClr val="bg1"/>
                </a:solidFill>
                <a:latin typeface="Arial" panose="020B0604020202020204" pitchFamily="34" charset="0"/>
                <a:cs typeface="Arial" panose="020B0604020202020204" pitchFamily="34" charset="0"/>
              </a:rPr>
              <a:t>Travel		-	₦14.92M</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All major expense categories exceeded their allocated budgets.</a:t>
            </a:r>
            <a:endParaRPr lang="en-US" altLang="en-US" sz="2100">
              <a:solidFill>
                <a:schemeClr val="bg1"/>
              </a:solidFill>
              <a:latin typeface="Arial" panose="020B0604020202020204" pitchFamily="34" charset="0"/>
              <a:cs typeface="Arial" panose="020B0604020202020204" pitchFamily="34" charset="0"/>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half" idx="2"/>
            <p:custDataLst>
              <p:tags r:id="rId1"/>
            </p:custDataLst>
          </p:nvPr>
        </p:nvSpPr>
        <p:spPr>
          <a:xfrm>
            <a:off x="731520" y="812800"/>
            <a:ext cx="10729595" cy="5232400"/>
          </a:xfrm>
        </p:spPr>
        <p:txBody>
          <a:bodyPr>
            <a:noAutofit/>
          </a:bodyPr>
          <a:p>
            <a:pPr marL="0" indent="0" algn="just">
              <a:lnSpc>
                <a:spcPct val="150000"/>
              </a:lnSpc>
              <a:buNone/>
            </a:pPr>
            <a:r>
              <a:rPr lang="en-US" altLang="en-US" sz="2400" b="1">
                <a:solidFill>
                  <a:schemeClr val="bg1"/>
                </a:solidFill>
                <a:latin typeface="Arial" panose="020B0604020202020204" pitchFamily="34" charset="0"/>
                <a:cs typeface="Arial" panose="020B0604020202020204" pitchFamily="34" charset="0"/>
              </a:rPr>
              <a:t>6. East recorded the largest regional overspend</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Regional analysis showed:</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East: ₦21.39M | 13.40%</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East had the largest regional overspend, while North recorded the smallest:</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North: ₦16.53M | 10.47%</a:t>
            </a: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endParaRPr lang="en-US" altLang="en-US" sz="2100">
              <a:solidFill>
                <a:schemeClr val="bg1"/>
              </a:solidFill>
              <a:latin typeface="Arial" panose="020B0604020202020204" pitchFamily="34" charset="0"/>
              <a:cs typeface="Arial" panose="020B0604020202020204" pitchFamily="34" charset="0"/>
            </a:endParaRPr>
          </a:p>
          <a:p>
            <a:pPr marL="0" indent="0" algn="just">
              <a:lnSpc>
                <a:spcPct val="150000"/>
              </a:lnSpc>
              <a:buNone/>
            </a:pPr>
            <a:r>
              <a:rPr lang="en-US" altLang="en-US" sz="2100">
                <a:solidFill>
                  <a:schemeClr val="bg1"/>
                </a:solidFill>
                <a:latin typeface="Arial" panose="020B0604020202020204" pitchFamily="34" charset="0"/>
                <a:cs typeface="Arial" panose="020B0604020202020204" pitchFamily="34" charset="0"/>
              </a:rPr>
              <a:t>Since every region exceeded budget, the issue appears to be geographically widespread rather than isolated to one location.</a:t>
            </a:r>
            <a:endParaRPr lang="en-US" altLang="en-US" sz="2100">
              <a:solidFill>
                <a:schemeClr val="bg1"/>
              </a:solidFill>
              <a:latin typeface="Arial" panose="020B0604020202020204" pitchFamily="34" charset="0"/>
              <a:cs typeface="Arial" panose="020B0604020202020204" pitchFamily="3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cxnSp>
        <p:nvCxnSpPr>
          <p:cNvPr id="43" name="直接连接符 42"/>
          <p:cNvCxnSpPr/>
          <p:nvPr>
            <p:custDataLst>
              <p:tags r:id="rId1"/>
            </p:custDataLst>
          </p:nvPr>
        </p:nvCxnSpPr>
        <p:spPr>
          <a:xfrm flipH="1" flipV="1">
            <a:off x="3551555" y="3600133"/>
            <a:ext cx="1905" cy="2386132"/>
          </a:xfrm>
          <a:prstGeom prst="line">
            <a:avLst/>
          </a:prstGeom>
        </p:spPr>
        <p:style>
          <a:lnRef idx="3">
            <a:schemeClr val="accent1"/>
          </a:lnRef>
          <a:fillRef idx="0">
            <a:srgbClr val="FFFFFF"/>
          </a:fillRef>
          <a:effectRef idx="0">
            <a:srgbClr val="FFFFFF"/>
          </a:effectRef>
          <a:fontRef idx="minor">
            <a:schemeClr val="tx1"/>
          </a:fontRef>
        </p:style>
      </p:cxnSp>
      <p:sp>
        <p:nvSpPr>
          <p:cNvPr id="24" name="五边形 23"/>
          <p:cNvSpPr/>
          <p:nvPr>
            <p:custDataLst>
              <p:tags r:id="rId2"/>
            </p:custDataLst>
          </p:nvPr>
        </p:nvSpPr>
        <p:spPr>
          <a:xfrm>
            <a:off x="695960" y="3571558"/>
            <a:ext cx="10800080" cy="496719"/>
          </a:xfrm>
          <a:prstGeom prst="homePlate">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en-US">
              <a:solidFill>
                <a:srgbClr val="FFFFFF"/>
              </a:solidFill>
              <a:latin typeface="Arial" panose="020B0604020202020204" pitchFamily="34" charset="0"/>
              <a:sym typeface="Arial" panose="020B0604020202020204" pitchFamily="34" charset="0"/>
            </a:endParaRPr>
          </a:p>
        </p:txBody>
      </p:sp>
      <p:cxnSp>
        <p:nvCxnSpPr>
          <p:cNvPr id="25" name="直接箭头连接符 24"/>
          <p:cNvCxnSpPr/>
          <p:nvPr>
            <p:custDataLst>
              <p:tags r:id="rId3"/>
            </p:custDataLst>
          </p:nvPr>
        </p:nvCxnSpPr>
        <p:spPr>
          <a:xfrm>
            <a:off x="695960" y="3819843"/>
            <a:ext cx="10569575" cy="0"/>
          </a:xfrm>
          <a:prstGeom prst="straightConnector1">
            <a:avLst/>
          </a:prstGeom>
          <a:ln>
            <a:solidFill>
              <a:srgbClr val="FFFFFF"/>
            </a:solidFill>
            <a:tailEnd type="triangle"/>
          </a:ln>
        </p:spPr>
        <p:style>
          <a:lnRef idx="1">
            <a:srgbClr val="F84949"/>
          </a:lnRef>
          <a:fillRef idx="0">
            <a:srgbClr val="F84949"/>
          </a:fillRef>
          <a:effectRef idx="0">
            <a:srgbClr val="F84949"/>
          </a:effectRef>
          <a:fontRef idx="minor">
            <a:srgbClr val="000000"/>
          </a:fontRef>
        </p:style>
      </p:cxnSp>
      <p:sp>
        <p:nvSpPr>
          <p:cNvPr id="7" name="流程图: 延期 6"/>
          <p:cNvSpPr/>
          <p:nvPr>
            <p:custDataLst>
              <p:tags r:id="rId4"/>
            </p:custDataLst>
          </p:nvPr>
        </p:nvSpPr>
        <p:spPr>
          <a:xfrm>
            <a:off x="1061085" y="1636713"/>
            <a:ext cx="475200" cy="507794"/>
          </a:xfrm>
          <a:prstGeom prst="flowChartDelay">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b="1">
                <a:solidFill>
                  <a:srgbClr val="FFFFFF"/>
                </a:solidFill>
                <a:effectLst>
                  <a:outerShdw blurRad="50800" dist="38100" dir="5400000" algn="t" rotWithShape="0">
                    <a:srgbClr val="F84949">
                      <a:lumMod val="75000"/>
                      <a:alpha val="40000"/>
                    </a:srgbClr>
                  </a:outerShdw>
                </a:effectLst>
                <a:latin typeface="Arial" panose="020B0604020202020204" pitchFamily="34" charset="0"/>
                <a:sym typeface="Arial" panose="020B0604020202020204" pitchFamily="34" charset="0"/>
              </a:rPr>
              <a:t>01</a:t>
            </a:r>
            <a:endParaRPr lang="en-US" b="1">
              <a:solidFill>
                <a:srgbClr val="FFFFFF"/>
              </a:solidFill>
              <a:effectLst>
                <a:outerShdw blurRad="50800" dist="38100" dir="5400000" algn="t" rotWithShape="0">
                  <a:srgbClr val="F84949">
                    <a:lumMod val="75000"/>
                    <a:alpha val="40000"/>
                  </a:srgbClr>
                </a:outerShdw>
              </a:effectLst>
              <a:latin typeface="Microsoft YaHei" panose="020B0503020204020204" charset="-122"/>
              <a:sym typeface="Microsoft YaHei" panose="020B0503020204020204" charset="-122"/>
            </a:endParaRPr>
          </a:p>
        </p:txBody>
      </p:sp>
      <p:sp>
        <p:nvSpPr>
          <p:cNvPr id="8" name="矩形 7"/>
          <p:cNvSpPr/>
          <p:nvPr>
            <p:custDataLst>
              <p:tags r:id="rId5"/>
            </p:custDataLst>
          </p:nvPr>
        </p:nvSpPr>
        <p:spPr>
          <a:xfrm>
            <a:off x="1193800" y="2265045"/>
            <a:ext cx="5148580" cy="1043940"/>
          </a:xfrm>
          <a:prstGeom prst="rect">
            <a:avLst/>
          </a:prstGeom>
          <a:noFill/>
        </p:spPr>
        <p:txBody>
          <a:bodyPr wrap="square" lIns="0" tIns="0" rIns="0" bIns="0" rtlCol="0" anchor="t" anchorCtr="0">
            <a:normAutofit/>
          </a:bodyPr>
          <a:p>
            <a:pPr defTabSz="457200">
              <a:lnSpc>
                <a:spcPct val="100000"/>
              </a:lnSpc>
              <a:spcBef>
                <a:spcPct val="0"/>
              </a:spcBef>
              <a:spcAft>
                <a:spcPct val="0"/>
              </a:spcAft>
            </a:pPr>
            <a:r>
              <a:rPr lang="en-US" altLang="en-US" sz="1665">
                <a:solidFill>
                  <a:schemeClr val="bg1"/>
                </a:solidFill>
              </a:rPr>
              <a:t>Salaries were the largest expense-category driver. Management should review staffing levels, overtime, salary adjustments and the assumptions used to establish salary budgets.</a:t>
            </a:r>
            <a:endParaRPr lang="en-US" altLang="en-US" sz="1665">
              <a:solidFill>
                <a:schemeClr val="bg1"/>
              </a:solidFill>
            </a:endParaRPr>
          </a:p>
        </p:txBody>
      </p:sp>
      <p:sp>
        <p:nvSpPr>
          <p:cNvPr id="9" name="矩形 8"/>
          <p:cNvSpPr/>
          <p:nvPr>
            <p:custDataLst>
              <p:tags r:id="rId6"/>
            </p:custDataLst>
          </p:nvPr>
        </p:nvSpPr>
        <p:spPr>
          <a:xfrm>
            <a:off x="1737995" y="1697038"/>
            <a:ext cx="3336367" cy="385414"/>
          </a:xfrm>
          <a:prstGeom prst="rect">
            <a:avLst/>
          </a:prstGeom>
          <a:noFill/>
        </p:spPr>
        <p:txBody>
          <a:bodyPr wrap="square" lIns="0" tIns="0" rIns="0" bIns="0" rtlCol="0" anchor="ctr" anchorCtr="0">
            <a:normAutofit/>
          </a:bodyPr>
          <a:p>
            <a:pPr>
              <a:spcBef>
                <a:spcPct val="0"/>
              </a:spcBef>
              <a:spcAft>
                <a:spcPct val="0"/>
              </a:spcAft>
            </a:pPr>
            <a:r>
              <a:rPr lang="en-US" altLang="en-US" sz="2000" b="1">
                <a:solidFill>
                  <a:schemeClr val="accent1">
                    <a:lumMod val="20000"/>
                    <a:lumOff val="80000"/>
                  </a:schemeClr>
                </a:solidFill>
                <a:latin typeface="Arial" panose="020B0604020202020204" pitchFamily="34" charset="0"/>
              </a:rPr>
              <a:t>Review salary expenditure</a:t>
            </a:r>
            <a:endParaRPr lang="en-US" altLang="en-US" sz="2000" b="1">
              <a:solidFill>
                <a:schemeClr val="accent1">
                  <a:lumMod val="20000"/>
                  <a:lumOff val="80000"/>
                </a:schemeClr>
              </a:solidFill>
              <a:latin typeface="Arial" panose="020B0604020202020204" pitchFamily="34" charset="0"/>
            </a:endParaRPr>
          </a:p>
        </p:txBody>
      </p:sp>
      <p:cxnSp>
        <p:nvCxnSpPr>
          <p:cNvPr id="10" name="直接连接符 9"/>
          <p:cNvCxnSpPr/>
          <p:nvPr>
            <p:custDataLst>
              <p:tags r:id="rId7"/>
            </p:custDataLst>
          </p:nvPr>
        </p:nvCxnSpPr>
        <p:spPr>
          <a:xfrm flipH="1">
            <a:off x="1056005" y="1637348"/>
            <a:ext cx="5080" cy="2386132"/>
          </a:xfrm>
          <a:prstGeom prst="line">
            <a:avLst/>
          </a:prstGeom>
        </p:spPr>
        <p:style>
          <a:lnRef idx="3">
            <a:schemeClr val="accent1"/>
          </a:lnRef>
          <a:fillRef idx="0">
            <a:srgbClr val="FFFFFF"/>
          </a:fillRef>
          <a:effectRef idx="0">
            <a:srgbClr val="FFFFFF"/>
          </a:effectRef>
          <a:fontRef idx="minor">
            <a:schemeClr val="tx1"/>
          </a:fontRef>
        </p:style>
      </p:cxnSp>
      <p:sp>
        <p:nvSpPr>
          <p:cNvPr id="28" name="椭圆 27"/>
          <p:cNvSpPr/>
          <p:nvPr>
            <p:custDataLst>
              <p:tags r:id="rId8"/>
            </p:custDataLst>
          </p:nvPr>
        </p:nvSpPr>
        <p:spPr>
          <a:xfrm>
            <a:off x="1004570" y="3770313"/>
            <a:ext cx="93600" cy="94692"/>
          </a:xfrm>
          <a:prstGeom prst="ellipse">
            <a:avLst/>
          </a:prstGeom>
          <a:solidFill>
            <a:srgbClr val="F84949">
              <a:lumMod val="40000"/>
              <a:lumOff val="60000"/>
            </a:srgbClr>
          </a:solidFill>
          <a:ln>
            <a:solidFill>
              <a:srgbClr val="FFFFFF"/>
            </a:solidFill>
          </a:ln>
        </p:spPr>
        <p:style>
          <a:lnRef idx="2">
            <a:srgbClr val="F84949">
              <a:shade val="50000"/>
            </a:srgbClr>
          </a:lnRef>
          <a:fillRef idx="1">
            <a:srgbClr val="F84949"/>
          </a:fillRef>
          <a:effectRef idx="0">
            <a:srgbClr val="F84949"/>
          </a:effectRef>
          <a:fontRef idx="minor">
            <a:srgbClr val="FFFFFF"/>
          </a:fontRef>
        </p:style>
        <p:txBody>
          <a:bodyPr rtlCol="0" anchor="ctr">
            <a:noAutofit/>
          </a:bodyPr>
          <a:p>
            <a:pPr algn="ctr"/>
            <a:endParaRPr lang="en-US">
              <a:solidFill>
                <a:srgbClr val="FFFFFF"/>
              </a:solidFill>
              <a:latin typeface="Arial" panose="020B0604020202020204" pitchFamily="34" charset="0"/>
              <a:sym typeface="Arial" panose="020B0604020202020204" pitchFamily="34" charset="0"/>
            </a:endParaRPr>
          </a:p>
        </p:txBody>
      </p:sp>
      <p:sp>
        <p:nvSpPr>
          <p:cNvPr id="29" name="椭圆 28"/>
          <p:cNvSpPr/>
          <p:nvPr>
            <p:custDataLst>
              <p:tags r:id="rId9"/>
            </p:custDataLst>
          </p:nvPr>
        </p:nvSpPr>
        <p:spPr>
          <a:xfrm>
            <a:off x="3223260" y="3770313"/>
            <a:ext cx="93600" cy="94692"/>
          </a:xfrm>
          <a:prstGeom prst="ellipse">
            <a:avLst/>
          </a:prstGeom>
          <a:solidFill>
            <a:srgbClr val="F84949">
              <a:lumMod val="60000"/>
              <a:lumOff val="40000"/>
            </a:srgbClr>
          </a:solidFill>
          <a:ln>
            <a:solidFill>
              <a:srgbClr val="FFFFFF"/>
            </a:solidFill>
          </a:ln>
        </p:spPr>
        <p:style>
          <a:lnRef idx="2">
            <a:srgbClr val="F84949">
              <a:shade val="50000"/>
            </a:srgbClr>
          </a:lnRef>
          <a:fillRef idx="1">
            <a:srgbClr val="F84949"/>
          </a:fillRef>
          <a:effectRef idx="0">
            <a:srgbClr val="F84949"/>
          </a:effectRef>
          <a:fontRef idx="minor">
            <a:srgbClr val="FFFFFF"/>
          </a:fontRef>
        </p:style>
        <p:txBody>
          <a:bodyPr rtlCol="0" anchor="ctr">
            <a:noAutofit/>
          </a:bodyPr>
          <a:p>
            <a:pPr algn="ctr"/>
            <a:endParaRPr lang="en-US">
              <a:solidFill>
                <a:srgbClr val="FFFFFF"/>
              </a:solidFill>
              <a:latin typeface="Arial" panose="020B0604020202020204" pitchFamily="34" charset="0"/>
              <a:sym typeface="Arial" panose="020B0604020202020204" pitchFamily="34" charset="0"/>
            </a:endParaRPr>
          </a:p>
        </p:txBody>
      </p:sp>
      <p:sp>
        <p:nvSpPr>
          <p:cNvPr id="11" name="矩形 10"/>
          <p:cNvSpPr/>
          <p:nvPr>
            <p:custDataLst>
              <p:tags r:id="rId10"/>
            </p:custDataLst>
          </p:nvPr>
        </p:nvSpPr>
        <p:spPr>
          <a:xfrm>
            <a:off x="3699510" y="4229100"/>
            <a:ext cx="5784850" cy="1043940"/>
          </a:xfrm>
          <a:prstGeom prst="rect">
            <a:avLst/>
          </a:prstGeom>
          <a:noFill/>
        </p:spPr>
        <p:txBody>
          <a:bodyPr wrap="square" lIns="0" tIns="0" rIns="0" bIns="0" rtlCol="0" anchor="b" anchorCtr="0">
            <a:noAutofit/>
          </a:bodyPr>
          <a:p>
            <a:pPr defTabSz="457200">
              <a:lnSpc>
                <a:spcPct val="150000"/>
              </a:lnSpc>
              <a:spcBef>
                <a:spcPct val="0"/>
              </a:spcBef>
              <a:spcAft>
                <a:spcPct val="0"/>
              </a:spcAft>
            </a:pPr>
            <a:r>
              <a:rPr lang="en-US" altLang="en-US" sz="1300">
                <a:solidFill>
                  <a:schemeClr val="bg1"/>
                </a:solidFill>
              </a:rPr>
              <a:t>Because actual spending exceeded budget consistently, management should introduce regular budget-vs-actual reviews and establish variance thresholds that trigger investigation before overruns become significant.</a:t>
            </a:r>
            <a:endParaRPr lang="en-US" altLang="en-US" sz="1300">
              <a:solidFill>
                <a:schemeClr val="bg1"/>
              </a:solidFill>
            </a:endParaRPr>
          </a:p>
        </p:txBody>
      </p:sp>
      <p:sp>
        <p:nvSpPr>
          <p:cNvPr id="42" name="流程图: 延期 41"/>
          <p:cNvSpPr/>
          <p:nvPr>
            <p:custDataLst>
              <p:tags r:id="rId11"/>
            </p:custDataLst>
          </p:nvPr>
        </p:nvSpPr>
        <p:spPr>
          <a:xfrm>
            <a:off x="3564890" y="5479098"/>
            <a:ext cx="475200" cy="507794"/>
          </a:xfrm>
          <a:prstGeom prst="flowChartDelay">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spcBef>
                <a:spcPct val="0"/>
              </a:spcBef>
              <a:spcAft>
                <a:spcPct val="0"/>
              </a:spcAft>
              <a:buClrTx/>
              <a:buSzTx/>
              <a:buFontTx/>
            </a:pPr>
            <a:r>
              <a:rPr lang="en-US" b="1">
                <a:solidFill>
                  <a:srgbClr val="FFFFFF"/>
                </a:solidFill>
                <a:effectLst>
                  <a:outerShdw blurRad="50800" dist="38100" dir="5400000" algn="t" rotWithShape="0">
                    <a:srgbClr val="F84949">
                      <a:lumMod val="75000"/>
                      <a:alpha val="40000"/>
                    </a:srgbClr>
                  </a:outerShdw>
                </a:effectLst>
                <a:latin typeface="Arial" panose="020B0604020202020204" pitchFamily="34" charset="0"/>
                <a:sym typeface="Arial" panose="020B0604020202020204" pitchFamily="34" charset="0"/>
              </a:rPr>
              <a:t>03</a:t>
            </a:r>
            <a:endParaRPr lang="en-US" b="1" dirty="0">
              <a:solidFill>
                <a:srgbClr val="FFFFFF"/>
              </a:solidFill>
              <a:effectLst>
                <a:outerShdw blurRad="50800" dist="38100" dir="5400000" algn="t" rotWithShape="0">
                  <a:srgbClr val="F84949">
                    <a:lumMod val="75000"/>
                    <a:alpha val="40000"/>
                  </a:srgbClr>
                </a:outerShdw>
              </a:effectLst>
              <a:latin typeface="Microsoft YaHei" panose="020B0503020204020204" charset="-122"/>
              <a:sym typeface="Microsoft YaHei" panose="020B0503020204020204" charset="-122"/>
            </a:endParaRPr>
          </a:p>
        </p:txBody>
      </p:sp>
      <p:sp>
        <p:nvSpPr>
          <p:cNvPr id="12" name="矩形 11"/>
          <p:cNvSpPr/>
          <p:nvPr>
            <p:custDataLst>
              <p:tags r:id="rId12"/>
            </p:custDataLst>
          </p:nvPr>
        </p:nvSpPr>
        <p:spPr>
          <a:xfrm>
            <a:off x="4243070" y="5541010"/>
            <a:ext cx="5241925" cy="439420"/>
          </a:xfrm>
          <a:prstGeom prst="rect">
            <a:avLst/>
          </a:prstGeom>
          <a:noFill/>
        </p:spPr>
        <p:txBody>
          <a:bodyPr wrap="square" lIns="0" tIns="0" rIns="0" bIns="0" rtlCol="0" anchor="ctr" anchorCtr="0">
            <a:normAutofit/>
          </a:bodyPr>
          <a:p>
            <a:pPr>
              <a:spcBef>
                <a:spcPct val="0"/>
              </a:spcBef>
              <a:spcAft>
                <a:spcPct val="0"/>
              </a:spcAft>
            </a:pPr>
            <a:r>
              <a:rPr lang="en-US" sz="2000" b="1">
                <a:solidFill>
                  <a:schemeClr val="accent1">
                    <a:lumMod val="20000"/>
                    <a:lumOff val="80000"/>
                  </a:schemeClr>
                </a:solidFill>
                <a:latin typeface="Arial" panose="020B0604020202020204" pitchFamily="34" charset="0"/>
              </a:rPr>
              <a:t>Introduce regular budget monitoring</a:t>
            </a:r>
            <a:endParaRPr lang="en-US" sz="2000" b="1">
              <a:solidFill>
                <a:schemeClr val="accent1">
                  <a:lumMod val="20000"/>
                  <a:lumOff val="80000"/>
                </a:schemeClr>
              </a:solidFill>
              <a:latin typeface="Arial" panose="020B0604020202020204" pitchFamily="34" charset="0"/>
            </a:endParaRPr>
          </a:p>
        </p:txBody>
      </p:sp>
      <p:sp>
        <p:nvSpPr>
          <p:cNvPr id="13" name="流程图: 延期 12"/>
          <p:cNvSpPr/>
          <p:nvPr>
            <p:custDataLst>
              <p:tags r:id="rId13"/>
            </p:custDataLst>
          </p:nvPr>
        </p:nvSpPr>
        <p:spPr>
          <a:xfrm>
            <a:off x="6718935" y="1636713"/>
            <a:ext cx="475200" cy="507794"/>
          </a:xfrm>
          <a:prstGeom prst="flowChartDelay">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spcBef>
                <a:spcPct val="0"/>
              </a:spcBef>
              <a:spcAft>
                <a:spcPct val="0"/>
              </a:spcAft>
              <a:buClrTx/>
              <a:buSzTx/>
              <a:buFontTx/>
            </a:pPr>
            <a:r>
              <a:rPr lang="en-US" b="1">
                <a:solidFill>
                  <a:srgbClr val="FFFFFF"/>
                </a:solidFill>
                <a:effectLst>
                  <a:outerShdw blurRad="50800" dist="38100" dir="5400000" algn="t" rotWithShape="0">
                    <a:srgbClr val="F84949">
                      <a:lumMod val="75000"/>
                      <a:alpha val="40000"/>
                    </a:srgbClr>
                  </a:outerShdw>
                </a:effectLst>
                <a:latin typeface="Arial" panose="020B0604020202020204" pitchFamily="34" charset="0"/>
                <a:sym typeface="Arial" panose="020B0604020202020204" pitchFamily="34" charset="0"/>
              </a:rPr>
              <a:t>02</a:t>
            </a:r>
            <a:endParaRPr lang="en-US" b="1" dirty="0">
              <a:solidFill>
                <a:srgbClr val="FFFFFF"/>
              </a:solidFill>
              <a:effectLst>
                <a:outerShdw blurRad="50800" dist="38100" dir="5400000" algn="t" rotWithShape="0">
                  <a:srgbClr val="F84949">
                    <a:lumMod val="75000"/>
                    <a:alpha val="40000"/>
                  </a:srgbClr>
                </a:outerShdw>
              </a:effectLst>
              <a:latin typeface="Microsoft YaHei" panose="020B0503020204020204" charset="-122"/>
              <a:sym typeface="Microsoft YaHei" panose="020B0503020204020204" charset="-122"/>
            </a:endParaRPr>
          </a:p>
        </p:txBody>
      </p:sp>
      <p:sp>
        <p:nvSpPr>
          <p:cNvPr id="16" name="矩形 15"/>
          <p:cNvSpPr/>
          <p:nvPr>
            <p:custDataLst>
              <p:tags r:id="rId14"/>
            </p:custDataLst>
          </p:nvPr>
        </p:nvSpPr>
        <p:spPr>
          <a:xfrm>
            <a:off x="6851650" y="2265045"/>
            <a:ext cx="4679950" cy="1191260"/>
          </a:xfrm>
          <a:prstGeom prst="rect">
            <a:avLst/>
          </a:prstGeom>
          <a:noFill/>
        </p:spPr>
        <p:txBody>
          <a:bodyPr wrap="square" lIns="0" tIns="0" rIns="0" bIns="0" rtlCol="0" anchor="t" anchorCtr="0">
            <a:noAutofit/>
          </a:bodyPr>
          <a:p>
            <a:pPr defTabSz="457200">
              <a:lnSpc>
                <a:spcPct val="100000"/>
              </a:lnSpc>
              <a:spcBef>
                <a:spcPct val="0"/>
              </a:spcBef>
              <a:spcAft>
                <a:spcPct val="0"/>
              </a:spcAft>
            </a:pPr>
            <a:r>
              <a:rPr lang="en-US" altLang="en-US" sz="1500">
                <a:solidFill>
                  <a:schemeClr val="bg1"/>
                </a:solidFill>
              </a:rPr>
              <a:t>Marketing recorded the largest departmental overspend, with Training and Travel among its largest department-category gaps. These areas should be reviewed for spending efficiency and budget adherence.</a:t>
            </a:r>
            <a:endParaRPr lang="en-US" altLang="en-US" sz="1500">
              <a:solidFill>
                <a:schemeClr val="bg1"/>
              </a:solidFill>
            </a:endParaRPr>
          </a:p>
        </p:txBody>
      </p:sp>
      <p:sp>
        <p:nvSpPr>
          <p:cNvPr id="18" name="矩形 17"/>
          <p:cNvSpPr/>
          <p:nvPr>
            <p:custDataLst>
              <p:tags r:id="rId15"/>
            </p:custDataLst>
          </p:nvPr>
        </p:nvSpPr>
        <p:spPr>
          <a:xfrm>
            <a:off x="7395845" y="1697355"/>
            <a:ext cx="3869690" cy="385445"/>
          </a:xfrm>
          <a:prstGeom prst="rect">
            <a:avLst/>
          </a:prstGeom>
          <a:noFill/>
        </p:spPr>
        <p:txBody>
          <a:bodyPr wrap="square" lIns="0" tIns="0" rIns="0" bIns="0" rtlCol="0" anchor="ctr" anchorCtr="0">
            <a:noAutofit/>
          </a:bodyPr>
          <a:p>
            <a:pPr>
              <a:spcBef>
                <a:spcPct val="0"/>
              </a:spcBef>
              <a:spcAft>
                <a:spcPct val="0"/>
              </a:spcAft>
            </a:pPr>
            <a:r>
              <a:rPr lang="en-US" altLang="en-US" b="1">
                <a:solidFill>
                  <a:schemeClr val="accent1">
                    <a:lumMod val="20000"/>
                    <a:lumOff val="80000"/>
                  </a:schemeClr>
                </a:solidFill>
                <a:latin typeface="Arial" panose="020B0604020202020204" pitchFamily="34" charset="0"/>
              </a:rPr>
              <a:t>Strengthen Marketing spending controls</a:t>
            </a:r>
            <a:endParaRPr lang="en-US" altLang="en-US" b="1">
              <a:solidFill>
                <a:schemeClr val="accent1">
                  <a:lumMod val="20000"/>
                  <a:lumOff val="80000"/>
                </a:schemeClr>
              </a:solidFill>
              <a:latin typeface="Arial" panose="020B0604020202020204" pitchFamily="34" charset="0"/>
            </a:endParaRPr>
          </a:p>
        </p:txBody>
      </p:sp>
      <p:cxnSp>
        <p:nvCxnSpPr>
          <p:cNvPr id="19" name="直接连接符 18"/>
          <p:cNvCxnSpPr/>
          <p:nvPr>
            <p:custDataLst>
              <p:tags r:id="rId16"/>
            </p:custDataLst>
          </p:nvPr>
        </p:nvCxnSpPr>
        <p:spPr>
          <a:xfrm flipH="1">
            <a:off x="6713855" y="1637348"/>
            <a:ext cx="5080" cy="2386132"/>
          </a:xfrm>
          <a:prstGeom prst="line">
            <a:avLst/>
          </a:prstGeom>
        </p:spPr>
        <p:style>
          <a:lnRef idx="3">
            <a:schemeClr val="accent1"/>
          </a:lnRef>
          <a:fillRef idx="0">
            <a:srgbClr val="FFFFFF"/>
          </a:fillRef>
          <a:effectRef idx="0">
            <a:srgbClr val="FFFFFF"/>
          </a:effectRef>
          <a:fontRef idx="minor">
            <a:schemeClr val="tx1"/>
          </a:fontRef>
        </p:style>
      </p:cxnSp>
      <p:sp>
        <p:nvSpPr>
          <p:cNvPr id="20" name="椭圆 19"/>
          <p:cNvSpPr/>
          <p:nvPr>
            <p:custDataLst>
              <p:tags r:id="rId17"/>
            </p:custDataLst>
          </p:nvPr>
        </p:nvSpPr>
        <p:spPr>
          <a:xfrm>
            <a:off x="5614035" y="3770313"/>
            <a:ext cx="93600" cy="94692"/>
          </a:xfrm>
          <a:prstGeom prst="ellipse">
            <a:avLst/>
          </a:prstGeom>
          <a:solidFill>
            <a:srgbClr val="F84949">
              <a:lumMod val="60000"/>
              <a:lumOff val="40000"/>
            </a:srgbClr>
          </a:solidFill>
          <a:ln>
            <a:solidFill>
              <a:srgbClr val="FFFFFF"/>
            </a:solidFill>
          </a:ln>
        </p:spPr>
        <p:style>
          <a:lnRef idx="2">
            <a:srgbClr val="F84949">
              <a:shade val="50000"/>
            </a:srgbClr>
          </a:lnRef>
          <a:fillRef idx="1">
            <a:srgbClr val="F84949"/>
          </a:fillRef>
          <a:effectRef idx="0">
            <a:srgbClr val="F84949"/>
          </a:effectRef>
          <a:fontRef idx="minor">
            <a:srgbClr val="FFFFFF"/>
          </a:fontRef>
        </p:style>
        <p:txBody>
          <a:bodyPr rtlCol="0" anchor="ctr">
            <a:noAutofit/>
          </a:bodyPr>
          <a:p>
            <a:pPr algn="ctr"/>
            <a:endParaRPr lang="en-US">
              <a:solidFill>
                <a:srgbClr val="FFFFFF"/>
              </a:solidFill>
              <a:latin typeface="Arial" panose="020B0604020202020204" pitchFamily="34" charset="0"/>
              <a:sym typeface="Arial" panose="020B0604020202020204" pitchFamily="34" charset="0"/>
            </a:endParaRPr>
          </a:p>
        </p:txBody>
      </p:sp>
      <p:sp>
        <p:nvSpPr>
          <p:cNvPr id="14" name="Text Placeholder 4"/>
          <p:cNvSpPr>
            <a:spLocks noGrp="1"/>
          </p:cNvSpPr>
          <p:nvPr>
            <p:custDataLst>
              <p:tags r:id="rId18"/>
            </p:custDataLst>
          </p:nvPr>
        </p:nvSpPr>
        <p:spPr>
          <a:xfrm>
            <a:off x="546735" y="609600"/>
            <a:ext cx="4960620" cy="671830"/>
          </a:xfrm>
          <a:prstGeom prst="rect">
            <a:avLst/>
          </a:prstGeom>
          <a:noFill/>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spcAft>
                <a:spcPts val="0"/>
              </a:spcAft>
            </a:pPr>
            <a:r>
              <a:rPr lang="en-US" sz="3600" b="1">
                <a:solidFill>
                  <a:schemeClr val="accent1">
                    <a:lumMod val="20000"/>
                    <a:lumOff val="80000"/>
                  </a:schemeClr>
                </a:solidFill>
                <a:latin typeface="Times New Roman" panose="02020603050405020304" charset="0"/>
                <a:cs typeface="Times New Roman" panose="02020603050405020304" charset="0"/>
              </a:rPr>
              <a:t>Recommendations</a:t>
            </a:r>
            <a:endParaRPr lang="en-US" sz="3600" b="1">
              <a:solidFill>
                <a:schemeClr val="accent1">
                  <a:lumMod val="20000"/>
                  <a:lumOff val="80000"/>
                </a:schemeClr>
              </a:solidFill>
              <a:latin typeface="Times New Roman" panose="02020603050405020304" charset="0"/>
              <a:cs typeface="Times New Roman" panose="02020603050405020304" charset="0"/>
            </a:endParaRPr>
          </a:p>
        </p:txBody>
      </p:sp>
    </p:spTree>
    <p:custDataLst>
      <p:tags r:id="rId19"/>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cxnSp>
        <p:nvCxnSpPr>
          <p:cNvPr id="43" name="直接连接符 42"/>
          <p:cNvCxnSpPr/>
          <p:nvPr>
            <p:custDataLst>
              <p:tags r:id="rId1"/>
            </p:custDataLst>
          </p:nvPr>
        </p:nvCxnSpPr>
        <p:spPr>
          <a:xfrm flipH="1" flipV="1">
            <a:off x="4542155" y="3352483"/>
            <a:ext cx="1905" cy="2386132"/>
          </a:xfrm>
          <a:prstGeom prst="line">
            <a:avLst/>
          </a:prstGeom>
        </p:spPr>
        <p:style>
          <a:lnRef idx="3">
            <a:schemeClr val="accent1"/>
          </a:lnRef>
          <a:fillRef idx="0">
            <a:srgbClr val="FFFFFF"/>
          </a:fillRef>
          <a:effectRef idx="0">
            <a:srgbClr val="FFFFFF"/>
          </a:effectRef>
          <a:fontRef idx="minor">
            <a:schemeClr val="tx1"/>
          </a:fontRef>
        </p:style>
      </p:cxnSp>
      <p:sp>
        <p:nvSpPr>
          <p:cNvPr id="24" name="五边形 23"/>
          <p:cNvSpPr/>
          <p:nvPr>
            <p:custDataLst>
              <p:tags r:id="rId2"/>
            </p:custDataLst>
          </p:nvPr>
        </p:nvSpPr>
        <p:spPr>
          <a:xfrm>
            <a:off x="695960" y="3323908"/>
            <a:ext cx="10800080" cy="496719"/>
          </a:xfrm>
          <a:prstGeom prst="homePlate">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algn="ctr"/>
            <a:endParaRPr lang="en-US">
              <a:solidFill>
                <a:srgbClr val="FFFFFF"/>
              </a:solidFill>
              <a:latin typeface="Arial" panose="020B0604020202020204" pitchFamily="34" charset="0"/>
              <a:sym typeface="Arial" panose="020B0604020202020204" pitchFamily="34" charset="0"/>
            </a:endParaRPr>
          </a:p>
        </p:txBody>
      </p:sp>
      <p:cxnSp>
        <p:nvCxnSpPr>
          <p:cNvPr id="25" name="直接箭头连接符 24"/>
          <p:cNvCxnSpPr/>
          <p:nvPr>
            <p:custDataLst>
              <p:tags r:id="rId3"/>
            </p:custDataLst>
          </p:nvPr>
        </p:nvCxnSpPr>
        <p:spPr>
          <a:xfrm>
            <a:off x="695960" y="3572193"/>
            <a:ext cx="10569575" cy="0"/>
          </a:xfrm>
          <a:prstGeom prst="straightConnector1">
            <a:avLst/>
          </a:prstGeom>
          <a:ln>
            <a:solidFill>
              <a:srgbClr val="FFFFFF"/>
            </a:solidFill>
            <a:tailEnd type="triangle"/>
          </a:ln>
        </p:spPr>
        <p:style>
          <a:lnRef idx="1">
            <a:srgbClr val="F84949"/>
          </a:lnRef>
          <a:fillRef idx="0">
            <a:srgbClr val="F84949"/>
          </a:fillRef>
          <a:effectRef idx="0">
            <a:srgbClr val="F84949"/>
          </a:effectRef>
          <a:fontRef idx="minor">
            <a:srgbClr val="000000"/>
          </a:fontRef>
        </p:style>
      </p:cxnSp>
      <p:sp>
        <p:nvSpPr>
          <p:cNvPr id="7" name="流程图: 延期 6"/>
          <p:cNvSpPr/>
          <p:nvPr>
            <p:custDataLst>
              <p:tags r:id="rId4"/>
            </p:custDataLst>
          </p:nvPr>
        </p:nvSpPr>
        <p:spPr>
          <a:xfrm>
            <a:off x="1061085" y="1389063"/>
            <a:ext cx="475200" cy="507794"/>
          </a:xfrm>
          <a:prstGeom prst="flowChartDelay">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wrap="none" lIns="0" tIns="0" rIns="0" bIns="0" rtlCol="0" anchor="ctr">
            <a:normAutofit/>
          </a:bodyPr>
          <a:p>
            <a:pPr algn="ctr">
              <a:spcBef>
                <a:spcPct val="0"/>
              </a:spcBef>
              <a:spcAft>
                <a:spcPct val="0"/>
              </a:spcAft>
            </a:pPr>
            <a:r>
              <a:rPr lang="en-US" b="1">
                <a:solidFill>
                  <a:srgbClr val="FFFFFF"/>
                </a:solidFill>
                <a:effectLst>
                  <a:outerShdw blurRad="50800" dist="38100" dir="5400000" algn="t" rotWithShape="0">
                    <a:srgbClr val="F84949">
                      <a:lumMod val="75000"/>
                      <a:alpha val="40000"/>
                    </a:srgbClr>
                  </a:outerShdw>
                </a:effectLst>
                <a:latin typeface="Arial" panose="020B0604020202020204" pitchFamily="34" charset="0"/>
                <a:sym typeface="Arial" panose="020B0604020202020204" pitchFamily="34" charset="0"/>
              </a:rPr>
              <a:t>04</a:t>
            </a:r>
            <a:endParaRPr lang="en-US" b="1">
              <a:solidFill>
                <a:srgbClr val="FFFFFF"/>
              </a:solidFill>
              <a:effectLst>
                <a:outerShdw blurRad="50800" dist="38100" dir="5400000" algn="t" rotWithShape="0">
                  <a:srgbClr val="F84949">
                    <a:lumMod val="75000"/>
                    <a:alpha val="40000"/>
                  </a:srgbClr>
                </a:outerShdw>
              </a:effectLst>
              <a:latin typeface="Microsoft YaHei" panose="020B0503020204020204" charset="-122"/>
              <a:sym typeface="Microsoft YaHei" panose="020B0503020204020204" charset="-122"/>
            </a:endParaRPr>
          </a:p>
        </p:txBody>
      </p:sp>
      <p:sp>
        <p:nvSpPr>
          <p:cNvPr id="8" name="矩形 7"/>
          <p:cNvSpPr/>
          <p:nvPr>
            <p:custDataLst>
              <p:tags r:id="rId5"/>
            </p:custDataLst>
          </p:nvPr>
        </p:nvSpPr>
        <p:spPr>
          <a:xfrm>
            <a:off x="1193800" y="2017395"/>
            <a:ext cx="6576695" cy="1043940"/>
          </a:xfrm>
          <a:prstGeom prst="rect">
            <a:avLst/>
          </a:prstGeom>
          <a:noFill/>
        </p:spPr>
        <p:txBody>
          <a:bodyPr wrap="square" lIns="0" tIns="0" rIns="0" bIns="0" rtlCol="0" anchor="t" anchorCtr="0">
            <a:normAutofit/>
          </a:bodyPr>
          <a:p>
            <a:pPr defTabSz="457200">
              <a:lnSpc>
                <a:spcPct val="100000"/>
              </a:lnSpc>
              <a:spcBef>
                <a:spcPct val="0"/>
              </a:spcBef>
              <a:spcAft>
                <a:spcPct val="0"/>
              </a:spcAft>
            </a:pPr>
            <a:r>
              <a:rPr lang="en-US" altLang="en-US" sz="1665">
                <a:solidFill>
                  <a:schemeClr val="bg1"/>
                </a:solidFill>
              </a:rPr>
              <a:t>East recorded the largest regional overspend. Management should drill further into its departmental and category-level spending to determine the underlying causes.</a:t>
            </a:r>
            <a:endParaRPr lang="en-US" altLang="en-US" sz="1665">
              <a:solidFill>
                <a:schemeClr val="bg1"/>
              </a:solidFill>
            </a:endParaRPr>
          </a:p>
        </p:txBody>
      </p:sp>
      <p:sp>
        <p:nvSpPr>
          <p:cNvPr id="9" name="矩形 8"/>
          <p:cNvSpPr/>
          <p:nvPr>
            <p:custDataLst>
              <p:tags r:id="rId6"/>
            </p:custDataLst>
          </p:nvPr>
        </p:nvSpPr>
        <p:spPr>
          <a:xfrm>
            <a:off x="1737995" y="1449388"/>
            <a:ext cx="3336367" cy="385414"/>
          </a:xfrm>
          <a:prstGeom prst="rect">
            <a:avLst/>
          </a:prstGeom>
          <a:noFill/>
        </p:spPr>
        <p:txBody>
          <a:bodyPr wrap="square" lIns="0" tIns="0" rIns="0" bIns="0" rtlCol="0" anchor="ctr" anchorCtr="0">
            <a:normAutofit/>
          </a:bodyPr>
          <a:p>
            <a:pPr>
              <a:spcBef>
                <a:spcPct val="0"/>
              </a:spcBef>
              <a:spcAft>
                <a:spcPct val="0"/>
              </a:spcAft>
            </a:pPr>
            <a:r>
              <a:rPr lang="en-US" altLang="en-US" sz="2000" b="1">
                <a:solidFill>
                  <a:schemeClr val="accent1">
                    <a:lumMod val="20000"/>
                    <a:lumOff val="80000"/>
                  </a:schemeClr>
                </a:solidFill>
                <a:latin typeface="Arial" panose="020B0604020202020204" pitchFamily="34" charset="0"/>
              </a:rPr>
              <a:t>Investigate East Region</a:t>
            </a:r>
            <a:endParaRPr lang="en-US" altLang="en-US" sz="2000" b="1">
              <a:solidFill>
                <a:schemeClr val="accent1">
                  <a:lumMod val="20000"/>
                  <a:lumOff val="80000"/>
                </a:schemeClr>
              </a:solidFill>
              <a:latin typeface="Arial" panose="020B0604020202020204" pitchFamily="34" charset="0"/>
            </a:endParaRPr>
          </a:p>
        </p:txBody>
      </p:sp>
      <p:cxnSp>
        <p:nvCxnSpPr>
          <p:cNvPr id="10" name="直接连接符 9"/>
          <p:cNvCxnSpPr/>
          <p:nvPr>
            <p:custDataLst>
              <p:tags r:id="rId7"/>
            </p:custDataLst>
          </p:nvPr>
        </p:nvCxnSpPr>
        <p:spPr>
          <a:xfrm flipH="1">
            <a:off x="1056005" y="1389698"/>
            <a:ext cx="5080" cy="2386132"/>
          </a:xfrm>
          <a:prstGeom prst="line">
            <a:avLst/>
          </a:prstGeom>
        </p:spPr>
        <p:style>
          <a:lnRef idx="3">
            <a:schemeClr val="accent1"/>
          </a:lnRef>
          <a:fillRef idx="0">
            <a:srgbClr val="FFFFFF"/>
          </a:fillRef>
          <a:effectRef idx="0">
            <a:srgbClr val="FFFFFF"/>
          </a:effectRef>
          <a:fontRef idx="minor">
            <a:schemeClr val="tx1"/>
          </a:fontRef>
        </p:style>
      </p:cxnSp>
      <p:sp>
        <p:nvSpPr>
          <p:cNvPr id="28" name="椭圆 27"/>
          <p:cNvSpPr/>
          <p:nvPr>
            <p:custDataLst>
              <p:tags r:id="rId8"/>
            </p:custDataLst>
          </p:nvPr>
        </p:nvSpPr>
        <p:spPr>
          <a:xfrm>
            <a:off x="1004570" y="3522663"/>
            <a:ext cx="93600" cy="94692"/>
          </a:xfrm>
          <a:prstGeom prst="ellipse">
            <a:avLst/>
          </a:prstGeom>
          <a:solidFill>
            <a:srgbClr val="F84949">
              <a:lumMod val="40000"/>
              <a:lumOff val="60000"/>
            </a:srgbClr>
          </a:solidFill>
          <a:ln>
            <a:solidFill>
              <a:srgbClr val="FFFFFF"/>
            </a:solidFill>
          </a:ln>
        </p:spPr>
        <p:style>
          <a:lnRef idx="2">
            <a:srgbClr val="F84949">
              <a:shade val="50000"/>
            </a:srgbClr>
          </a:lnRef>
          <a:fillRef idx="1">
            <a:srgbClr val="F84949"/>
          </a:fillRef>
          <a:effectRef idx="0">
            <a:srgbClr val="F84949"/>
          </a:effectRef>
          <a:fontRef idx="minor">
            <a:srgbClr val="FFFFFF"/>
          </a:fontRef>
        </p:style>
        <p:txBody>
          <a:bodyPr rtlCol="0" anchor="ctr">
            <a:noAutofit/>
          </a:bodyPr>
          <a:p>
            <a:pPr algn="ctr"/>
            <a:endParaRPr lang="en-US">
              <a:solidFill>
                <a:srgbClr val="FFFFFF"/>
              </a:solidFill>
              <a:latin typeface="Arial" panose="020B0604020202020204" pitchFamily="34" charset="0"/>
              <a:sym typeface="Arial" panose="020B0604020202020204" pitchFamily="34" charset="0"/>
            </a:endParaRPr>
          </a:p>
        </p:txBody>
      </p:sp>
      <p:sp>
        <p:nvSpPr>
          <p:cNvPr id="29" name="椭圆 28"/>
          <p:cNvSpPr/>
          <p:nvPr>
            <p:custDataLst>
              <p:tags r:id="rId9"/>
            </p:custDataLst>
          </p:nvPr>
        </p:nvSpPr>
        <p:spPr>
          <a:xfrm>
            <a:off x="4213860" y="3522663"/>
            <a:ext cx="93600" cy="94692"/>
          </a:xfrm>
          <a:prstGeom prst="ellipse">
            <a:avLst/>
          </a:prstGeom>
          <a:solidFill>
            <a:srgbClr val="F84949">
              <a:lumMod val="60000"/>
              <a:lumOff val="40000"/>
            </a:srgbClr>
          </a:solidFill>
          <a:ln>
            <a:solidFill>
              <a:srgbClr val="FFFFFF"/>
            </a:solidFill>
          </a:ln>
        </p:spPr>
        <p:style>
          <a:lnRef idx="2">
            <a:srgbClr val="F84949">
              <a:shade val="50000"/>
            </a:srgbClr>
          </a:lnRef>
          <a:fillRef idx="1">
            <a:srgbClr val="F84949"/>
          </a:fillRef>
          <a:effectRef idx="0">
            <a:srgbClr val="F84949"/>
          </a:effectRef>
          <a:fontRef idx="minor">
            <a:srgbClr val="FFFFFF"/>
          </a:fontRef>
        </p:style>
        <p:txBody>
          <a:bodyPr rtlCol="0" anchor="ctr">
            <a:noAutofit/>
          </a:bodyPr>
          <a:p>
            <a:pPr algn="ctr"/>
            <a:endParaRPr lang="en-US">
              <a:solidFill>
                <a:srgbClr val="FFFFFF"/>
              </a:solidFill>
              <a:latin typeface="Arial" panose="020B0604020202020204" pitchFamily="34" charset="0"/>
              <a:sym typeface="Arial" panose="020B0604020202020204" pitchFamily="34" charset="0"/>
            </a:endParaRPr>
          </a:p>
        </p:txBody>
      </p:sp>
      <p:sp>
        <p:nvSpPr>
          <p:cNvPr id="11" name="矩形 10"/>
          <p:cNvSpPr/>
          <p:nvPr>
            <p:custDataLst>
              <p:tags r:id="rId10"/>
            </p:custDataLst>
          </p:nvPr>
        </p:nvSpPr>
        <p:spPr>
          <a:xfrm>
            <a:off x="4690110" y="3981450"/>
            <a:ext cx="5784850" cy="1043940"/>
          </a:xfrm>
          <a:prstGeom prst="rect">
            <a:avLst/>
          </a:prstGeom>
          <a:noFill/>
        </p:spPr>
        <p:txBody>
          <a:bodyPr wrap="square" lIns="0" tIns="0" rIns="0" bIns="0" rtlCol="0" anchor="b" anchorCtr="0">
            <a:noAutofit/>
          </a:bodyPr>
          <a:p>
            <a:pPr defTabSz="457200">
              <a:lnSpc>
                <a:spcPct val="150000"/>
              </a:lnSpc>
              <a:spcBef>
                <a:spcPct val="0"/>
              </a:spcBef>
              <a:spcAft>
                <a:spcPct val="0"/>
              </a:spcAft>
            </a:pPr>
            <a:r>
              <a:rPr lang="en-US" altLang="en-US" sz="1300">
                <a:solidFill>
                  <a:schemeClr val="bg1"/>
                </a:solidFill>
              </a:rPr>
              <a:t>Overspending occurred across departments, categories and regions. This suggests that management should not only focus on controlling expenditure but also assess whether budget allocations are realistic and aligned with actual operating requirements.</a:t>
            </a:r>
            <a:endParaRPr lang="en-US" altLang="en-US" sz="1300">
              <a:solidFill>
                <a:schemeClr val="bg1"/>
              </a:solidFill>
            </a:endParaRPr>
          </a:p>
        </p:txBody>
      </p:sp>
      <p:sp>
        <p:nvSpPr>
          <p:cNvPr id="42" name="流程图: 延期 41"/>
          <p:cNvSpPr/>
          <p:nvPr>
            <p:custDataLst>
              <p:tags r:id="rId11"/>
            </p:custDataLst>
          </p:nvPr>
        </p:nvSpPr>
        <p:spPr>
          <a:xfrm>
            <a:off x="4555490" y="5231448"/>
            <a:ext cx="475200" cy="507794"/>
          </a:xfrm>
          <a:prstGeom prst="flowChartDelay">
            <a:avLst/>
          </a:prstGeom>
          <a:solidFill>
            <a:schemeClr val="accent2">
              <a:lumMod val="60000"/>
              <a:lumOff val="40000"/>
            </a:schemeClr>
          </a:solidFill>
        </p:spPr>
        <p:style>
          <a:lnRef idx="0">
            <a:srgbClr val="FFFFFF"/>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rmAutofit/>
          </a:bodyPr>
          <a:p>
            <a:pPr lvl="0" algn="ctr">
              <a:spcBef>
                <a:spcPct val="0"/>
              </a:spcBef>
              <a:spcAft>
                <a:spcPct val="0"/>
              </a:spcAft>
              <a:buClrTx/>
              <a:buSzTx/>
              <a:buFontTx/>
            </a:pPr>
            <a:r>
              <a:rPr lang="en-US" b="1">
                <a:solidFill>
                  <a:srgbClr val="FFFFFF"/>
                </a:solidFill>
                <a:effectLst>
                  <a:outerShdw blurRad="50800" dist="38100" dir="5400000" algn="t" rotWithShape="0">
                    <a:srgbClr val="F84949">
                      <a:lumMod val="75000"/>
                      <a:alpha val="40000"/>
                    </a:srgbClr>
                  </a:outerShdw>
                </a:effectLst>
                <a:latin typeface="Arial" panose="020B0604020202020204" pitchFamily="34" charset="0"/>
                <a:sym typeface="Arial" panose="020B0604020202020204" pitchFamily="34" charset="0"/>
              </a:rPr>
              <a:t>05</a:t>
            </a:r>
            <a:endParaRPr lang="en-US" b="1" dirty="0">
              <a:solidFill>
                <a:srgbClr val="FFFFFF"/>
              </a:solidFill>
              <a:effectLst>
                <a:outerShdw blurRad="50800" dist="38100" dir="5400000" algn="t" rotWithShape="0">
                  <a:srgbClr val="F84949">
                    <a:lumMod val="75000"/>
                    <a:alpha val="40000"/>
                  </a:srgbClr>
                </a:outerShdw>
              </a:effectLst>
              <a:latin typeface="Microsoft YaHei" panose="020B0503020204020204" charset="-122"/>
              <a:sym typeface="Microsoft YaHei" panose="020B0503020204020204" charset="-122"/>
            </a:endParaRPr>
          </a:p>
        </p:txBody>
      </p:sp>
      <p:sp>
        <p:nvSpPr>
          <p:cNvPr id="12" name="矩形 11"/>
          <p:cNvSpPr/>
          <p:nvPr>
            <p:custDataLst>
              <p:tags r:id="rId12"/>
            </p:custDataLst>
          </p:nvPr>
        </p:nvSpPr>
        <p:spPr>
          <a:xfrm>
            <a:off x="5233670" y="5293360"/>
            <a:ext cx="4022725" cy="440690"/>
          </a:xfrm>
          <a:prstGeom prst="rect">
            <a:avLst/>
          </a:prstGeom>
          <a:noFill/>
        </p:spPr>
        <p:txBody>
          <a:bodyPr wrap="square" lIns="0" tIns="0" rIns="0" bIns="0" rtlCol="0" anchor="ctr" anchorCtr="0">
            <a:normAutofit/>
          </a:bodyPr>
          <a:p>
            <a:pPr>
              <a:spcBef>
                <a:spcPct val="0"/>
              </a:spcBef>
              <a:spcAft>
                <a:spcPct val="0"/>
              </a:spcAft>
            </a:pPr>
            <a:r>
              <a:rPr lang="en-US" sz="2000" b="1">
                <a:solidFill>
                  <a:schemeClr val="accent1">
                    <a:lumMod val="20000"/>
                    <a:lumOff val="80000"/>
                  </a:schemeClr>
                </a:solidFill>
                <a:latin typeface="Arial" panose="020B0604020202020204" pitchFamily="34" charset="0"/>
              </a:rPr>
              <a:t>Reassess the Budgeting process</a:t>
            </a:r>
            <a:endParaRPr lang="en-US" sz="2000" b="1">
              <a:solidFill>
                <a:schemeClr val="accent1">
                  <a:lumMod val="20000"/>
                  <a:lumOff val="80000"/>
                </a:schemeClr>
              </a:solidFill>
              <a:latin typeface="Arial" panose="020B0604020202020204" pitchFamily="34" charset="0"/>
            </a:endParaRPr>
          </a:p>
        </p:txBody>
      </p:sp>
      <p:sp>
        <p:nvSpPr>
          <p:cNvPr id="20" name="椭圆 19"/>
          <p:cNvSpPr/>
          <p:nvPr>
            <p:custDataLst>
              <p:tags r:id="rId13"/>
            </p:custDataLst>
          </p:nvPr>
        </p:nvSpPr>
        <p:spPr>
          <a:xfrm>
            <a:off x="6604635" y="3522663"/>
            <a:ext cx="93600" cy="94692"/>
          </a:xfrm>
          <a:prstGeom prst="ellipse">
            <a:avLst/>
          </a:prstGeom>
          <a:solidFill>
            <a:srgbClr val="F84949">
              <a:lumMod val="60000"/>
              <a:lumOff val="40000"/>
            </a:srgbClr>
          </a:solidFill>
          <a:ln>
            <a:solidFill>
              <a:srgbClr val="FFFFFF"/>
            </a:solidFill>
          </a:ln>
        </p:spPr>
        <p:style>
          <a:lnRef idx="2">
            <a:srgbClr val="F84949">
              <a:shade val="50000"/>
            </a:srgbClr>
          </a:lnRef>
          <a:fillRef idx="1">
            <a:srgbClr val="F84949"/>
          </a:fillRef>
          <a:effectRef idx="0">
            <a:srgbClr val="F84949"/>
          </a:effectRef>
          <a:fontRef idx="minor">
            <a:srgbClr val="FFFFFF"/>
          </a:fontRef>
        </p:style>
        <p:txBody>
          <a:bodyPr rtlCol="0" anchor="ctr">
            <a:noAutofit/>
          </a:bodyPr>
          <a:p>
            <a:pPr algn="ctr"/>
            <a:endParaRPr lang="en-US">
              <a:solidFill>
                <a:srgbClr val="FFFFFF"/>
              </a:solidFill>
              <a:latin typeface="Arial" panose="020B0604020202020204" pitchFamily="34" charset="0"/>
              <a:sym typeface="Arial" panose="020B0604020202020204" pitchFamily="34" charset="0"/>
            </a:endParaRPr>
          </a:p>
        </p:txBody>
      </p:sp>
    </p:spTree>
    <p:custDataLst>
      <p:tags r:id="rId1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ext Box 1"/>
          <p:cNvSpPr txBox="1"/>
          <p:nvPr/>
        </p:nvSpPr>
        <p:spPr>
          <a:xfrm>
            <a:off x="942975" y="800100"/>
            <a:ext cx="10369550" cy="4304030"/>
          </a:xfrm>
          <a:prstGeom prst="rect">
            <a:avLst/>
          </a:prstGeom>
          <a:noFill/>
        </p:spPr>
        <p:txBody>
          <a:bodyPr wrap="square" rtlCol="0">
            <a:noAutofit/>
          </a:bodyPr>
          <a:p>
            <a:r>
              <a:rPr lang="en-US" altLang="en-US" sz="2400" b="1">
                <a:solidFill>
                  <a:schemeClr val="accent1"/>
                </a:solidFill>
              </a:rPr>
              <a:t>Business Value</a:t>
            </a:r>
            <a:endParaRPr lang="en-US" altLang="en-US" sz="2400" b="1">
              <a:solidFill>
                <a:schemeClr val="accent1"/>
              </a:solidFill>
            </a:endParaRPr>
          </a:p>
          <a:p>
            <a:endParaRPr lang="en-US" altLang="en-US">
              <a:solidFill>
                <a:schemeClr val="bg1"/>
              </a:solidFill>
            </a:endParaRPr>
          </a:p>
          <a:p>
            <a:r>
              <a:rPr lang="en-US" altLang="en-US" sz="2400">
                <a:solidFill>
                  <a:schemeClr val="bg1"/>
                </a:solidFill>
              </a:rPr>
              <a:t>The analysis transforms raw financial transactions into a structured view of where, when and why budget overruns are occurring.</a:t>
            </a:r>
            <a:endParaRPr lang="en-US" altLang="en-US" sz="2400">
              <a:solidFill>
                <a:schemeClr val="bg1"/>
              </a:solidFill>
            </a:endParaRPr>
          </a:p>
          <a:p>
            <a:endParaRPr lang="en-US" altLang="en-US" sz="2400">
              <a:solidFill>
                <a:schemeClr val="bg1"/>
              </a:solidFill>
            </a:endParaRPr>
          </a:p>
          <a:p>
            <a:r>
              <a:rPr lang="en-US" altLang="en-US" sz="2400">
                <a:solidFill>
                  <a:schemeClr val="bg1"/>
                </a:solidFill>
              </a:rPr>
              <a:t>Rather than focusing only on total spending, the analysis provides management with multiple levels of visibility, from overall performance to specific department-category combinations and regional drivers.</a:t>
            </a:r>
            <a:endParaRPr lang="en-US" altLang="en-US" sz="2400">
              <a:solidFill>
                <a:schemeClr val="bg1"/>
              </a:solidFill>
            </a:endParaRPr>
          </a:p>
          <a:p>
            <a:endParaRPr lang="en-US" altLang="en-US" sz="2400">
              <a:solidFill>
                <a:schemeClr val="bg1"/>
              </a:solidFill>
            </a:endParaRPr>
          </a:p>
          <a:p>
            <a:r>
              <a:rPr lang="en-US" altLang="en-US" sz="2400">
                <a:solidFill>
                  <a:schemeClr val="bg1"/>
                </a:solidFill>
              </a:rPr>
              <a:t>This supports more targeted budget monitoring, cost control and future budget planning.</a:t>
            </a:r>
            <a:endParaRPr lang="en-US" altLang="en-US" sz="2400">
              <a:solidFill>
                <a:schemeClr val="bg1"/>
              </a:solidFill>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10000"/>
          </a:schemeClr>
        </a:solidFill>
        <a:effectLst/>
      </p:bgPr>
    </p:bg>
    <p:spTree>
      <p:nvGrpSpPr>
        <p:cNvPr id="1" name=""/>
        <p:cNvGrpSpPr/>
        <p:nvPr/>
      </p:nvGrpSpPr>
      <p:grpSpPr>
        <a:xfrm>
          <a:off x="0" y="0"/>
          <a:ext cx="0" cy="0"/>
          <a:chOff x="0" y="0"/>
          <a:chExt cx="0" cy="0"/>
        </a:xfrm>
      </p:grpSpPr>
      <p:sp>
        <p:nvSpPr>
          <p:cNvPr id="2" name="Text Box 1"/>
          <p:cNvSpPr txBox="1"/>
          <p:nvPr/>
        </p:nvSpPr>
        <p:spPr>
          <a:xfrm>
            <a:off x="942975" y="800100"/>
            <a:ext cx="10369550" cy="3561080"/>
          </a:xfrm>
          <a:prstGeom prst="rect">
            <a:avLst/>
          </a:prstGeom>
          <a:noFill/>
        </p:spPr>
        <p:txBody>
          <a:bodyPr wrap="square" rtlCol="0">
            <a:noAutofit/>
          </a:bodyPr>
          <a:p>
            <a:r>
              <a:rPr lang="en-US" altLang="en-US" sz="2400" b="1">
                <a:solidFill>
                  <a:schemeClr val="accent1"/>
                </a:solidFill>
              </a:rPr>
              <a:t>Conclusion</a:t>
            </a:r>
            <a:endParaRPr lang="en-US" altLang="en-US" sz="2400" b="1">
              <a:solidFill>
                <a:schemeClr val="accent1"/>
              </a:solidFill>
            </a:endParaRPr>
          </a:p>
          <a:p>
            <a:endParaRPr lang="en-US" altLang="en-US" sz="2000">
              <a:solidFill>
                <a:schemeClr val="bg1"/>
              </a:solidFill>
            </a:endParaRPr>
          </a:p>
          <a:p>
            <a:r>
              <a:rPr lang="en-US" altLang="en-US" sz="2400">
                <a:solidFill>
                  <a:schemeClr val="bg1"/>
                </a:solidFill>
              </a:rPr>
              <a:t>The company exceeded its allocated budget by ₦94.8M across the three-year period. Overspending was widespread, with Marketing, Salaries and the East region emerging as key areas requiring attention.</a:t>
            </a:r>
            <a:endParaRPr lang="en-US" altLang="en-US" sz="2400">
              <a:solidFill>
                <a:schemeClr val="bg1"/>
              </a:solidFill>
            </a:endParaRPr>
          </a:p>
          <a:p>
            <a:endParaRPr lang="en-US" altLang="en-US" sz="2400">
              <a:solidFill>
                <a:schemeClr val="bg1"/>
              </a:solidFill>
            </a:endParaRPr>
          </a:p>
          <a:p>
            <a:r>
              <a:rPr lang="en-US" altLang="en-US" sz="2400">
                <a:solidFill>
                  <a:schemeClr val="bg1"/>
                </a:solidFill>
              </a:rPr>
              <a:t>The analysis indicates that improving budget performance will require both stronger expenditure monitoring and a review of whether current budget allocations accurately reflect operational spending requirements.</a:t>
            </a:r>
            <a:endParaRPr lang="en-US" altLang="en-US" sz="2400">
              <a:solidFill>
                <a:schemeClr val="bg1"/>
              </a:solidFill>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8350_1*n_h_h_i*1_2_1_1"/>
  <p:tag name="KSO_WM_TEMPLATE_CATEGORY" val="diagram"/>
  <p:tag name="KSO_WM_TEMPLATE_INDEX" val="20238350"/>
  <p:tag name="KSO_WM_UNIT_LAYERLEVEL" val="1_1_1_1"/>
  <p:tag name="KSO_WM_TAG_VERSION" val="3.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2.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8350_1*n_h_h_i*1_2_3_1"/>
  <p:tag name="KSO_WM_TEMPLATE_CATEGORY" val="diagram"/>
  <p:tag name="KSO_WM_TEMPLATE_INDEX" val="20238350"/>
  <p:tag name="KSO_WM_UNIT_LAYERLEVEL" val="1_1_1_1"/>
  <p:tag name="KSO_WM_TAG_VERSION" val="3.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3.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8350_1*n_h_h_i*1_2_2_1"/>
  <p:tag name="KSO_WM_TEMPLATE_CATEGORY" val="diagram"/>
  <p:tag name="KSO_WM_TEMPLATE_INDEX" val="20238350"/>
  <p:tag name="KSO_WM_UNIT_LAYERLEVEL" val="1_1_1_1"/>
  <p:tag name="KSO_WM_TAG_VERSION" val="3.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4.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38350_1*n_h_h_i*1_2_5_1"/>
  <p:tag name="KSO_WM_TEMPLATE_CATEGORY" val="diagram"/>
  <p:tag name="KSO_WM_TEMPLATE_INDEX" val="20238350"/>
  <p:tag name="KSO_WM_UNIT_LAYERLEVEL" val="1_1_1_1"/>
  <p:tag name="KSO_WM_TAG_VERSION" val="3.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5.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8350_1*n_h_h_i*1_2_4_1"/>
  <p:tag name="KSO_WM_TEMPLATE_CATEGORY" val="diagram"/>
  <p:tag name="KSO_WM_TEMPLATE_INDEX" val="20238350"/>
  <p:tag name="KSO_WM_UNIT_LAYERLEVEL" val="1_1_1_1"/>
  <p:tag name="KSO_WM_TAG_VERSION" val="3.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6.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2*132"/>
  <p:tag name="KSO_WM_UNIT_HIGHLIGHT" val="0"/>
  <p:tag name="KSO_WM_UNIT_COMPATIBLE" val="0"/>
  <p:tag name="KSO_WM_UNIT_DIAGRAM_ISNUMVISUAL" val="0"/>
  <p:tag name="KSO_WM_UNIT_DIAGRAM_ISREFERUNIT" val="0"/>
  <p:tag name="KSO_WM_DIAGRAM_GROUP_CODE" val="n1-1"/>
  <p:tag name="KSO_WM_UNIT_TYPE" val="n_h_h_x"/>
  <p:tag name="KSO_WM_UNIT_INDEX" val="1_2_3_1"/>
  <p:tag name="KSO_WM_UNIT_ID" val="diagram20238350_1*n_h_h_x*1_2_3_1"/>
  <p:tag name="KSO_WM_TEMPLATE_CATEGORY" val="diagram"/>
  <p:tag name="KSO_WM_TEMPLATE_INDEX" val="20238350"/>
  <p:tag name="KSO_WM_UNIT_LAYERLEVEL" val="1_1_1_1"/>
  <p:tag name="KSO_WM_TAG_VERSION" val="3.0"/>
  <p:tag name="KSO_WM_BEAUTIFY_FLAG" val="#wm#"/>
  <p:tag name="KSO_WM_DIAGRAM_USE_COLOR_VALUE" val="{&quot;color_scheme&quot;:1,&quot;color_type&quot;:1,&quot;theme_color_indexes&quot;:[]}"/>
</p:tagLst>
</file>

<file path=ppt/tags/tag77.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2*132"/>
  <p:tag name="KSO_WM_UNIT_HIGHLIGHT" val="0"/>
  <p:tag name="KSO_WM_UNIT_COMPATIBLE" val="0"/>
  <p:tag name="KSO_WM_UNIT_DIAGRAM_ISNUMVISUAL" val="0"/>
  <p:tag name="KSO_WM_UNIT_DIAGRAM_ISREFERUNIT" val="0"/>
  <p:tag name="KSO_WM_DIAGRAM_GROUP_CODE" val="n1-1"/>
  <p:tag name="KSO_WM_UNIT_TYPE" val="n_h_h_x"/>
  <p:tag name="KSO_WM_UNIT_INDEX" val="1_2_5_1"/>
  <p:tag name="KSO_WM_UNIT_ID" val="diagram20238350_1*n_h_h_x*1_2_5_1"/>
  <p:tag name="KSO_WM_TEMPLATE_CATEGORY" val="diagram"/>
  <p:tag name="KSO_WM_TEMPLATE_INDEX" val="20238350"/>
  <p:tag name="KSO_WM_UNIT_LAYERLEVEL" val="1_1_1_1"/>
  <p:tag name="KSO_WM_TAG_VERSION" val="3.0"/>
  <p:tag name="KSO_WM_BEAUTIFY_FLAG" val="#wm#"/>
  <p:tag name="KSO_WM_DIAGRAM_USE_COLOR_VALUE" val="{&quot;color_scheme&quot;:1,&quot;color_type&quot;:1,&quot;theme_color_indexes&quot;:[]}"/>
</p:tagLst>
</file>

<file path=ppt/tags/tag78.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2*132"/>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8350_1*n_h_h_x*1_2_2_1"/>
  <p:tag name="KSO_WM_TEMPLATE_CATEGORY" val="diagram"/>
  <p:tag name="KSO_WM_TEMPLATE_INDEX" val="20238350"/>
  <p:tag name="KSO_WM_UNIT_LAYERLEVEL" val="1_1_1_1"/>
  <p:tag name="KSO_WM_TAG_VERSION" val="3.0"/>
  <p:tag name="KSO_WM_BEAUTIFY_FLAG" val="#wm#"/>
  <p:tag name="KSO_WM_DIAGRAM_USE_COLOR_VALUE" val="{&quot;color_scheme&quot;:1,&quot;color_type&quot;:1,&quot;theme_color_indexes&quot;:[]}"/>
</p:tagLst>
</file>

<file path=ppt/tags/tag79.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90*205"/>
  <p:tag name="KSO_WM_UNIT_HIGHLIGHT" val="0"/>
  <p:tag name="KSO_WM_UNIT_COMPATIBLE" val="0"/>
  <p:tag name="KSO_WM_UNIT_DIAGRAM_ISNUMVISUAL" val="0"/>
  <p:tag name="KSO_WM_UNIT_DIAGRAM_ISREFERUNIT" val="0"/>
  <p:tag name="KSO_WM_DIAGRAM_GROUP_CODE" val="n1-1"/>
  <p:tag name="KSO_WM_UNIT_TYPE" val="n_h_x"/>
  <p:tag name="KSO_WM_UNIT_INDEX" val="1_1_1"/>
  <p:tag name="KSO_WM_UNIT_ID" val="diagram20238350_1*n_h_x*1_1_1"/>
  <p:tag name="KSO_WM_TEMPLATE_CATEGORY" val="diagram"/>
  <p:tag name="KSO_WM_TEMPLATE_INDEX" val="20238350"/>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80.xml><?xml version="1.0" encoding="utf-8"?>
<p:tagLst xmlns:p="http://schemas.openxmlformats.org/presentationml/2006/main">
  <p:tag name="KSO_WM_UNIT_TEXT_FILL_FORE_SCHEMECOLOR_INDEX_BRIGHTNESS" val="0.15"/>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8350_1*n_h_h_f*1_2_1_1"/>
  <p:tag name="KSO_WM_TEMPLATE_CATEGORY" val="diagram"/>
  <p:tag name="KSO_WM_TEMPLATE_INDEX" val="20238350"/>
  <p:tag name="KSO_WM_UNIT_LAYERLEVEL" val="1_1_1_1"/>
  <p:tag name="KSO_WM_TAG_VERSION" val="3.0"/>
  <p:tag name="KSO_WM_BEAUTIFY_FLAG" val="#wm#"/>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81.xml><?xml version="1.0" encoding="utf-8"?>
<p:tagLst xmlns:p="http://schemas.openxmlformats.org/presentationml/2006/main">
  <p:tag name="KSO_WM_UNIT_TEXT_FILL_FORE_SCHEMECOLOR_INDEX_BRIGHTNESS" val="0.15"/>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8350_1*n_h_h_f*1_2_2_1"/>
  <p:tag name="KSO_WM_TEMPLATE_CATEGORY" val="diagram"/>
  <p:tag name="KSO_WM_TEMPLATE_INDEX" val="20238350"/>
  <p:tag name="KSO_WM_UNIT_LAYERLEVEL" val="1_1_1_1"/>
  <p:tag name="KSO_WM_TAG_VERSION" val="3.0"/>
  <p:tag name="KSO_WM_BEAUTIFY_FLAG" val="#wm#"/>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82.xml><?xml version="1.0" encoding="utf-8"?>
<p:tagLst xmlns:p="http://schemas.openxmlformats.org/presentationml/2006/main">
  <p:tag name="KSO_WM_UNIT_TEXT_FILL_FORE_SCHEMECOLOR_INDEX_BRIGHTNESS" val="0.15"/>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3_1"/>
  <p:tag name="KSO_WM_UNIT_ID" val="diagram20238350_1*n_h_h_f*1_2_3_1"/>
  <p:tag name="KSO_WM_TEMPLATE_CATEGORY" val="diagram"/>
  <p:tag name="KSO_WM_TEMPLATE_INDEX" val="20238350"/>
  <p:tag name="KSO_WM_UNIT_LAYERLEVEL" val="1_1_1_1"/>
  <p:tag name="KSO_WM_TAG_VERSION" val="3.0"/>
  <p:tag name="KSO_WM_BEAUTIFY_FLAG" val="#wm#"/>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83.xml><?xml version="1.0" encoding="utf-8"?>
<p:tagLst xmlns:p="http://schemas.openxmlformats.org/presentationml/2006/main">
  <p:tag name="KSO_WM_UNIT_TEXT_FILL_FORE_SCHEMECOLOR_INDEX_BRIGHTNESS" val="0.15"/>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5_1"/>
  <p:tag name="KSO_WM_UNIT_ID" val="diagram20238350_1*n_h_h_f*1_2_5_1"/>
  <p:tag name="KSO_WM_TEMPLATE_CATEGORY" val="diagram"/>
  <p:tag name="KSO_WM_TEMPLATE_INDEX" val="20238350"/>
  <p:tag name="KSO_WM_UNIT_LAYERLEVEL" val="1_1_1_1"/>
  <p:tag name="KSO_WM_TAG_VERSION" val="3.0"/>
  <p:tag name="KSO_WM_BEAUTIFY_FLAG" val="#wm#"/>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84.xml><?xml version="1.0" encoding="utf-8"?>
<p:tagLst xmlns:p="http://schemas.openxmlformats.org/presentationml/2006/main">
  <p:tag name="KSO_WM_UNIT_TEXT_FILL_FORE_SCHEMECOLOR_INDEX_BRIGHTNESS" val="0.15"/>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4_1"/>
  <p:tag name="KSO_WM_UNIT_ID" val="diagram20238350_1*n_h_h_f*1_2_4_1"/>
  <p:tag name="KSO_WM_TEMPLATE_CATEGORY" val="diagram"/>
  <p:tag name="KSO_WM_TEMPLATE_INDEX" val="20238350"/>
  <p:tag name="KSO_WM_UNIT_LAYERLEVEL" val="1_1_1_1"/>
  <p:tag name="KSO_WM_TAG_VERSION" val="3.0"/>
  <p:tag name="KSO_WM_BEAUTIFY_FLAG" val="#wm#"/>
  <p:tag name="KSO_WM_UNIT_PRESET_TEXT" val="Click here to add text"/>
  <p:tag name="KSO_WM_UNIT_TEXT_FILL_FORE_SCHEMECOLOR_INDEX" val="1"/>
  <p:tag name="KSO_WM_UNIT_TEXT_FILL_TYPE" val="1"/>
  <p:tag name="KSO_WM_DIAGRAM_USE_COLOR_VALUE" val="{&quot;color_scheme&quot;:1,&quot;color_type&quot;:1,&quot;theme_color_indexes&quot;:[]}"/>
</p:tagLst>
</file>

<file path=ppt/tags/tag85.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2*132"/>
  <p:tag name="KSO_WM_UNIT_HIGHLIGHT" val="0"/>
  <p:tag name="KSO_WM_UNIT_COMPATIBLE" val="0"/>
  <p:tag name="KSO_WM_UNIT_DIAGRAM_ISNUMVISUAL" val="0"/>
  <p:tag name="KSO_WM_UNIT_DIAGRAM_ISREFERUNIT" val="0"/>
  <p:tag name="KSO_WM_DIAGRAM_GROUP_CODE" val="n1-1"/>
  <p:tag name="KSO_WM_UNIT_TYPE" val="n_h_h_x"/>
  <p:tag name="KSO_WM_UNIT_INDEX" val="1_2_4_1"/>
  <p:tag name="KSO_WM_UNIT_ID" val="diagram20238350_1*n_h_h_x*1_2_4_1"/>
  <p:tag name="KSO_WM_TEMPLATE_CATEGORY" val="diagram"/>
  <p:tag name="KSO_WM_TEMPLATE_INDEX" val="20238350"/>
  <p:tag name="KSO_WM_UNIT_LAYERLEVEL" val="1_1_1_1"/>
  <p:tag name="KSO_WM_TAG_VERSION" val="3.0"/>
  <p:tag name="KSO_WM_BEAUTIFY_FLAG" val="#wm#"/>
  <p:tag name="KSO_WM_DIAGRAM_USE_COLOR_VALUE" val="{&quot;color_scheme&quot;:1,&quot;color_type&quot;:1,&quot;theme_color_indexes&quot;:[]}"/>
</p:tagLst>
</file>

<file path=ppt/tags/tag86.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8350_1*n_h_a*1_1_1"/>
  <p:tag name="KSO_WM_TEMPLATE_CATEGORY" val="diagram"/>
  <p:tag name="KSO_WM_TEMPLATE_INDEX" val="20238350"/>
  <p:tag name="KSO_WM_UNIT_LAYERLEVEL" val="1_1_1"/>
  <p:tag name="KSO_WM_TAG_VERSION" val="3.0"/>
  <p:tag name="KSO_WM_BEAUTIFY_FLAG" val="#wm#"/>
  <p:tag name="KSO_WM_UNIT_PRESET_TEXT" val="Title"/>
  <p:tag name="KSO_WM_UNIT_TEXT_FILL_FORE_SCHEMECOLOR_INDEX" val="1"/>
  <p:tag name="KSO_WM_UNIT_TEXT_FILL_TYPE" val="1"/>
  <p:tag name="KSO_WM_DIAGRAM_USE_COLOR_VALUE" val="{&quot;color_scheme&quot;:1,&quot;color_type&quot;:1,&quot;theme_color_indexes&quot;:[]}"/>
</p:tagLst>
</file>

<file path=ppt/tags/tag87.xml><?xml version="1.0" encoding="utf-8"?>
<p:tagLst xmlns:p="http://schemas.openxmlformats.org/presentationml/2006/main">
  <p:tag name="KSO_WM_DIAGRAM_MAX_ITEMCNT" val="5"/>
  <p:tag name="KSO_WM_DIAGRAM_MIN_ITEMCNT" val="5"/>
  <p:tag name="KSO_WM_DIAGRAM_VIRTUALLY_FRAME" val="{&quot;height&quot;:407.4749938964845,&quot;left&quot;:35,&quot;top&quot;:39.4,&quot;width&quot;:894.74992125984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32*132"/>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8350_1*n_h_h_x*1_2_1_1"/>
  <p:tag name="KSO_WM_TEMPLATE_CATEGORY" val="diagram"/>
  <p:tag name="KSO_WM_TEMPLATE_INDEX" val="20238350"/>
  <p:tag name="KSO_WM_UNIT_LAYERLEVEL" val="1_1_1_1"/>
  <p:tag name="KSO_WM_TAG_VERSION" val="3.0"/>
  <p:tag name="KSO_WM_BEAUTIFY_FLAG" val="#wm#"/>
  <p:tag name="KSO_WM_DIAGRAM_USE_COLOR_VALUE" val="{&quot;color_scheme&quot;:1,&quot;color_type&quot;:1,&quot;theme_color_indexes&quot;:[]}"/>
</p:tagLst>
</file>

<file path=ppt/tags/tag8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65&quot;:[20205081],&quot;70&quot;:[3322406]}"/>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8.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8167_2*m_h_i*1_2_1"/>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09.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8167_2*m_i*1_1"/>
  <p:tag name="KSO_WM_TEMPLATE_CATEGORY" val="diagram"/>
  <p:tag name="KSO_WM_TEMPLATE_INDEX" val="20238167"/>
  <p:tag name="KSO_WM_UNIT_LAYERLEVEL" val="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20000000298023224,&quot;transparency&quot;:1},{&quot;brightness&quot;:0,&quot;colorType&quot;:1,&quot;foreColorIndex&quot;:5,&quot;pos&quot;:0.89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10.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8167_2*m_i*1_2"/>
  <p:tag name="KSO_WM_TEMPLATE_CATEGORY" val="diagram"/>
  <p:tag name="KSO_WM_TEMPLATE_INDEX" val="20238167"/>
  <p:tag name="KSO_WM_UNIT_LAYERLEVEL" val="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11.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8167_2*m_h_i*1_1_1"/>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8167_2*m_h_f*1_1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8167_2*m_h_a*1_1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114.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8167_2*m_h_i*1_1_2"/>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15.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8167_2*m_h_i*1_1_3"/>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DIAGRAM_USE_COLOR_VALUE" val="{&quot;color_scheme&quot;:1,&quot;color_type&quot;:1,&quot;theme_color_indexes&quot;:[]}"/>
</p:tagLst>
</file>

<file path=ppt/tags/tag116.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8167_2*m_h_i*1_2_3"/>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
</p:tagLst>
</file>

<file path=ppt/tags/tag11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8167_2*m_h_f*1_2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18.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diagram20238167_2*m_h_i*1_2_2"/>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8167_2*m_h_a*1_2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120.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1"/>
  <p:tag name="KSO_WM_UNIT_ID" val="diagram20238167_2*m_h_i*1_3_1"/>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3"/>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8167_2*m_h_f*1_3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8167_2*m_h_a*1_3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123.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38167_2*m_h_i*1_3_2"/>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24.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8167_2*m_h_i*1_3_3"/>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68.5612633556455,&quot;left&quot;:39.676177978515625,&quot;top&quot;:102.8475555419922,&quot;width&quot;:889.323822021484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65&quot;:[20205081],&quot;70&quot;:[3312381]}"/>
</p:tagLst>
</file>

<file path=ppt/tags/tag127.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38167_2*m_h_i*1_2_1"/>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28.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38167_2*m_i*1_1"/>
  <p:tag name="KSO_WM_TEMPLATE_CATEGORY" val="diagram"/>
  <p:tag name="KSO_WM_TEMPLATE_INDEX" val="20238167"/>
  <p:tag name="KSO_WM_UNIT_LAYERLEVEL" val="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solid&quot;:{&quot;brightness&quot;:0,&quot;colorType&quot;:1,&quot;foreColorIndex&quot;:5,&quot;transparency&quot;:0},&quot;type&quot;:1},&quot;glow&quot;:{&quot;colorType&quot;:0},&quot;line&quot;:{&quot;gradient&quot;:[{&quot;brightness&quot;:0,&quot;colorType&quot;:1,&quot;foreColorIndex&quot;:5,&quot;pos&quot;:0.20000000298023224,&quot;transparency&quot;:1},{&quot;brightness&quot;:0,&quot;colorType&quot;:1,&quot;foreColorIndex&quot;:5,&quot;pos&quot;:0.899999976158142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29.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8167_2*m_i*1_2"/>
  <p:tag name="KSO_WM_TEMPLATE_CATEGORY" val="diagram"/>
  <p:tag name="KSO_WM_TEMPLATE_INDEX" val="20238167"/>
  <p:tag name="KSO_WM_UNIT_LAYERLEVEL" val="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30.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8167_2*m_h_i*1_1_1"/>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8167_2*m_h_f*1_1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8167_2*m_h_a*1_1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133.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38167_2*m_h_i*1_1_2"/>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34.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8167_2*m_h_i*1_1_3"/>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solid&quot;:{&quot;brightness&quot;:0.6000000238418579,&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6"/>
  <p:tag name="KSO_WM_DIAGRAM_USE_COLOR_VALUE" val="{&quot;color_scheme&quot;:1,&quot;color_type&quot;:1,&quot;theme_color_indexes&quot;:[]}"/>
</p:tagLst>
</file>

<file path=ppt/tags/tag135.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38167_2*m_h_i*1_2_3"/>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
</p:tagLst>
</file>

<file path=ppt/tags/tag1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8167_2*m_h_f*1_2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7.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diagram20238167_2*m_h_i*1_2_2"/>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8167_2*m_h_a*1_2_1"/>
  <p:tag name="KSO_WM_TEMPLATE_CATEGORY" val="diagram"/>
  <p:tag name="KSO_WM_TEMPLATE_INDEX" val="20238167"/>
  <p:tag name="KSO_WM_UNIT_LAYERLEVEL" val="1_1_1"/>
  <p:tag name="KSO_WM_TAG_VERSION" val="3.0"/>
  <p:tag name="KSO_WM_BEAUTIFY_FLAG" val="#wm#"/>
  <p:tag name="KSO_WM_DIAGRAM_VERSION" val="3"/>
  <p:tag name="KSO_WM_DIAGRAM_COLOR_TRICK" val="1"/>
  <p:tag name="KSO_WM_DIAGRAM_COLOR_TEXT_CAN_REMOVE" val="n"/>
  <p:tag name="KSO_WM_DIAGRAM_GROUP_CODE" val="m1-1"/>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
  <p:tag name="KSO_WM_UNIT_TEXT_FILL_TYPE" val="1"/>
  <p:tag name="KSO_WM_DIAGRAM_USE_COLOR_VALUE" val="{&quot;color_scheme&quot;:1,&quot;color_type&quot;:1,&quot;theme_color_indexes&quot;:[]}"/>
</p:tagLst>
</file>

<file path=ppt/tags/tag139.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38167_2*m_h_i*1_3_3"/>
  <p:tag name="KSO_WM_TEMPLATE_CATEGORY" val="diagram"/>
  <p:tag name="KSO_WM_TEMPLATE_INDEX" val="20238167"/>
  <p:tag name="KSO_WM_UNIT_LAYERLEVEL" val="1_1_1"/>
  <p:tag name="KSO_WM_TAG_VERSION" val="3.0"/>
  <p:tag name="KSO_WM_DIAGRAM_MAX_ITEMCNT" val="6"/>
  <p:tag name="KSO_WM_DIAGRAM_MIN_ITEMCNT" val="2"/>
  <p:tag name="KSO_WM_DIAGRAM_VIRTUALLY_FRAME" val="{&quot;height&quot;:349.0612633556457,&quot;left&quot;:39.676177978515625,&quot;top&quot;:102.8475555419922,&quot;width&quot;:889.3238220214844}"/>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
</p:tagLst>
</file>

<file path=ppt/tags/tag1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65&quot;:[20205081],&quot;70&quot;:[3312381]}"/>
</p:tagLst>
</file>

<file path=ppt/tags/tag14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65&quot;:[20205081],&quot;70&quot;:[3312381]}"/>
</p:tagLst>
</file>

<file path=ppt/tags/tag14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resource_record_key" val="{&quot;65&quot;:[20205081],&quot;70&quot;:[3312381]}"/>
</p:tagLst>
</file>

<file path=ppt/tags/tag143.xml><?xml version="1.0" encoding="utf-8"?>
<p:tagLst xmlns:p="http://schemas.openxmlformats.org/presentationml/2006/main">
  <p:tag name="resource_record_key" val="{&quot;65&quot;:[20205081],&quot;70&quot;:[3322406,33123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5701</Words>
  <Application>WPS Presentation</Application>
  <PresentationFormat>Widescreen</PresentationFormat>
  <Paragraphs>151</Paragraphs>
  <Slides>14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14</vt:i4>
      </vt:variant>
    </vt:vector>
  </HeadingPairs>
  <TitlesOfParts>
    <vt:vector size="30" baseType="lpstr">
      <vt:lpstr>Arial</vt:lpstr>
      <vt:lpstr>SimSun</vt:lpstr>
      <vt:lpstr>Wingdings</vt:lpstr>
      <vt:lpstr>Wingdings</vt:lpstr>
      <vt:lpstr>Microsoft YaHei</vt:lpstr>
      <vt:lpstr>Arial Unicode MS</vt:lpstr>
      <vt:lpstr>Calibri</vt:lpstr>
      <vt:lpstr>Arial</vt:lpstr>
      <vt:lpstr>Montserrat</vt:lpstr>
      <vt:lpstr>Times New Roman</vt:lpstr>
      <vt:lpstr>Montserrat SemiBold</vt:lpstr>
      <vt:lpstr>Montserrat</vt:lpstr>
      <vt:lpstr>Montserrat ExtraBold</vt:lpstr>
      <vt:lpstr>Montserrat Medium</vt:lpstr>
      <vt:lpstr>Times New Roman</vt:lpstr>
      <vt:lpstr>WPS</vt:lpstr>
      <vt:lpstr>PowerPoint 演示文稿</vt:lpstr>
      <vt:lpstr>Actual vs Budget Analysis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Bussie</dc:creator>
  <cp:lastModifiedBy>Omoniyi Busayo</cp:lastModifiedBy>
  <cp:revision>8</cp:revision>
  <dcterms:created xsi:type="dcterms:W3CDTF">2026-09-11T15:13:00Z</dcterms:created>
  <dcterms:modified xsi:type="dcterms:W3CDTF">2026-09-13T19:30:16Z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C9403D9546C44E1FB42CB2BC15F950F3_11</vt:lpwstr>
  </property>
</Properties>
</file>